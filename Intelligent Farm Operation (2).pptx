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66" r:id="rId3"/>
    <p:sldId id="258" r:id="rId4"/>
    <p:sldId id="259" r:id="rId5"/>
    <p:sldId id="260" r:id="rId6"/>
    <p:sldId id="261" r:id="rId7"/>
    <p:sldId id="262" r:id="rId8"/>
    <p:sldId id="263" r:id="rId9"/>
    <p:sldId id="272" r:id="rId10"/>
    <p:sldId id="268" r:id="rId11"/>
    <p:sldId id="269" r:id="rId12"/>
    <p:sldId id="270" r:id="rId13"/>
    <p:sldId id="257" r:id="rId14"/>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33"/>
    <a:srgbClr val="1A4A39"/>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8">
    <p:spTree>
      <p:nvGrpSpPr>
        <p:cNvPr id="1" name=""/>
        <p:cNvGrpSpPr/>
        <p:nvPr/>
      </p:nvGrpSpPr>
      <p:grpSpPr>
        <a:xfrm>
          <a:off x="0" y="0"/>
          <a:ext cx="0" cy="0"/>
          <a:chOff x="0" y="0"/>
          <a:chExt cx="0" cy="0"/>
        </a:xfrm>
      </p:grpSpPr>
      <p:sp>
        <p:nvSpPr>
          <p:cNvPr id="2" name="Shape 0"/>
          <p:cNvSpPr/>
          <p:nvPr/>
        </p:nvSpPr>
        <p:spPr>
          <a:xfrm>
            <a:off x="1" y="0"/>
            <a:ext cx="18287543" cy="10287000"/>
          </a:xfrm>
          <a:prstGeom prst="rect">
            <a:avLst/>
          </a:prstGeom>
          <a:solidFill>
            <a:srgbClr val="F1C064"/>
          </a:solidFill>
          <a:ln/>
        </p:spPr>
      </p:sp>
      <p:sp>
        <p:nvSpPr>
          <p:cNvPr id="3" name="Shape 1"/>
          <p:cNvSpPr/>
          <p:nvPr/>
        </p:nvSpPr>
        <p:spPr>
          <a:xfrm>
            <a:off x="1" y="0"/>
            <a:ext cx="18287543" cy="10287000"/>
          </a:xfrm>
          <a:prstGeom prst="rect">
            <a:avLst/>
          </a:prstGeom>
          <a:solidFill>
            <a:srgbClr val="F6EBD4"/>
          </a:solidFill>
          <a:ln/>
        </p:spPr>
      </p:sp>
      <p:pic>
        <p:nvPicPr>
          <p:cNvPr id="4" name="Image 0" descr="preencoded.png"/>
          <p:cNvPicPr>
            <a:picLocks noChangeAspect="1"/>
          </p:cNvPicPr>
          <p:nvPr/>
        </p:nvPicPr>
        <p:blipFill>
          <a:blip r:embed="rId2"/>
          <a:stretch>
            <a:fillRect/>
          </a:stretch>
        </p:blipFill>
        <p:spPr>
          <a:xfrm>
            <a:off x="1" y="0"/>
            <a:ext cx="18287543" cy="10287000"/>
          </a:xfrm>
          <a:prstGeom prst="rect">
            <a:avLst/>
          </a:prstGeom>
        </p:spPr>
      </p:pic>
      <p:sp>
        <p:nvSpPr>
          <p:cNvPr id="5" name="Shape 2"/>
          <p:cNvSpPr/>
          <p:nvPr/>
        </p:nvSpPr>
        <p:spPr>
          <a:xfrm>
            <a:off x="1" y="0"/>
            <a:ext cx="18287543" cy="10287000"/>
          </a:xfrm>
          <a:prstGeom prst="rect">
            <a:avLst/>
          </a:prstGeom>
          <a:solidFill>
            <a:srgbClr val="F6EBD4">
              <a:alpha val="85000"/>
            </a:srgbClr>
          </a:solidFill>
          <a:ln/>
        </p:spPr>
      </p:sp>
    </p:spTree>
    <p:extLst>
      <p:ext uri="{BB962C8B-B14F-4D97-AF65-F5344CB8AC3E}">
        <p14:creationId xmlns:p14="http://schemas.microsoft.com/office/powerpoint/2010/main" val="2571634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svg"/><Relationship Id="rId10" Type="http://schemas.openxmlformats.org/officeDocument/2006/relationships/image" Target="../media/image27.jpeg"/><Relationship Id="rId4" Type="http://schemas.openxmlformats.org/officeDocument/2006/relationships/image" Target="../media/image21.png"/><Relationship Id="rId9"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E23"/>
        </a:solidFill>
        <a:effectLst/>
      </p:bgPr>
    </p:bg>
    <p:spTree>
      <p:nvGrpSpPr>
        <p:cNvPr id="1" name=""/>
        <p:cNvGrpSpPr/>
        <p:nvPr/>
      </p:nvGrpSpPr>
      <p:grpSpPr>
        <a:xfrm>
          <a:off x="0" y="0"/>
          <a:ext cx="0" cy="0"/>
          <a:chOff x="0" y="0"/>
          <a:chExt cx="0" cy="0"/>
        </a:xfrm>
      </p:grpSpPr>
      <p:grpSp>
        <p:nvGrpSpPr>
          <p:cNvPr id="2" name="Group 2"/>
          <p:cNvGrpSpPr/>
          <p:nvPr/>
        </p:nvGrpSpPr>
        <p:grpSpPr>
          <a:xfrm>
            <a:off x="16287750" y="333375"/>
            <a:ext cx="1428750" cy="1428750"/>
            <a:chOff x="0" y="0"/>
            <a:chExt cx="1905000" cy="1905000"/>
          </a:xfrm>
        </p:grpSpPr>
        <p:sp>
          <p:nvSpPr>
            <p:cNvPr id="3" name="Freeform 3"/>
            <p:cNvSpPr/>
            <p:nvPr/>
          </p:nvSpPr>
          <p:spPr>
            <a:xfrm>
              <a:off x="0" y="0"/>
              <a:ext cx="1905000" cy="1905000"/>
            </a:xfrm>
            <a:custGeom>
              <a:avLst/>
              <a:gdLst/>
              <a:ahLst/>
              <a:cxnLst/>
              <a:rect l="l" t="t" r="r" b="b"/>
              <a:pathLst>
                <a:path w="1905000" h="1905000">
                  <a:moveTo>
                    <a:pt x="0" y="952500"/>
                  </a:moveTo>
                  <a:cubicBezTo>
                    <a:pt x="0" y="1478551"/>
                    <a:pt x="426449" y="1905000"/>
                    <a:pt x="952500" y="1905000"/>
                  </a:cubicBezTo>
                  <a:cubicBezTo>
                    <a:pt x="1478551" y="1905000"/>
                    <a:pt x="1905000" y="1478551"/>
                    <a:pt x="1905000" y="952500"/>
                  </a:cubicBezTo>
                  <a:cubicBezTo>
                    <a:pt x="1905000" y="426449"/>
                    <a:pt x="1478551" y="0"/>
                    <a:pt x="952500" y="0"/>
                  </a:cubicBezTo>
                  <a:cubicBezTo>
                    <a:pt x="426449" y="0"/>
                    <a:pt x="0" y="426449"/>
                    <a:pt x="0" y="952500"/>
                  </a:cubicBezTo>
                  <a:close/>
                </a:path>
              </a:pathLst>
            </a:custGeom>
            <a:solidFill>
              <a:srgbClr val="2F6B45">
                <a:alpha val="89804"/>
              </a:srgbClr>
            </a:solidFill>
          </p:spPr>
        </p:sp>
        <p:sp>
          <p:nvSpPr>
            <p:cNvPr id="4" name="TextBox 4"/>
            <p:cNvSpPr txBox="1"/>
            <p:nvPr/>
          </p:nvSpPr>
          <p:spPr>
            <a:xfrm>
              <a:off x="0" y="-38100"/>
              <a:ext cx="1905000" cy="1943100"/>
            </a:xfrm>
            <a:prstGeom prst="rect">
              <a:avLst/>
            </a:prstGeom>
          </p:spPr>
          <p:txBody>
            <a:bodyPr lIns="50800" tIns="50800" rIns="50800" bIns="50800" rtlCol="0" anchor="ctr"/>
            <a:lstStyle/>
            <a:p>
              <a:pPr algn="l">
                <a:lnSpc>
                  <a:spcPts val="1679"/>
                </a:lnSpc>
              </a:pPr>
              <a:endParaRPr/>
            </a:p>
          </p:txBody>
        </p:sp>
      </p:grpSp>
      <p:grpSp>
        <p:nvGrpSpPr>
          <p:cNvPr id="5" name="Group 5"/>
          <p:cNvGrpSpPr/>
          <p:nvPr/>
        </p:nvGrpSpPr>
        <p:grpSpPr>
          <a:xfrm>
            <a:off x="16859250" y="857250"/>
            <a:ext cx="857250" cy="857250"/>
            <a:chOff x="0" y="0"/>
            <a:chExt cx="1143000" cy="1143000"/>
          </a:xfrm>
        </p:grpSpPr>
        <p:sp>
          <p:nvSpPr>
            <p:cNvPr id="6" name="Freeform 6"/>
            <p:cNvSpPr/>
            <p:nvPr/>
          </p:nvSpPr>
          <p:spPr>
            <a:xfrm>
              <a:off x="0" y="0"/>
              <a:ext cx="1143000" cy="1143000"/>
            </a:xfrm>
            <a:custGeom>
              <a:avLst/>
              <a:gdLst/>
              <a:ahLst/>
              <a:cxnLst/>
              <a:rect l="l" t="t" r="r" b="b"/>
              <a:pathLst>
                <a:path w="1143000" h="1143000">
                  <a:moveTo>
                    <a:pt x="0" y="571500"/>
                  </a:moveTo>
                  <a:cubicBezTo>
                    <a:pt x="0" y="887131"/>
                    <a:pt x="255869" y="1143000"/>
                    <a:pt x="571500" y="1143000"/>
                  </a:cubicBezTo>
                  <a:cubicBezTo>
                    <a:pt x="887131" y="1143000"/>
                    <a:pt x="1143000" y="887131"/>
                    <a:pt x="1143000" y="571500"/>
                  </a:cubicBezTo>
                  <a:cubicBezTo>
                    <a:pt x="1143000" y="255869"/>
                    <a:pt x="887131" y="0"/>
                    <a:pt x="571500" y="0"/>
                  </a:cubicBezTo>
                  <a:cubicBezTo>
                    <a:pt x="255869" y="0"/>
                    <a:pt x="0" y="255869"/>
                    <a:pt x="0" y="571500"/>
                  </a:cubicBezTo>
                  <a:close/>
                </a:path>
              </a:pathLst>
            </a:custGeom>
            <a:solidFill>
              <a:srgbClr val="DCE8D4">
                <a:alpha val="54902"/>
              </a:srgbClr>
            </a:solidFill>
          </p:spPr>
        </p:sp>
        <p:sp>
          <p:nvSpPr>
            <p:cNvPr id="7" name="TextBox 7"/>
            <p:cNvSpPr txBox="1"/>
            <p:nvPr/>
          </p:nvSpPr>
          <p:spPr>
            <a:xfrm>
              <a:off x="0" y="-38100"/>
              <a:ext cx="1143000" cy="1181100"/>
            </a:xfrm>
            <a:prstGeom prst="rect">
              <a:avLst/>
            </a:prstGeom>
          </p:spPr>
          <p:txBody>
            <a:bodyPr lIns="50800" tIns="50800" rIns="50800" bIns="50800" rtlCol="0" anchor="ctr"/>
            <a:lstStyle/>
            <a:p>
              <a:pPr algn="l">
                <a:lnSpc>
                  <a:spcPts val="1679"/>
                </a:lnSpc>
              </a:pPr>
              <a:endParaRPr/>
            </a:p>
          </p:txBody>
        </p:sp>
      </p:grpSp>
      <p:sp>
        <p:nvSpPr>
          <p:cNvPr id="8" name="Freeform 8"/>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82000"/>
            </a:blip>
            <a:stretch>
              <a:fillRect t="-9222" b="-9222"/>
            </a:stretch>
          </a:blipFill>
        </p:spPr>
      </p:sp>
      <p:grpSp>
        <p:nvGrpSpPr>
          <p:cNvPr id="9" name="Group 9"/>
          <p:cNvGrpSpPr/>
          <p:nvPr/>
        </p:nvGrpSpPr>
        <p:grpSpPr>
          <a:xfrm>
            <a:off x="0" y="0"/>
            <a:ext cx="18288000" cy="10287000"/>
            <a:chOff x="0" y="0"/>
            <a:chExt cx="24384000" cy="13716000"/>
          </a:xfrm>
        </p:grpSpPr>
        <p:sp>
          <p:nvSpPr>
            <p:cNvPr id="10" name="Freeform 10"/>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02E23">
                <a:alpha val="41961"/>
              </a:srgbClr>
            </a:solidFill>
          </p:spPr>
          <p:txBody>
            <a:bodyPr/>
            <a:lstStyle/>
            <a:p>
              <a:endParaRPr lang="en-IN"/>
            </a:p>
          </p:txBody>
        </p:sp>
        <p:sp>
          <p:nvSpPr>
            <p:cNvPr id="11" name="TextBox 11"/>
            <p:cNvSpPr txBox="1"/>
            <p:nvPr/>
          </p:nvSpPr>
          <p:spPr>
            <a:xfrm>
              <a:off x="0" y="-38100"/>
              <a:ext cx="24384000" cy="13754100"/>
            </a:xfrm>
            <a:prstGeom prst="rect">
              <a:avLst/>
            </a:prstGeom>
          </p:spPr>
          <p:txBody>
            <a:bodyPr lIns="50800" tIns="50800" rIns="50800" bIns="50800" rtlCol="0" anchor="ctr"/>
            <a:lstStyle/>
            <a:p>
              <a:pPr algn="l">
                <a:lnSpc>
                  <a:spcPts val="1679"/>
                </a:lnSpc>
              </a:pPr>
              <a:endParaRPr/>
            </a:p>
          </p:txBody>
        </p:sp>
      </p:grpSp>
      <p:grpSp>
        <p:nvGrpSpPr>
          <p:cNvPr id="12" name="Group 12"/>
          <p:cNvGrpSpPr/>
          <p:nvPr/>
        </p:nvGrpSpPr>
        <p:grpSpPr>
          <a:xfrm>
            <a:off x="876300" y="685800"/>
            <a:ext cx="2190750" cy="535940"/>
            <a:chOff x="0" y="0"/>
            <a:chExt cx="2921000" cy="714587"/>
          </a:xfrm>
        </p:grpSpPr>
        <p:sp>
          <p:nvSpPr>
            <p:cNvPr id="13" name="Freeform 13"/>
            <p:cNvSpPr/>
            <p:nvPr/>
          </p:nvSpPr>
          <p:spPr>
            <a:xfrm>
              <a:off x="0" y="0"/>
              <a:ext cx="2921000" cy="714587"/>
            </a:xfrm>
            <a:custGeom>
              <a:avLst/>
              <a:gdLst/>
              <a:ahLst/>
              <a:cxnLst/>
              <a:rect l="l" t="t" r="r" b="b"/>
              <a:pathLst>
                <a:path w="2921000" h="714587">
                  <a:moveTo>
                    <a:pt x="215900" y="0"/>
                  </a:moveTo>
                  <a:lnTo>
                    <a:pt x="2705100" y="0"/>
                  </a:lnTo>
                  <a:cubicBezTo>
                    <a:pt x="2824338" y="0"/>
                    <a:pt x="2921000" y="159966"/>
                    <a:pt x="2921000" y="357293"/>
                  </a:cubicBezTo>
                  <a:cubicBezTo>
                    <a:pt x="2921000" y="554621"/>
                    <a:pt x="2824338" y="714587"/>
                    <a:pt x="2705100" y="714587"/>
                  </a:cubicBezTo>
                  <a:lnTo>
                    <a:pt x="215900" y="714587"/>
                  </a:lnTo>
                  <a:cubicBezTo>
                    <a:pt x="96662" y="714587"/>
                    <a:pt x="0" y="554621"/>
                    <a:pt x="0" y="357293"/>
                  </a:cubicBezTo>
                  <a:cubicBezTo>
                    <a:pt x="0" y="159966"/>
                    <a:pt x="96662" y="0"/>
                    <a:pt x="215900" y="0"/>
                  </a:cubicBezTo>
                  <a:close/>
                </a:path>
              </a:pathLst>
            </a:custGeom>
            <a:solidFill>
              <a:srgbClr val="2F6B45"/>
            </a:solidFill>
          </p:spPr>
        </p:sp>
        <p:sp>
          <p:nvSpPr>
            <p:cNvPr id="14" name="TextBox 14"/>
            <p:cNvSpPr txBox="1"/>
            <p:nvPr/>
          </p:nvSpPr>
          <p:spPr>
            <a:xfrm>
              <a:off x="0" y="-47625"/>
              <a:ext cx="2921000" cy="762212"/>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SMART AGRICULTURE + AI</a:t>
              </a:r>
            </a:p>
          </p:txBody>
        </p:sp>
      </p:grpSp>
      <p:sp>
        <p:nvSpPr>
          <p:cNvPr id="15" name="TextBox 15"/>
          <p:cNvSpPr txBox="1"/>
          <p:nvPr/>
        </p:nvSpPr>
        <p:spPr>
          <a:xfrm>
            <a:off x="876300" y="1666875"/>
            <a:ext cx="10001250" cy="3088258"/>
          </a:xfrm>
          <a:prstGeom prst="rect">
            <a:avLst/>
          </a:prstGeom>
        </p:spPr>
        <p:txBody>
          <a:bodyPr lIns="0" tIns="0" rIns="0" bIns="0" rtlCol="0" anchor="t">
            <a:spAutoFit/>
          </a:bodyPr>
          <a:lstStyle/>
          <a:p>
            <a:pPr algn="l">
              <a:lnSpc>
                <a:spcPts val="7827"/>
              </a:lnSpc>
            </a:pPr>
            <a:r>
              <a:rPr lang="en-US" sz="7599" b="1">
                <a:solidFill>
                  <a:srgbClr val="FFFFFF"/>
                </a:solidFill>
                <a:latin typeface="Poppins Bold"/>
                <a:ea typeface="Poppins Bold"/>
                <a:cs typeface="Poppins Bold"/>
                <a:sym typeface="Poppins Bold"/>
              </a:rPr>
              <a:t>Intelligent Farm</a:t>
            </a:r>
          </a:p>
          <a:p>
            <a:pPr algn="l">
              <a:lnSpc>
                <a:spcPts val="7827"/>
              </a:lnSpc>
            </a:pPr>
            <a:r>
              <a:rPr lang="en-US" sz="7599" b="1">
                <a:solidFill>
                  <a:srgbClr val="FFFFFF"/>
                </a:solidFill>
                <a:latin typeface="Poppins Bold"/>
                <a:ea typeface="Poppins Bold"/>
                <a:cs typeface="Poppins Bold"/>
                <a:sym typeface="Poppins Bold"/>
              </a:rPr>
              <a:t>Operations Platform</a:t>
            </a:r>
          </a:p>
        </p:txBody>
      </p:sp>
      <p:sp>
        <p:nvSpPr>
          <p:cNvPr id="16" name="TextBox 16"/>
          <p:cNvSpPr txBox="1"/>
          <p:nvPr/>
        </p:nvSpPr>
        <p:spPr>
          <a:xfrm>
            <a:off x="914400" y="4772025"/>
            <a:ext cx="8572500" cy="384721"/>
          </a:xfrm>
          <a:prstGeom prst="rect">
            <a:avLst/>
          </a:prstGeom>
        </p:spPr>
        <p:txBody>
          <a:bodyPr lIns="0" tIns="0" rIns="0" bIns="0" rtlCol="0" anchor="t">
            <a:spAutoFit/>
          </a:bodyPr>
          <a:lstStyle/>
          <a:p>
            <a:pPr algn="l">
              <a:lnSpc>
                <a:spcPts val="3000"/>
              </a:lnSpc>
            </a:pPr>
            <a:r>
              <a:rPr lang="en-US" sz="2400">
                <a:solidFill>
                  <a:srgbClr val="DCE8D4"/>
                </a:solidFill>
                <a:latin typeface="Poppins"/>
                <a:ea typeface="Poppins"/>
                <a:cs typeface="Poppins"/>
                <a:sym typeface="Poppins"/>
              </a:rPr>
              <a:t>(</a:t>
            </a:r>
            <a:r>
              <a:rPr lang="en-US" sz="3200" b="1">
                <a:solidFill>
                  <a:srgbClr val="DCE8D4"/>
                </a:solidFill>
                <a:latin typeface="Open Sauce" panose="020B0604020202020204" charset="0"/>
                <a:ea typeface="Poppins"/>
                <a:cs typeface="Poppins"/>
                <a:sym typeface="Poppins"/>
              </a:rPr>
              <a:t>Smart Agro Precision System)</a:t>
            </a:r>
          </a:p>
        </p:txBody>
      </p:sp>
      <p:sp>
        <p:nvSpPr>
          <p:cNvPr id="17" name="TextBox 17"/>
          <p:cNvSpPr txBox="1"/>
          <p:nvPr/>
        </p:nvSpPr>
        <p:spPr>
          <a:xfrm>
            <a:off x="876300" y="5636642"/>
            <a:ext cx="8839200" cy="1398973"/>
          </a:xfrm>
          <a:prstGeom prst="rect">
            <a:avLst/>
          </a:prstGeom>
        </p:spPr>
        <p:txBody>
          <a:bodyPr wrap="square" lIns="0" tIns="0" rIns="0" bIns="0" rtlCol="0" anchor="t">
            <a:spAutoFit/>
          </a:bodyPr>
          <a:lstStyle/>
          <a:p>
            <a:pPr algn="l">
              <a:lnSpc>
                <a:spcPts val="2700"/>
              </a:lnSpc>
            </a:pPr>
            <a:r>
              <a:rPr lang="en-US" sz="2800" b="1">
                <a:solidFill>
                  <a:srgbClr val="FFFFFF"/>
                </a:solidFill>
                <a:latin typeface="Arimo Bold" panose="020B0604020202020204" charset="0"/>
                <a:ea typeface="Arimo Bold" panose="020B0604020202020204" charset="0"/>
                <a:cs typeface="Arimo Bold" panose="020B0604020202020204" charset="0"/>
                <a:sym typeface="Poppins"/>
              </a:rPr>
              <a:t>A centralized digital platform designed to streamline farm, crop, soil, yield, and expense management while integrating AI capabilities for smarter agricultural decision-making</a:t>
            </a:r>
            <a:r>
              <a:rPr lang="en-US" sz="2000">
                <a:solidFill>
                  <a:srgbClr val="FFFFFF"/>
                </a:solidFill>
                <a:latin typeface="Poppins"/>
                <a:ea typeface="Poppins"/>
                <a:cs typeface="Poppins"/>
                <a:sym typeface="Poppins"/>
              </a:rPr>
              <a:t>.</a:t>
            </a:r>
          </a:p>
        </p:txBody>
      </p:sp>
      <p:grpSp>
        <p:nvGrpSpPr>
          <p:cNvPr id="18" name="Group 18"/>
          <p:cNvGrpSpPr/>
          <p:nvPr/>
        </p:nvGrpSpPr>
        <p:grpSpPr>
          <a:xfrm>
            <a:off x="914400" y="8019732"/>
            <a:ext cx="4476750" cy="2038350"/>
            <a:chOff x="0" y="0"/>
            <a:chExt cx="5969000" cy="2717800"/>
          </a:xfrm>
        </p:grpSpPr>
        <p:sp>
          <p:nvSpPr>
            <p:cNvPr id="19" name="Freeform 19"/>
            <p:cNvSpPr/>
            <p:nvPr/>
          </p:nvSpPr>
          <p:spPr>
            <a:xfrm>
              <a:off x="0" y="0"/>
              <a:ext cx="5969000" cy="2717800"/>
            </a:xfrm>
            <a:custGeom>
              <a:avLst/>
              <a:gdLst/>
              <a:ahLst/>
              <a:cxnLst/>
              <a:rect l="l" t="t" r="r" b="b"/>
              <a:pathLst>
                <a:path w="5969000" h="2717800">
                  <a:moveTo>
                    <a:pt x="228600" y="0"/>
                  </a:moveTo>
                  <a:lnTo>
                    <a:pt x="5740400" y="0"/>
                  </a:lnTo>
                  <a:cubicBezTo>
                    <a:pt x="5866652" y="0"/>
                    <a:pt x="5969000" y="102348"/>
                    <a:pt x="5969000" y="228600"/>
                  </a:cubicBezTo>
                  <a:lnTo>
                    <a:pt x="5969000" y="2489200"/>
                  </a:lnTo>
                  <a:cubicBezTo>
                    <a:pt x="5969000" y="2615452"/>
                    <a:pt x="5866652" y="2717800"/>
                    <a:pt x="5740400" y="2717800"/>
                  </a:cubicBezTo>
                  <a:lnTo>
                    <a:pt x="228600" y="2717800"/>
                  </a:lnTo>
                  <a:cubicBezTo>
                    <a:pt x="102348" y="2717800"/>
                    <a:pt x="0" y="2615452"/>
                    <a:pt x="0" y="2489200"/>
                  </a:cubicBezTo>
                  <a:lnTo>
                    <a:pt x="0" y="228600"/>
                  </a:lnTo>
                  <a:cubicBezTo>
                    <a:pt x="0" y="102348"/>
                    <a:pt x="102348" y="0"/>
                    <a:pt x="228600" y="0"/>
                  </a:cubicBezTo>
                  <a:close/>
                </a:path>
              </a:pathLst>
            </a:custGeom>
            <a:solidFill>
              <a:srgbClr val="123D2B"/>
            </a:solidFill>
            <a:ln w="9525" cap="sq">
              <a:solidFill>
                <a:srgbClr val="123D2B"/>
              </a:solidFill>
              <a:prstDash val="solid"/>
              <a:miter/>
            </a:ln>
          </p:spPr>
        </p:sp>
        <p:sp>
          <p:nvSpPr>
            <p:cNvPr id="20" name="TextBox 20"/>
            <p:cNvSpPr txBox="1"/>
            <p:nvPr/>
          </p:nvSpPr>
          <p:spPr>
            <a:xfrm>
              <a:off x="0" y="-38100"/>
              <a:ext cx="5969000" cy="2755900"/>
            </a:xfrm>
            <a:prstGeom prst="rect">
              <a:avLst/>
            </a:prstGeom>
          </p:spPr>
          <p:txBody>
            <a:bodyPr lIns="50800" tIns="50800" rIns="50800" bIns="50800" rtlCol="0" anchor="ctr"/>
            <a:lstStyle/>
            <a:p>
              <a:pPr algn="l">
                <a:lnSpc>
                  <a:spcPts val="1679"/>
                </a:lnSpc>
              </a:pPr>
              <a:endParaRPr/>
            </a:p>
          </p:txBody>
        </p:sp>
      </p:grpSp>
      <p:sp>
        <p:nvSpPr>
          <p:cNvPr id="21" name="TextBox 21"/>
          <p:cNvSpPr txBox="1"/>
          <p:nvPr/>
        </p:nvSpPr>
        <p:spPr>
          <a:xfrm>
            <a:off x="1331495" y="8487727"/>
            <a:ext cx="3714750" cy="302895"/>
          </a:xfrm>
          <a:prstGeom prst="rect">
            <a:avLst/>
          </a:prstGeom>
        </p:spPr>
        <p:txBody>
          <a:bodyPr lIns="0" tIns="0" rIns="0" bIns="0" rtlCol="0" anchor="t">
            <a:spAutoFit/>
          </a:bodyPr>
          <a:lstStyle/>
          <a:p>
            <a:pPr algn="l">
              <a:lnSpc>
                <a:spcPts val="2250"/>
              </a:lnSpc>
            </a:pPr>
            <a:r>
              <a:rPr lang="en-US" sz="1800" b="1">
                <a:solidFill>
                  <a:srgbClr val="DCE8D4"/>
                </a:solidFill>
                <a:latin typeface="Poppins Bold"/>
                <a:ea typeface="Poppins Bold"/>
                <a:cs typeface="Poppins Bold"/>
                <a:sym typeface="Poppins Bold"/>
              </a:rPr>
              <a:t>Under the Mentorship of :-</a:t>
            </a:r>
          </a:p>
        </p:txBody>
      </p:sp>
      <p:sp>
        <p:nvSpPr>
          <p:cNvPr id="22" name="TextBox 22"/>
          <p:cNvSpPr txBox="1"/>
          <p:nvPr/>
        </p:nvSpPr>
        <p:spPr>
          <a:xfrm>
            <a:off x="1295400" y="9123204"/>
            <a:ext cx="3714750" cy="513715"/>
          </a:xfrm>
          <a:prstGeom prst="rect">
            <a:avLst/>
          </a:prstGeom>
        </p:spPr>
        <p:txBody>
          <a:bodyPr lIns="0" tIns="0" rIns="0" bIns="0" rtlCol="0" anchor="t">
            <a:spAutoFit/>
          </a:bodyPr>
          <a:lstStyle/>
          <a:p>
            <a:pPr algn="l">
              <a:lnSpc>
                <a:spcPts val="3874"/>
              </a:lnSpc>
            </a:pPr>
            <a:r>
              <a:rPr lang="en-US" sz="3099" b="1">
                <a:solidFill>
                  <a:srgbClr val="FFFFFF"/>
                </a:solidFill>
                <a:latin typeface="Poppins Bold"/>
                <a:ea typeface="Poppins Bold"/>
                <a:cs typeface="Poppins Bold"/>
                <a:sym typeface="Poppins Bold"/>
              </a:rPr>
              <a:t>Suramya Biswas</a:t>
            </a:r>
          </a:p>
        </p:txBody>
      </p:sp>
      <p:grpSp>
        <p:nvGrpSpPr>
          <p:cNvPr id="23" name="Group 23"/>
          <p:cNvGrpSpPr/>
          <p:nvPr/>
        </p:nvGrpSpPr>
        <p:grpSpPr>
          <a:xfrm>
            <a:off x="12239623" y="6515100"/>
            <a:ext cx="4905377" cy="3276600"/>
            <a:chOff x="0" y="0"/>
            <a:chExt cx="6350000" cy="3175000"/>
          </a:xfrm>
        </p:grpSpPr>
        <p:sp>
          <p:nvSpPr>
            <p:cNvPr id="24" name="Freeform 24"/>
            <p:cNvSpPr/>
            <p:nvPr/>
          </p:nvSpPr>
          <p:spPr>
            <a:xfrm>
              <a:off x="0" y="0"/>
              <a:ext cx="6350000" cy="3175000"/>
            </a:xfrm>
            <a:custGeom>
              <a:avLst/>
              <a:gdLst/>
              <a:ahLst/>
              <a:cxnLst/>
              <a:rect l="l" t="t" r="r" b="b"/>
              <a:pathLst>
                <a:path w="6350000" h="3175000">
                  <a:moveTo>
                    <a:pt x="228600" y="0"/>
                  </a:moveTo>
                  <a:lnTo>
                    <a:pt x="6121400" y="0"/>
                  </a:lnTo>
                  <a:cubicBezTo>
                    <a:pt x="6247652" y="0"/>
                    <a:pt x="6350000" y="102348"/>
                    <a:pt x="6350000" y="228600"/>
                  </a:cubicBezTo>
                  <a:lnTo>
                    <a:pt x="6350000" y="2946400"/>
                  </a:lnTo>
                  <a:cubicBezTo>
                    <a:pt x="6350000" y="3072652"/>
                    <a:pt x="6247652" y="3175000"/>
                    <a:pt x="6121400" y="3175000"/>
                  </a:cubicBezTo>
                  <a:lnTo>
                    <a:pt x="228600" y="3175000"/>
                  </a:lnTo>
                  <a:cubicBezTo>
                    <a:pt x="102348" y="3175000"/>
                    <a:pt x="0" y="3072652"/>
                    <a:pt x="0" y="2946400"/>
                  </a:cubicBezTo>
                  <a:lnTo>
                    <a:pt x="0" y="228600"/>
                  </a:lnTo>
                  <a:cubicBezTo>
                    <a:pt x="0" y="102348"/>
                    <a:pt x="102348" y="0"/>
                    <a:pt x="228600" y="0"/>
                  </a:cubicBezTo>
                  <a:close/>
                </a:path>
              </a:pathLst>
            </a:custGeom>
            <a:solidFill>
              <a:srgbClr val="FFFFFF"/>
            </a:solidFill>
            <a:ln w="9525" cap="sq">
              <a:solidFill>
                <a:srgbClr val="FFFFFF"/>
              </a:solidFill>
              <a:prstDash val="solid"/>
              <a:miter/>
            </a:ln>
          </p:spPr>
        </p:sp>
        <p:sp>
          <p:nvSpPr>
            <p:cNvPr id="25" name="TextBox 25"/>
            <p:cNvSpPr txBox="1"/>
            <p:nvPr/>
          </p:nvSpPr>
          <p:spPr>
            <a:xfrm>
              <a:off x="0" y="-38100"/>
              <a:ext cx="6350000" cy="3213100"/>
            </a:xfrm>
            <a:prstGeom prst="rect">
              <a:avLst/>
            </a:prstGeom>
          </p:spPr>
          <p:txBody>
            <a:bodyPr lIns="50800" tIns="50800" rIns="50800" bIns="50800" rtlCol="0" anchor="ctr"/>
            <a:lstStyle/>
            <a:p>
              <a:pPr algn="l">
                <a:lnSpc>
                  <a:spcPts val="1679"/>
                </a:lnSpc>
              </a:pPr>
              <a:endParaRPr/>
            </a:p>
          </p:txBody>
        </p:sp>
      </p:grpSp>
      <p:sp>
        <p:nvSpPr>
          <p:cNvPr id="26" name="TextBox 26"/>
          <p:cNvSpPr txBox="1"/>
          <p:nvPr/>
        </p:nvSpPr>
        <p:spPr>
          <a:xfrm>
            <a:off x="12620625" y="7400925"/>
            <a:ext cx="3714750" cy="321755"/>
          </a:xfrm>
          <a:prstGeom prst="rect">
            <a:avLst/>
          </a:prstGeom>
        </p:spPr>
        <p:txBody>
          <a:bodyPr lIns="0" tIns="0" rIns="0" bIns="0" rtlCol="0" anchor="t">
            <a:spAutoFit/>
          </a:bodyPr>
          <a:lstStyle/>
          <a:p>
            <a:pPr algn="l">
              <a:lnSpc>
                <a:spcPts val="2250"/>
              </a:lnSpc>
            </a:pPr>
            <a:r>
              <a:rPr lang="en-US" sz="2800" b="1">
                <a:solidFill>
                  <a:srgbClr val="2F6B45"/>
                </a:solidFill>
                <a:latin typeface="Poppins Bold"/>
                <a:ea typeface="Poppins Bold"/>
                <a:cs typeface="Poppins Bold"/>
                <a:sym typeface="Poppins Bold"/>
              </a:rPr>
              <a:t>Team Members :-</a:t>
            </a:r>
          </a:p>
        </p:txBody>
      </p:sp>
      <p:sp>
        <p:nvSpPr>
          <p:cNvPr id="27" name="TextBox 27"/>
          <p:cNvSpPr txBox="1"/>
          <p:nvPr/>
        </p:nvSpPr>
        <p:spPr>
          <a:xfrm>
            <a:off x="12620625" y="7781925"/>
            <a:ext cx="3810000" cy="307392"/>
          </a:xfrm>
          <a:prstGeom prst="rect">
            <a:avLst/>
          </a:prstGeom>
        </p:spPr>
        <p:txBody>
          <a:bodyPr lIns="0" tIns="0" rIns="0" bIns="0" rtlCol="0" anchor="t">
            <a:spAutoFit/>
          </a:bodyPr>
          <a:lstStyle/>
          <a:p>
            <a:pPr marL="342900" indent="-342900" algn="l">
              <a:lnSpc>
                <a:spcPts val="2250"/>
              </a:lnSpc>
              <a:buFont typeface="Wingdings" panose="05000000000000000000" pitchFamily="2" charset="2"/>
              <a:buChar char="q"/>
            </a:pPr>
            <a:r>
              <a:rPr lang="en-US" sz="2400">
                <a:solidFill>
                  <a:srgbClr val="18352A"/>
                </a:solidFill>
                <a:latin typeface="Poppins"/>
                <a:ea typeface="Poppins"/>
                <a:cs typeface="Poppins"/>
                <a:sym typeface="Poppins"/>
              </a:rPr>
              <a:t>Aditya Raj</a:t>
            </a:r>
          </a:p>
        </p:txBody>
      </p:sp>
      <p:sp>
        <p:nvSpPr>
          <p:cNvPr id="28" name="TextBox 28"/>
          <p:cNvSpPr txBox="1"/>
          <p:nvPr/>
        </p:nvSpPr>
        <p:spPr>
          <a:xfrm>
            <a:off x="12620625" y="8067675"/>
            <a:ext cx="3810000" cy="307392"/>
          </a:xfrm>
          <a:prstGeom prst="rect">
            <a:avLst/>
          </a:prstGeom>
        </p:spPr>
        <p:txBody>
          <a:bodyPr lIns="0" tIns="0" rIns="0" bIns="0" rtlCol="0" anchor="t">
            <a:spAutoFit/>
          </a:bodyPr>
          <a:lstStyle/>
          <a:p>
            <a:pPr marL="342900" indent="-342900" algn="l">
              <a:lnSpc>
                <a:spcPts val="2250"/>
              </a:lnSpc>
              <a:buFont typeface="Wingdings" panose="05000000000000000000" pitchFamily="2" charset="2"/>
              <a:buChar char="q"/>
            </a:pPr>
            <a:r>
              <a:rPr lang="en-US" sz="2400">
                <a:solidFill>
                  <a:srgbClr val="18352A"/>
                </a:solidFill>
                <a:latin typeface="Poppins"/>
                <a:ea typeface="Poppins"/>
                <a:cs typeface="Poppins"/>
                <a:sym typeface="Poppins"/>
              </a:rPr>
              <a:t>Ganesh Raj</a:t>
            </a:r>
          </a:p>
        </p:txBody>
      </p:sp>
      <p:sp>
        <p:nvSpPr>
          <p:cNvPr id="29" name="TextBox 29"/>
          <p:cNvSpPr txBox="1"/>
          <p:nvPr/>
        </p:nvSpPr>
        <p:spPr>
          <a:xfrm>
            <a:off x="12620625" y="8353425"/>
            <a:ext cx="3810000" cy="307392"/>
          </a:xfrm>
          <a:prstGeom prst="rect">
            <a:avLst/>
          </a:prstGeom>
        </p:spPr>
        <p:txBody>
          <a:bodyPr lIns="0" tIns="0" rIns="0" bIns="0" rtlCol="0" anchor="t">
            <a:spAutoFit/>
          </a:bodyPr>
          <a:lstStyle/>
          <a:p>
            <a:pPr marL="342900" indent="-342900" algn="l">
              <a:lnSpc>
                <a:spcPts val="2250"/>
              </a:lnSpc>
              <a:buFont typeface="Wingdings" panose="05000000000000000000" pitchFamily="2" charset="2"/>
              <a:buChar char="q"/>
            </a:pPr>
            <a:r>
              <a:rPr lang="en-US" sz="2400">
                <a:solidFill>
                  <a:srgbClr val="18352A"/>
                </a:solidFill>
                <a:latin typeface="Poppins"/>
                <a:ea typeface="Poppins"/>
                <a:cs typeface="Poppins"/>
                <a:sym typeface="Poppins"/>
              </a:rPr>
              <a:t>Sivadharani K</a:t>
            </a:r>
          </a:p>
        </p:txBody>
      </p:sp>
      <p:sp>
        <p:nvSpPr>
          <p:cNvPr id="30" name="TextBox 30"/>
          <p:cNvSpPr txBox="1"/>
          <p:nvPr/>
        </p:nvSpPr>
        <p:spPr>
          <a:xfrm>
            <a:off x="12620625" y="8639175"/>
            <a:ext cx="3810000" cy="307392"/>
          </a:xfrm>
          <a:prstGeom prst="rect">
            <a:avLst/>
          </a:prstGeom>
        </p:spPr>
        <p:txBody>
          <a:bodyPr lIns="0" tIns="0" rIns="0" bIns="0" rtlCol="0" anchor="t">
            <a:spAutoFit/>
          </a:bodyPr>
          <a:lstStyle/>
          <a:p>
            <a:pPr marL="342900" indent="-342900" algn="l">
              <a:lnSpc>
                <a:spcPts val="2250"/>
              </a:lnSpc>
              <a:buFont typeface="Wingdings" panose="05000000000000000000" pitchFamily="2" charset="2"/>
              <a:buChar char="q"/>
            </a:pPr>
            <a:r>
              <a:rPr lang="en-US" sz="2400">
                <a:solidFill>
                  <a:srgbClr val="18352A"/>
                </a:solidFill>
                <a:latin typeface="Poppins"/>
                <a:ea typeface="Poppins"/>
                <a:cs typeface="Poppins"/>
                <a:sym typeface="Poppins"/>
              </a:rPr>
              <a:t>Pritam Kumar</a:t>
            </a:r>
          </a:p>
        </p:txBody>
      </p:sp>
      <p:sp>
        <p:nvSpPr>
          <p:cNvPr id="31" name="TextBox 31"/>
          <p:cNvSpPr txBox="1"/>
          <p:nvPr/>
        </p:nvSpPr>
        <p:spPr>
          <a:xfrm>
            <a:off x="12620624" y="8924925"/>
            <a:ext cx="4752975" cy="307392"/>
          </a:xfrm>
          <a:prstGeom prst="rect">
            <a:avLst/>
          </a:prstGeom>
        </p:spPr>
        <p:txBody>
          <a:bodyPr wrap="square" lIns="0" tIns="0" rIns="0" bIns="0" rtlCol="0" anchor="t">
            <a:spAutoFit/>
          </a:bodyPr>
          <a:lstStyle/>
          <a:p>
            <a:pPr marL="342900" indent="-342900" algn="l">
              <a:lnSpc>
                <a:spcPts val="2250"/>
              </a:lnSpc>
              <a:buFont typeface="Wingdings" panose="05000000000000000000" pitchFamily="2" charset="2"/>
              <a:buChar char="q"/>
            </a:pPr>
            <a:r>
              <a:rPr lang="en-US" sz="2400">
                <a:solidFill>
                  <a:srgbClr val="18352A"/>
                </a:solidFill>
                <a:latin typeface="Poppins"/>
                <a:ea typeface="Poppins"/>
                <a:cs typeface="Poppins"/>
                <a:sym typeface="Poppins"/>
              </a:rPr>
              <a:t>Madivada Hanu Harshitha</a:t>
            </a:r>
          </a:p>
        </p:txBody>
      </p:sp>
      <p:sp>
        <p:nvSpPr>
          <p:cNvPr id="33" name="Freeform 12">
            <a:extLst>
              <a:ext uri="{FF2B5EF4-FFF2-40B4-BE49-F238E27FC236}">
                <a16:creationId xmlns:a16="http://schemas.microsoft.com/office/drawing/2014/main" id="{4C251657-CA6A-13D1-D259-0D044C0E7080}"/>
              </a:ext>
            </a:extLst>
          </p:cNvPr>
          <p:cNvSpPr/>
          <p:nvPr/>
        </p:nvSpPr>
        <p:spPr>
          <a:xfrm>
            <a:off x="14244984" y="6634094"/>
            <a:ext cx="561282" cy="486197"/>
          </a:xfrm>
          <a:custGeom>
            <a:avLst/>
            <a:gdLst/>
            <a:ahLst/>
            <a:cxnLst/>
            <a:rect l="l" t="t" r="r" b="b"/>
            <a:pathLst>
              <a:path w="561282" h="486197">
                <a:moveTo>
                  <a:pt x="0" y="0"/>
                </a:moveTo>
                <a:lnTo>
                  <a:pt x="561282" y="0"/>
                </a:lnTo>
                <a:lnTo>
                  <a:pt x="561282" y="486197"/>
                </a:lnTo>
                <a:lnTo>
                  <a:pt x="0" y="486197"/>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extBox 2"/>
          <p:cNvSpPr txBox="1"/>
          <p:nvPr/>
        </p:nvSpPr>
        <p:spPr>
          <a:xfrm>
            <a:off x="181231" y="-401249"/>
            <a:ext cx="16497300" cy="2707601"/>
          </a:xfrm>
          <a:prstGeom prst="rect">
            <a:avLst/>
          </a:prstGeom>
        </p:spPr>
        <p:txBody>
          <a:bodyPr wrap="square" lIns="0" tIns="0" rIns="0" bIns="0" rtlCol="0" anchor="t">
            <a:spAutoFit/>
          </a:bodyPr>
          <a:lstStyle/>
          <a:p>
            <a:pPr algn="l">
              <a:lnSpc>
                <a:spcPts val="21879"/>
              </a:lnSpc>
              <a:spcBef>
                <a:spcPct val="0"/>
              </a:spcBef>
            </a:pPr>
            <a:r>
              <a:rPr lang="en-US" sz="9600" spc="-453">
                <a:solidFill>
                  <a:srgbClr val="1C74B5"/>
                </a:solidFill>
                <a:latin typeface="League Spartan"/>
                <a:ea typeface="League Spartan"/>
                <a:cs typeface="League Spartan"/>
                <a:sym typeface="League Spartan"/>
              </a:rPr>
              <a:t>INTRODUCTION</a:t>
            </a:r>
            <a:r>
              <a:rPr lang="en-US" sz="15628" spc="-453">
                <a:solidFill>
                  <a:srgbClr val="1C74B5"/>
                </a:solidFill>
                <a:latin typeface="League Spartan"/>
                <a:ea typeface="League Spartan"/>
                <a:cs typeface="League Spartan"/>
                <a:sym typeface="League Spartan"/>
              </a:rPr>
              <a:t> </a:t>
            </a:r>
          </a:p>
        </p:txBody>
      </p:sp>
      <p:sp>
        <p:nvSpPr>
          <p:cNvPr id="3" name="Freeform 3"/>
          <p:cNvSpPr/>
          <p:nvPr/>
        </p:nvSpPr>
        <p:spPr>
          <a:xfrm>
            <a:off x="196905" y="3407582"/>
            <a:ext cx="8280480" cy="6876127"/>
          </a:xfrm>
          <a:custGeom>
            <a:avLst/>
            <a:gdLst/>
            <a:ahLst/>
            <a:cxnLst/>
            <a:rect l="l" t="t" r="r" b="b"/>
            <a:pathLst>
              <a:path w="8280480" h="6876127">
                <a:moveTo>
                  <a:pt x="0" y="0"/>
                </a:moveTo>
                <a:lnTo>
                  <a:pt x="8280480" y="0"/>
                </a:lnTo>
                <a:lnTo>
                  <a:pt x="8280480" y="6876127"/>
                </a:lnTo>
                <a:lnTo>
                  <a:pt x="0" y="687612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3" name="Freeform 13"/>
          <p:cNvSpPr/>
          <p:nvPr/>
        </p:nvSpPr>
        <p:spPr>
          <a:xfrm>
            <a:off x="14211138" y="6608481"/>
            <a:ext cx="3909034" cy="3653170"/>
          </a:xfrm>
          <a:custGeom>
            <a:avLst/>
            <a:gdLst/>
            <a:ahLst/>
            <a:cxnLst/>
            <a:rect l="l" t="t" r="r" b="b"/>
            <a:pathLst>
              <a:path w="3909034" h="3653170">
                <a:moveTo>
                  <a:pt x="0" y="0"/>
                </a:moveTo>
                <a:lnTo>
                  <a:pt x="3909034" y="0"/>
                </a:lnTo>
                <a:lnTo>
                  <a:pt x="3909034" y="3653170"/>
                </a:lnTo>
                <a:lnTo>
                  <a:pt x="0" y="365317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5" name="TextBox 15"/>
          <p:cNvSpPr txBox="1"/>
          <p:nvPr/>
        </p:nvSpPr>
        <p:spPr>
          <a:xfrm>
            <a:off x="6886562" y="2505185"/>
            <a:ext cx="8915400" cy="4431983"/>
          </a:xfrm>
          <a:prstGeom prst="rect">
            <a:avLst/>
          </a:prstGeom>
        </p:spPr>
        <p:txBody>
          <a:bodyPr wrap="square" lIns="0" tIns="0" rIns="0" bIns="0" rtlCol="0" anchor="t">
            <a:spAutoFit/>
          </a:bodyPr>
          <a:lstStyle/>
          <a:p>
            <a:r>
              <a:rPr lang="en-IN" sz="3600" b="1">
                <a:solidFill>
                  <a:srgbClr val="00B050"/>
                </a:solidFill>
              </a:rPr>
              <a:t>Intelligent Farm Operations Platform is a centralized digital platform designed to simplify and organize agricultural operations. It brings farm, crop, soil, yield, timeline, and expense management together in one system, while integrating AI capabilities through Hugging Face to support smarter and more efficient agricultural decision-making.</a:t>
            </a:r>
            <a:endParaRPr lang="en-US" sz="3600" b="1" spc="-20">
              <a:solidFill>
                <a:srgbClr val="00B050"/>
              </a:solidFill>
              <a:latin typeface="League Spartan"/>
              <a:ea typeface="League Spartan"/>
              <a:cs typeface="League Spartan"/>
              <a:sym typeface="League Spartan"/>
            </a:endParaRPr>
          </a:p>
        </p:txBody>
      </p:sp>
      <p:sp>
        <p:nvSpPr>
          <p:cNvPr id="20" name="Freeform 20"/>
          <p:cNvSpPr/>
          <p:nvPr/>
        </p:nvSpPr>
        <p:spPr>
          <a:xfrm>
            <a:off x="16040304" y="5846613"/>
            <a:ext cx="2050791" cy="563035"/>
          </a:xfrm>
          <a:custGeom>
            <a:avLst/>
            <a:gdLst/>
            <a:ahLst/>
            <a:cxnLst/>
            <a:rect l="l" t="t" r="r" b="b"/>
            <a:pathLst>
              <a:path w="2050791" h="563035">
                <a:moveTo>
                  <a:pt x="0" y="0"/>
                </a:moveTo>
                <a:lnTo>
                  <a:pt x="2050791" y="0"/>
                </a:lnTo>
                <a:lnTo>
                  <a:pt x="2050791" y="563035"/>
                </a:lnTo>
                <a:lnTo>
                  <a:pt x="0" y="5630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TextBox 3">
            <a:extLst>
              <a:ext uri="{FF2B5EF4-FFF2-40B4-BE49-F238E27FC236}">
                <a16:creationId xmlns:a16="http://schemas.microsoft.com/office/drawing/2014/main" id="{1E21143F-EE21-C3F2-0E0C-8DA66C4928F6}"/>
              </a:ext>
            </a:extLst>
          </p:cNvPr>
          <p:cNvSpPr txBox="1"/>
          <p:nvPr/>
        </p:nvSpPr>
        <p:spPr>
          <a:xfrm>
            <a:off x="8286723" y="9338321"/>
            <a:ext cx="5791200" cy="1015663"/>
          </a:xfrm>
          <a:prstGeom prst="rect">
            <a:avLst/>
          </a:prstGeom>
          <a:noFill/>
        </p:spPr>
        <p:txBody>
          <a:bodyPr wrap="square" rtlCol="0">
            <a:spAutoFit/>
          </a:bodyPr>
          <a:lstStyle/>
          <a:p>
            <a:r>
              <a:rPr lang="en-IN" sz="2000" b="1">
                <a:solidFill>
                  <a:schemeClr val="tx1">
                    <a:lumMod val="85000"/>
                    <a:lumOff val="15000"/>
                  </a:schemeClr>
                </a:solidFill>
              </a:rPr>
              <a:t>Tagline:</a:t>
            </a:r>
            <a:br>
              <a:rPr lang="en-IN" sz="2000" b="1">
                <a:solidFill>
                  <a:schemeClr val="tx1">
                    <a:lumMod val="85000"/>
                    <a:lumOff val="15000"/>
                  </a:schemeClr>
                </a:solidFill>
              </a:rPr>
            </a:br>
            <a:r>
              <a:rPr lang="en-IN" sz="2000" b="1" i="1">
                <a:solidFill>
                  <a:schemeClr val="tx1">
                    <a:lumMod val="85000"/>
                    <a:lumOff val="15000"/>
                  </a:schemeClr>
                </a:solidFill>
              </a:rPr>
              <a:t>“Transforming traditional farm management into a smarter, organized, and technology-driven process.”</a:t>
            </a:r>
            <a:endParaRPr lang="en-IN" sz="2000" b="1">
              <a:solidFill>
                <a:schemeClr val="tx1">
                  <a:lumMod val="85000"/>
                  <a:lumOff val="15000"/>
                </a:schemeClr>
              </a:solidFill>
            </a:endParaRPr>
          </a:p>
        </p:txBody>
      </p:sp>
    </p:spTree>
    <p:extLst>
      <p:ext uri="{BB962C8B-B14F-4D97-AF65-F5344CB8AC3E}">
        <p14:creationId xmlns:p14="http://schemas.microsoft.com/office/powerpoint/2010/main" val="3515458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4A39"/>
        </a:solidFill>
        <a:effectLst/>
      </p:bgPr>
    </p:bg>
    <p:spTree>
      <p:nvGrpSpPr>
        <p:cNvPr id="1" name=""/>
        <p:cNvGrpSpPr/>
        <p:nvPr/>
      </p:nvGrpSpPr>
      <p:grpSpPr>
        <a:xfrm>
          <a:off x="0" y="0"/>
          <a:ext cx="0" cy="0"/>
          <a:chOff x="0" y="0"/>
          <a:chExt cx="0" cy="0"/>
        </a:xfrm>
      </p:grpSpPr>
      <p:grpSp>
        <p:nvGrpSpPr>
          <p:cNvPr id="2" name="Group 2"/>
          <p:cNvGrpSpPr/>
          <p:nvPr/>
        </p:nvGrpSpPr>
        <p:grpSpPr>
          <a:xfrm>
            <a:off x="333375" y="8382000"/>
            <a:ext cx="1047750" cy="1047750"/>
            <a:chOff x="0" y="0"/>
            <a:chExt cx="1397000" cy="1397000"/>
          </a:xfrm>
        </p:grpSpPr>
        <p:sp>
          <p:nvSpPr>
            <p:cNvPr id="3" name="Freeform 3"/>
            <p:cNvSpPr/>
            <p:nvPr/>
          </p:nvSpPr>
          <p:spPr>
            <a:xfrm>
              <a:off x="0" y="0"/>
              <a:ext cx="1397000" cy="1397000"/>
            </a:xfrm>
            <a:custGeom>
              <a:avLst/>
              <a:gdLst/>
              <a:ahLst/>
              <a:cxnLst/>
              <a:rect l="l" t="t" r="r" b="b"/>
              <a:pathLst>
                <a:path w="1397000" h="1397000">
                  <a:moveTo>
                    <a:pt x="0" y="698500"/>
                  </a:moveTo>
                  <a:cubicBezTo>
                    <a:pt x="0" y="1084271"/>
                    <a:pt x="312729" y="1397000"/>
                    <a:pt x="698500" y="1397000"/>
                  </a:cubicBezTo>
                  <a:cubicBezTo>
                    <a:pt x="1084271" y="1397000"/>
                    <a:pt x="1397000" y="1084271"/>
                    <a:pt x="1397000" y="698500"/>
                  </a:cubicBezTo>
                  <a:cubicBezTo>
                    <a:pt x="1397000" y="312729"/>
                    <a:pt x="1084271" y="0"/>
                    <a:pt x="698500" y="0"/>
                  </a:cubicBezTo>
                  <a:cubicBezTo>
                    <a:pt x="312729" y="0"/>
                    <a:pt x="0" y="312729"/>
                    <a:pt x="0" y="698500"/>
                  </a:cubicBezTo>
                  <a:close/>
                </a:path>
              </a:pathLst>
            </a:custGeom>
            <a:solidFill>
              <a:srgbClr val="2F6B45">
                <a:alpha val="84706"/>
              </a:srgbClr>
            </a:solidFill>
          </p:spPr>
        </p:sp>
        <p:sp>
          <p:nvSpPr>
            <p:cNvPr id="4" name="TextBox 4"/>
            <p:cNvSpPr txBox="1"/>
            <p:nvPr/>
          </p:nvSpPr>
          <p:spPr>
            <a:xfrm>
              <a:off x="0" y="-38100"/>
              <a:ext cx="1397000" cy="1435100"/>
            </a:xfrm>
            <a:prstGeom prst="rect">
              <a:avLst/>
            </a:prstGeom>
          </p:spPr>
          <p:txBody>
            <a:bodyPr lIns="50800" tIns="50800" rIns="50800" bIns="50800" rtlCol="0" anchor="ctr"/>
            <a:lstStyle/>
            <a:p>
              <a:pPr algn="l">
                <a:lnSpc>
                  <a:spcPts val="1679"/>
                </a:lnSpc>
              </a:pPr>
              <a:endParaRPr/>
            </a:p>
          </p:txBody>
        </p:sp>
      </p:grpSp>
      <p:sp>
        <p:nvSpPr>
          <p:cNvPr id="5" name="Freeform 5"/>
          <p:cNvSpPr/>
          <p:nvPr/>
        </p:nvSpPr>
        <p:spPr>
          <a:xfrm>
            <a:off x="0" y="0"/>
            <a:ext cx="5905500" cy="10287000"/>
          </a:xfrm>
          <a:custGeom>
            <a:avLst/>
            <a:gdLst/>
            <a:ahLst/>
            <a:cxnLst/>
            <a:rect l="l" t="t" r="r" b="b"/>
            <a:pathLst>
              <a:path w="5905500" h="10287000">
                <a:moveTo>
                  <a:pt x="0" y="0"/>
                </a:moveTo>
                <a:lnTo>
                  <a:pt x="5905500" y="0"/>
                </a:lnTo>
                <a:lnTo>
                  <a:pt x="5905500" y="10287000"/>
                </a:lnTo>
                <a:lnTo>
                  <a:pt x="0" y="10287000"/>
                </a:lnTo>
                <a:lnTo>
                  <a:pt x="0" y="0"/>
                </a:lnTo>
                <a:close/>
              </a:path>
            </a:pathLst>
          </a:custGeom>
          <a:blipFill>
            <a:blip r:embed="rId3">
              <a:alphaModFix amt="90000"/>
            </a:blip>
            <a:stretch>
              <a:fillRect l="-80726" r="-80726"/>
            </a:stretch>
          </a:blipFill>
        </p:spPr>
      </p:sp>
      <p:grpSp>
        <p:nvGrpSpPr>
          <p:cNvPr id="6" name="Group 6"/>
          <p:cNvGrpSpPr/>
          <p:nvPr/>
        </p:nvGrpSpPr>
        <p:grpSpPr>
          <a:xfrm>
            <a:off x="0" y="0"/>
            <a:ext cx="5905500" cy="10287000"/>
            <a:chOff x="0" y="0"/>
            <a:chExt cx="7874000" cy="13716000"/>
          </a:xfrm>
        </p:grpSpPr>
        <p:sp>
          <p:nvSpPr>
            <p:cNvPr id="7" name="Freeform 7"/>
            <p:cNvSpPr/>
            <p:nvPr/>
          </p:nvSpPr>
          <p:spPr>
            <a:xfrm>
              <a:off x="0" y="0"/>
              <a:ext cx="7874000" cy="13716000"/>
            </a:xfrm>
            <a:custGeom>
              <a:avLst/>
              <a:gdLst/>
              <a:ahLst/>
              <a:cxnLst/>
              <a:rect l="l" t="t" r="r" b="b"/>
              <a:pathLst>
                <a:path w="7874000" h="13716000">
                  <a:moveTo>
                    <a:pt x="0" y="0"/>
                  </a:moveTo>
                  <a:lnTo>
                    <a:pt x="7874000" y="0"/>
                  </a:lnTo>
                  <a:lnTo>
                    <a:pt x="7874000" y="13716000"/>
                  </a:lnTo>
                  <a:lnTo>
                    <a:pt x="0" y="13716000"/>
                  </a:lnTo>
                  <a:close/>
                </a:path>
              </a:pathLst>
            </a:custGeom>
            <a:solidFill>
              <a:srgbClr val="123D2B">
                <a:alpha val="34902"/>
              </a:srgbClr>
            </a:solidFill>
          </p:spPr>
        </p:sp>
        <p:sp>
          <p:nvSpPr>
            <p:cNvPr id="8" name="TextBox 8"/>
            <p:cNvSpPr txBox="1"/>
            <p:nvPr/>
          </p:nvSpPr>
          <p:spPr>
            <a:xfrm>
              <a:off x="0" y="-38100"/>
              <a:ext cx="7874000" cy="13754100"/>
            </a:xfrm>
            <a:prstGeom prst="rect">
              <a:avLst/>
            </a:prstGeom>
          </p:spPr>
          <p:txBody>
            <a:bodyPr lIns="50800" tIns="50800" rIns="50800" bIns="50800" rtlCol="0" anchor="ctr"/>
            <a:lstStyle/>
            <a:p>
              <a:pPr algn="l">
                <a:lnSpc>
                  <a:spcPts val="1679"/>
                </a:lnSpc>
              </a:pPr>
              <a:endParaRPr/>
            </a:p>
          </p:txBody>
        </p:sp>
      </p:grpSp>
      <p:sp>
        <p:nvSpPr>
          <p:cNvPr id="9" name="TextBox 9"/>
          <p:cNvSpPr txBox="1"/>
          <p:nvPr/>
        </p:nvSpPr>
        <p:spPr>
          <a:xfrm>
            <a:off x="876300" y="962025"/>
            <a:ext cx="4476750" cy="1704616"/>
          </a:xfrm>
          <a:prstGeom prst="rect">
            <a:avLst/>
          </a:prstGeom>
        </p:spPr>
        <p:txBody>
          <a:bodyPr lIns="0" tIns="0" rIns="0" bIns="0" rtlCol="0" anchor="t">
            <a:spAutoFit/>
          </a:bodyPr>
          <a:lstStyle/>
          <a:p>
            <a:pPr algn="l">
              <a:lnSpc>
                <a:spcPts val="6360"/>
              </a:lnSpc>
            </a:pPr>
            <a:r>
              <a:rPr lang="en-US" sz="6360" b="1">
                <a:solidFill>
                  <a:srgbClr val="FFFFFF"/>
                </a:solidFill>
                <a:latin typeface="Poppins Bold"/>
                <a:ea typeface="Poppins Bold"/>
                <a:cs typeface="Poppins Bold"/>
                <a:sym typeface="Poppins Bold"/>
              </a:rPr>
              <a:t>Problem</a:t>
            </a:r>
          </a:p>
          <a:p>
            <a:pPr algn="l">
              <a:lnSpc>
                <a:spcPts val="6360"/>
              </a:lnSpc>
            </a:pPr>
            <a:r>
              <a:rPr lang="en-US" sz="6360" b="1">
                <a:solidFill>
                  <a:srgbClr val="FFFFFF"/>
                </a:solidFill>
                <a:latin typeface="Poppins Bold"/>
                <a:ea typeface="Poppins Bold"/>
                <a:cs typeface="Poppins Bold"/>
                <a:sym typeface="Poppins Bold"/>
              </a:rPr>
              <a:t>Statement</a:t>
            </a:r>
          </a:p>
        </p:txBody>
      </p:sp>
      <p:sp>
        <p:nvSpPr>
          <p:cNvPr id="10" name="TextBox 10"/>
          <p:cNvSpPr txBox="1"/>
          <p:nvPr/>
        </p:nvSpPr>
        <p:spPr>
          <a:xfrm>
            <a:off x="876300" y="2638425"/>
            <a:ext cx="4000500" cy="700405"/>
          </a:xfrm>
          <a:prstGeom prst="rect">
            <a:avLst/>
          </a:prstGeom>
        </p:spPr>
        <p:txBody>
          <a:bodyPr lIns="0" tIns="0" rIns="0" bIns="0" rtlCol="0" anchor="t">
            <a:spAutoFit/>
          </a:bodyPr>
          <a:lstStyle/>
          <a:p>
            <a:pPr algn="l">
              <a:lnSpc>
                <a:spcPts val="2749"/>
              </a:lnSpc>
            </a:pPr>
            <a:r>
              <a:rPr lang="en-US" sz="2199">
                <a:solidFill>
                  <a:srgbClr val="DCE8D4"/>
                </a:solidFill>
                <a:latin typeface="Poppins"/>
                <a:ea typeface="Poppins"/>
                <a:cs typeface="Poppins"/>
                <a:sym typeface="Poppins"/>
              </a:rPr>
              <a:t>Where farm information breaks down</a:t>
            </a:r>
          </a:p>
        </p:txBody>
      </p:sp>
      <p:grpSp>
        <p:nvGrpSpPr>
          <p:cNvPr id="11" name="Group 11"/>
          <p:cNvGrpSpPr/>
          <p:nvPr/>
        </p:nvGrpSpPr>
        <p:grpSpPr>
          <a:xfrm>
            <a:off x="7239000" y="1238250"/>
            <a:ext cx="4286250" cy="2857500"/>
            <a:chOff x="0" y="0"/>
            <a:chExt cx="5715000" cy="3810000"/>
          </a:xfrm>
        </p:grpSpPr>
        <p:sp>
          <p:nvSpPr>
            <p:cNvPr id="12" name="Freeform 12"/>
            <p:cNvSpPr/>
            <p:nvPr/>
          </p:nvSpPr>
          <p:spPr>
            <a:xfrm>
              <a:off x="0" y="0"/>
              <a:ext cx="5715000" cy="3810000"/>
            </a:xfrm>
            <a:custGeom>
              <a:avLst/>
              <a:gdLst/>
              <a:ahLst/>
              <a:cxnLst/>
              <a:rect l="l" t="t" r="r" b="b"/>
              <a:pathLst>
                <a:path w="5715000" h="3810000">
                  <a:moveTo>
                    <a:pt x="254000" y="0"/>
                  </a:moveTo>
                  <a:lnTo>
                    <a:pt x="5461000" y="0"/>
                  </a:lnTo>
                  <a:cubicBezTo>
                    <a:pt x="5601280" y="0"/>
                    <a:pt x="5715000" y="113720"/>
                    <a:pt x="5715000" y="254000"/>
                  </a:cubicBezTo>
                  <a:lnTo>
                    <a:pt x="5715000" y="3556000"/>
                  </a:lnTo>
                  <a:cubicBezTo>
                    <a:pt x="5715000" y="3696280"/>
                    <a:pt x="5601280" y="3810000"/>
                    <a:pt x="5461000" y="3810000"/>
                  </a:cubicBezTo>
                  <a:lnTo>
                    <a:pt x="254000" y="3810000"/>
                  </a:lnTo>
                  <a:cubicBezTo>
                    <a:pt x="113720" y="3810000"/>
                    <a:pt x="0" y="3696280"/>
                    <a:pt x="0" y="3556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13" name="TextBox 13"/>
            <p:cNvSpPr txBox="1"/>
            <p:nvPr/>
          </p:nvSpPr>
          <p:spPr>
            <a:xfrm>
              <a:off x="0" y="-38100"/>
              <a:ext cx="5715000" cy="3848100"/>
            </a:xfrm>
            <a:prstGeom prst="rect">
              <a:avLst/>
            </a:prstGeom>
          </p:spPr>
          <p:txBody>
            <a:bodyPr lIns="50800" tIns="50800" rIns="50800" bIns="50800" rtlCol="0" anchor="ctr"/>
            <a:lstStyle/>
            <a:p>
              <a:pPr algn="l">
                <a:lnSpc>
                  <a:spcPts val="1679"/>
                </a:lnSpc>
              </a:pPr>
              <a:endParaRPr/>
            </a:p>
          </p:txBody>
        </p:sp>
      </p:grpSp>
      <p:sp>
        <p:nvSpPr>
          <p:cNvPr id="14" name="TextBox 14"/>
          <p:cNvSpPr txBox="1"/>
          <p:nvPr/>
        </p:nvSpPr>
        <p:spPr>
          <a:xfrm>
            <a:off x="7505700" y="1466850"/>
            <a:ext cx="571500" cy="294005"/>
          </a:xfrm>
          <a:prstGeom prst="rect">
            <a:avLst/>
          </a:prstGeom>
        </p:spPr>
        <p:txBody>
          <a:bodyPr lIns="0" tIns="0" rIns="0" bIns="0" rtlCol="0" anchor="t">
            <a:spAutoFit/>
          </a:bodyPr>
          <a:lstStyle/>
          <a:p>
            <a:pPr algn="l">
              <a:lnSpc>
                <a:spcPts val="2125"/>
              </a:lnSpc>
            </a:pPr>
            <a:r>
              <a:rPr lang="en-US" sz="1700" b="1">
                <a:solidFill>
                  <a:srgbClr val="DCE8D4"/>
                </a:solidFill>
                <a:latin typeface="Poppins Bold"/>
                <a:ea typeface="Poppins Bold"/>
                <a:cs typeface="Poppins Bold"/>
                <a:sym typeface="Poppins Bold"/>
              </a:rPr>
              <a:t>01</a:t>
            </a:r>
          </a:p>
        </p:txBody>
      </p:sp>
      <p:sp>
        <p:nvSpPr>
          <p:cNvPr id="15" name="TextBox 15"/>
          <p:cNvSpPr txBox="1"/>
          <p:nvPr/>
        </p:nvSpPr>
        <p:spPr>
          <a:xfrm>
            <a:off x="7505700" y="1885950"/>
            <a:ext cx="3619500" cy="803275"/>
          </a:xfrm>
          <a:prstGeom prst="rect">
            <a:avLst/>
          </a:prstGeom>
        </p:spPr>
        <p:txBody>
          <a:bodyPr lIns="0" tIns="0" rIns="0" bIns="0" rtlCol="0" anchor="t">
            <a:spAutoFit/>
          </a:bodyPr>
          <a:lstStyle/>
          <a:p>
            <a:pPr algn="l">
              <a:lnSpc>
                <a:spcPts val="3124"/>
              </a:lnSpc>
            </a:pPr>
            <a:r>
              <a:rPr lang="en-US" sz="2499" b="1">
                <a:solidFill>
                  <a:srgbClr val="92D050"/>
                </a:solidFill>
                <a:latin typeface="Poppins Bold"/>
                <a:ea typeface="Poppins Bold"/>
                <a:cs typeface="Poppins Bold"/>
                <a:sym typeface="Poppins Bold"/>
              </a:rPr>
              <a:t>Fragmented Farm Records</a:t>
            </a:r>
          </a:p>
        </p:txBody>
      </p:sp>
      <p:sp>
        <p:nvSpPr>
          <p:cNvPr id="16" name="TextBox 16"/>
          <p:cNvSpPr txBox="1"/>
          <p:nvPr/>
        </p:nvSpPr>
        <p:spPr>
          <a:xfrm>
            <a:off x="7505700" y="2581275"/>
            <a:ext cx="3667125" cy="1487043"/>
          </a:xfrm>
          <a:prstGeom prst="rect">
            <a:avLst/>
          </a:prstGeom>
        </p:spPr>
        <p:txBody>
          <a:bodyPr lIns="0" tIns="0" rIns="0" bIns="0" rtlCol="0" anchor="t">
            <a:spAutoFit/>
          </a:bodyPr>
          <a:lstStyle/>
          <a:p>
            <a:pPr algn="l">
              <a:lnSpc>
                <a:spcPts val="2376"/>
              </a:lnSpc>
            </a:pPr>
            <a:r>
              <a:rPr lang="en-US" sz="1800">
                <a:solidFill>
                  <a:srgbClr val="5A6B60"/>
                </a:solidFill>
                <a:latin typeface="Poppins"/>
                <a:ea typeface="Poppins"/>
                <a:cs typeface="Poppins"/>
                <a:sym typeface="Poppins"/>
              </a:rPr>
              <a:t>Farm and crop information becomes difficult to maintain when records are manual or split across disconnected systems.</a:t>
            </a:r>
          </a:p>
        </p:txBody>
      </p:sp>
      <p:grpSp>
        <p:nvGrpSpPr>
          <p:cNvPr id="17" name="Group 17"/>
          <p:cNvGrpSpPr/>
          <p:nvPr/>
        </p:nvGrpSpPr>
        <p:grpSpPr>
          <a:xfrm>
            <a:off x="12192000" y="1238250"/>
            <a:ext cx="4286250" cy="2857500"/>
            <a:chOff x="0" y="0"/>
            <a:chExt cx="5715000" cy="3810000"/>
          </a:xfrm>
        </p:grpSpPr>
        <p:sp>
          <p:nvSpPr>
            <p:cNvPr id="18" name="Freeform 18"/>
            <p:cNvSpPr/>
            <p:nvPr/>
          </p:nvSpPr>
          <p:spPr>
            <a:xfrm>
              <a:off x="0" y="0"/>
              <a:ext cx="5715000" cy="3810000"/>
            </a:xfrm>
            <a:custGeom>
              <a:avLst/>
              <a:gdLst/>
              <a:ahLst/>
              <a:cxnLst/>
              <a:rect l="l" t="t" r="r" b="b"/>
              <a:pathLst>
                <a:path w="5715000" h="3810000">
                  <a:moveTo>
                    <a:pt x="254000" y="0"/>
                  </a:moveTo>
                  <a:lnTo>
                    <a:pt x="5461000" y="0"/>
                  </a:lnTo>
                  <a:cubicBezTo>
                    <a:pt x="5601280" y="0"/>
                    <a:pt x="5715000" y="113720"/>
                    <a:pt x="5715000" y="254000"/>
                  </a:cubicBezTo>
                  <a:lnTo>
                    <a:pt x="5715000" y="3556000"/>
                  </a:lnTo>
                  <a:cubicBezTo>
                    <a:pt x="5715000" y="3696280"/>
                    <a:pt x="5601280" y="3810000"/>
                    <a:pt x="5461000" y="3810000"/>
                  </a:cubicBezTo>
                  <a:lnTo>
                    <a:pt x="254000" y="3810000"/>
                  </a:lnTo>
                  <a:cubicBezTo>
                    <a:pt x="113720" y="3810000"/>
                    <a:pt x="0" y="3696280"/>
                    <a:pt x="0" y="3556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19" name="TextBox 19"/>
            <p:cNvSpPr txBox="1"/>
            <p:nvPr/>
          </p:nvSpPr>
          <p:spPr>
            <a:xfrm>
              <a:off x="0" y="-38100"/>
              <a:ext cx="5715000" cy="3848100"/>
            </a:xfrm>
            <a:prstGeom prst="rect">
              <a:avLst/>
            </a:prstGeom>
          </p:spPr>
          <p:txBody>
            <a:bodyPr lIns="50800" tIns="50800" rIns="50800" bIns="50800" rtlCol="0" anchor="ctr"/>
            <a:lstStyle/>
            <a:p>
              <a:pPr algn="l">
                <a:lnSpc>
                  <a:spcPts val="1679"/>
                </a:lnSpc>
              </a:pPr>
              <a:endParaRPr/>
            </a:p>
          </p:txBody>
        </p:sp>
      </p:grpSp>
      <p:sp>
        <p:nvSpPr>
          <p:cNvPr id="20" name="TextBox 20"/>
          <p:cNvSpPr txBox="1"/>
          <p:nvPr/>
        </p:nvSpPr>
        <p:spPr>
          <a:xfrm>
            <a:off x="12458700" y="1466850"/>
            <a:ext cx="571500" cy="294005"/>
          </a:xfrm>
          <a:prstGeom prst="rect">
            <a:avLst/>
          </a:prstGeom>
        </p:spPr>
        <p:txBody>
          <a:bodyPr lIns="0" tIns="0" rIns="0" bIns="0" rtlCol="0" anchor="t">
            <a:spAutoFit/>
          </a:bodyPr>
          <a:lstStyle/>
          <a:p>
            <a:pPr algn="l">
              <a:lnSpc>
                <a:spcPts val="2125"/>
              </a:lnSpc>
            </a:pPr>
            <a:r>
              <a:rPr lang="en-US" sz="1700" b="1">
                <a:solidFill>
                  <a:srgbClr val="DCE8D4"/>
                </a:solidFill>
                <a:latin typeface="Poppins Bold"/>
                <a:ea typeface="Poppins Bold"/>
                <a:cs typeface="Poppins Bold"/>
                <a:sym typeface="Poppins Bold"/>
              </a:rPr>
              <a:t>02</a:t>
            </a:r>
          </a:p>
        </p:txBody>
      </p:sp>
      <p:sp>
        <p:nvSpPr>
          <p:cNvPr id="21" name="TextBox 21"/>
          <p:cNvSpPr txBox="1"/>
          <p:nvPr/>
        </p:nvSpPr>
        <p:spPr>
          <a:xfrm>
            <a:off x="12458700" y="1885950"/>
            <a:ext cx="3619500" cy="803275"/>
          </a:xfrm>
          <a:prstGeom prst="rect">
            <a:avLst/>
          </a:prstGeom>
        </p:spPr>
        <p:txBody>
          <a:bodyPr lIns="0" tIns="0" rIns="0" bIns="0" rtlCol="0" anchor="t">
            <a:spAutoFit/>
          </a:bodyPr>
          <a:lstStyle/>
          <a:p>
            <a:pPr algn="l">
              <a:lnSpc>
                <a:spcPts val="3124"/>
              </a:lnSpc>
            </a:pPr>
            <a:r>
              <a:rPr lang="en-US" sz="2499" b="1">
                <a:solidFill>
                  <a:srgbClr val="92D050"/>
                </a:solidFill>
                <a:latin typeface="Poppins Bold"/>
                <a:ea typeface="Poppins Bold"/>
                <a:cs typeface="Poppins Bold"/>
                <a:sym typeface="Poppins Bold"/>
              </a:rPr>
              <a:t>Lack of Centralized Management</a:t>
            </a:r>
          </a:p>
        </p:txBody>
      </p:sp>
      <p:sp>
        <p:nvSpPr>
          <p:cNvPr id="22" name="TextBox 22"/>
          <p:cNvSpPr txBox="1"/>
          <p:nvPr/>
        </p:nvSpPr>
        <p:spPr>
          <a:xfrm>
            <a:off x="12501562" y="2635250"/>
            <a:ext cx="3667125" cy="1191768"/>
          </a:xfrm>
          <a:prstGeom prst="rect">
            <a:avLst/>
          </a:prstGeom>
        </p:spPr>
        <p:txBody>
          <a:bodyPr lIns="0" tIns="0" rIns="0" bIns="0" rtlCol="0" anchor="t">
            <a:spAutoFit/>
          </a:bodyPr>
          <a:lstStyle/>
          <a:p>
            <a:pPr algn="l">
              <a:lnSpc>
                <a:spcPts val="2376"/>
              </a:lnSpc>
            </a:pPr>
            <a:r>
              <a:rPr lang="en-US" sz="1800">
                <a:solidFill>
                  <a:srgbClr val="5A6B60"/>
                </a:solidFill>
                <a:latin typeface="Poppins"/>
                <a:ea typeface="Poppins"/>
                <a:cs typeface="Poppins"/>
                <a:sym typeface="Poppins"/>
              </a:rPr>
              <a:t>Farmers need a single platform to register and manage farms, crops and related agricultural information.</a:t>
            </a:r>
          </a:p>
        </p:txBody>
      </p:sp>
      <p:grpSp>
        <p:nvGrpSpPr>
          <p:cNvPr id="23" name="Group 23"/>
          <p:cNvGrpSpPr/>
          <p:nvPr/>
        </p:nvGrpSpPr>
        <p:grpSpPr>
          <a:xfrm>
            <a:off x="7239000" y="4953000"/>
            <a:ext cx="4286250" cy="2857500"/>
            <a:chOff x="0" y="0"/>
            <a:chExt cx="5715000" cy="3810000"/>
          </a:xfrm>
        </p:grpSpPr>
        <p:sp>
          <p:nvSpPr>
            <p:cNvPr id="24" name="Freeform 24"/>
            <p:cNvSpPr/>
            <p:nvPr/>
          </p:nvSpPr>
          <p:spPr>
            <a:xfrm>
              <a:off x="0" y="0"/>
              <a:ext cx="5715000" cy="3810000"/>
            </a:xfrm>
            <a:custGeom>
              <a:avLst/>
              <a:gdLst/>
              <a:ahLst/>
              <a:cxnLst/>
              <a:rect l="l" t="t" r="r" b="b"/>
              <a:pathLst>
                <a:path w="5715000" h="3810000">
                  <a:moveTo>
                    <a:pt x="254000" y="0"/>
                  </a:moveTo>
                  <a:lnTo>
                    <a:pt x="5461000" y="0"/>
                  </a:lnTo>
                  <a:cubicBezTo>
                    <a:pt x="5601280" y="0"/>
                    <a:pt x="5715000" y="113720"/>
                    <a:pt x="5715000" y="254000"/>
                  </a:cubicBezTo>
                  <a:lnTo>
                    <a:pt x="5715000" y="3556000"/>
                  </a:lnTo>
                  <a:cubicBezTo>
                    <a:pt x="5715000" y="3696280"/>
                    <a:pt x="5601280" y="3810000"/>
                    <a:pt x="5461000" y="3810000"/>
                  </a:cubicBezTo>
                  <a:lnTo>
                    <a:pt x="254000" y="3810000"/>
                  </a:lnTo>
                  <a:cubicBezTo>
                    <a:pt x="113720" y="3810000"/>
                    <a:pt x="0" y="3696280"/>
                    <a:pt x="0" y="3556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25" name="TextBox 25"/>
            <p:cNvSpPr txBox="1"/>
            <p:nvPr/>
          </p:nvSpPr>
          <p:spPr>
            <a:xfrm>
              <a:off x="0" y="-38100"/>
              <a:ext cx="5715000" cy="3848100"/>
            </a:xfrm>
            <a:prstGeom prst="rect">
              <a:avLst/>
            </a:prstGeom>
          </p:spPr>
          <p:txBody>
            <a:bodyPr lIns="50800" tIns="50800" rIns="50800" bIns="50800" rtlCol="0" anchor="ctr"/>
            <a:lstStyle/>
            <a:p>
              <a:pPr algn="l">
                <a:lnSpc>
                  <a:spcPts val="1679"/>
                </a:lnSpc>
              </a:pPr>
              <a:endParaRPr/>
            </a:p>
          </p:txBody>
        </p:sp>
      </p:grpSp>
      <p:sp>
        <p:nvSpPr>
          <p:cNvPr id="26" name="TextBox 26"/>
          <p:cNvSpPr txBox="1"/>
          <p:nvPr/>
        </p:nvSpPr>
        <p:spPr>
          <a:xfrm>
            <a:off x="7505700" y="5181600"/>
            <a:ext cx="571500" cy="294005"/>
          </a:xfrm>
          <a:prstGeom prst="rect">
            <a:avLst/>
          </a:prstGeom>
        </p:spPr>
        <p:txBody>
          <a:bodyPr lIns="0" tIns="0" rIns="0" bIns="0" rtlCol="0" anchor="t">
            <a:spAutoFit/>
          </a:bodyPr>
          <a:lstStyle/>
          <a:p>
            <a:pPr algn="l">
              <a:lnSpc>
                <a:spcPts val="2125"/>
              </a:lnSpc>
            </a:pPr>
            <a:r>
              <a:rPr lang="en-US" sz="1700" b="1">
                <a:solidFill>
                  <a:srgbClr val="C7964A"/>
                </a:solidFill>
                <a:latin typeface="Poppins Bold"/>
                <a:ea typeface="Poppins Bold"/>
                <a:cs typeface="Poppins Bold"/>
                <a:sym typeface="Poppins Bold"/>
              </a:rPr>
              <a:t>03</a:t>
            </a:r>
          </a:p>
        </p:txBody>
      </p:sp>
      <p:sp>
        <p:nvSpPr>
          <p:cNvPr id="27" name="TextBox 27"/>
          <p:cNvSpPr txBox="1"/>
          <p:nvPr/>
        </p:nvSpPr>
        <p:spPr>
          <a:xfrm>
            <a:off x="7505700" y="5600700"/>
            <a:ext cx="3619500" cy="803275"/>
          </a:xfrm>
          <a:prstGeom prst="rect">
            <a:avLst/>
          </a:prstGeom>
        </p:spPr>
        <p:txBody>
          <a:bodyPr lIns="0" tIns="0" rIns="0" bIns="0" rtlCol="0" anchor="t">
            <a:spAutoFit/>
          </a:bodyPr>
          <a:lstStyle/>
          <a:p>
            <a:pPr algn="l">
              <a:lnSpc>
                <a:spcPts val="3124"/>
              </a:lnSpc>
            </a:pPr>
            <a:r>
              <a:rPr lang="en-US" sz="2499" b="1">
                <a:solidFill>
                  <a:srgbClr val="123D2B"/>
                </a:solidFill>
                <a:latin typeface="Poppins Bold"/>
                <a:ea typeface="Poppins Bold"/>
                <a:cs typeface="Poppins Bold"/>
                <a:sym typeface="Poppins Bold"/>
              </a:rPr>
              <a:t>Difficult Crop &amp; Yield Tracking</a:t>
            </a:r>
          </a:p>
        </p:txBody>
      </p:sp>
      <p:sp>
        <p:nvSpPr>
          <p:cNvPr id="28" name="TextBox 28"/>
          <p:cNvSpPr txBox="1"/>
          <p:nvPr/>
        </p:nvSpPr>
        <p:spPr>
          <a:xfrm>
            <a:off x="7505700" y="6381750"/>
            <a:ext cx="3667125" cy="1191768"/>
          </a:xfrm>
          <a:prstGeom prst="rect">
            <a:avLst/>
          </a:prstGeom>
        </p:spPr>
        <p:txBody>
          <a:bodyPr lIns="0" tIns="0" rIns="0" bIns="0" rtlCol="0" anchor="t">
            <a:spAutoFit/>
          </a:bodyPr>
          <a:lstStyle/>
          <a:p>
            <a:pPr algn="l">
              <a:lnSpc>
                <a:spcPts val="2376"/>
              </a:lnSpc>
            </a:pPr>
            <a:r>
              <a:rPr lang="en-US" sz="1800">
                <a:solidFill>
                  <a:srgbClr val="5A6B60"/>
                </a:solidFill>
                <a:latin typeface="Poppins"/>
                <a:ea typeface="Poppins"/>
                <a:cs typeface="Poppins"/>
                <a:sym typeface="Poppins"/>
              </a:rPr>
              <a:t>Key data—crop area, soil details, sowing/harvest timeline and yield—require structured, persistent tracking.</a:t>
            </a:r>
          </a:p>
        </p:txBody>
      </p:sp>
      <p:grpSp>
        <p:nvGrpSpPr>
          <p:cNvPr id="29" name="Group 29"/>
          <p:cNvGrpSpPr/>
          <p:nvPr/>
        </p:nvGrpSpPr>
        <p:grpSpPr>
          <a:xfrm>
            <a:off x="12192000" y="4953000"/>
            <a:ext cx="4286250" cy="2857500"/>
            <a:chOff x="0" y="0"/>
            <a:chExt cx="5715000" cy="3810000"/>
          </a:xfrm>
        </p:grpSpPr>
        <p:sp>
          <p:nvSpPr>
            <p:cNvPr id="30" name="Freeform 30"/>
            <p:cNvSpPr/>
            <p:nvPr/>
          </p:nvSpPr>
          <p:spPr>
            <a:xfrm>
              <a:off x="0" y="0"/>
              <a:ext cx="5715000" cy="3810000"/>
            </a:xfrm>
            <a:custGeom>
              <a:avLst/>
              <a:gdLst/>
              <a:ahLst/>
              <a:cxnLst/>
              <a:rect l="l" t="t" r="r" b="b"/>
              <a:pathLst>
                <a:path w="5715000" h="3810000">
                  <a:moveTo>
                    <a:pt x="254000" y="0"/>
                  </a:moveTo>
                  <a:lnTo>
                    <a:pt x="5461000" y="0"/>
                  </a:lnTo>
                  <a:cubicBezTo>
                    <a:pt x="5601280" y="0"/>
                    <a:pt x="5715000" y="113720"/>
                    <a:pt x="5715000" y="254000"/>
                  </a:cubicBezTo>
                  <a:lnTo>
                    <a:pt x="5715000" y="3556000"/>
                  </a:lnTo>
                  <a:cubicBezTo>
                    <a:pt x="5715000" y="3696280"/>
                    <a:pt x="5601280" y="3810000"/>
                    <a:pt x="5461000" y="3810000"/>
                  </a:cubicBezTo>
                  <a:lnTo>
                    <a:pt x="254000" y="3810000"/>
                  </a:lnTo>
                  <a:cubicBezTo>
                    <a:pt x="113720" y="3810000"/>
                    <a:pt x="0" y="3696280"/>
                    <a:pt x="0" y="3556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31" name="TextBox 31"/>
            <p:cNvSpPr txBox="1"/>
            <p:nvPr/>
          </p:nvSpPr>
          <p:spPr>
            <a:xfrm>
              <a:off x="0" y="-38100"/>
              <a:ext cx="5715000" cy="3848100"/>
            </a:xfrm>
            <a:prstGeom prst="rect">
              <a:avLst/>
            </a:prstGeom>
          </p:spPr>
          <p:txBody>
            <a:bodyPr lIns="50800" tIns="50800" rIns="50800" bIns="50800" rtlCol="0" anchor="ctr"/>
            <a:lstStyle/>
            <a:p>
              <a:pPr algn="l">
                <a:lnSpc>
                  <a:spcPts val="1679"/>
                </a:lnSpc>
              </a:pPr>
              <a:endParaRPr/>
            </a:p>
          </p:txBody>
        </p:sp>
      </p:grpSp>
      <p:sp>
        <p:nvSpPr>
          <p:cNvPr id="32" name="TextBox 32"/>
          <p:cNvSpPr txBox="1"/>
          <p:nvPr/>
        </p:nvSpPr>
        <p:spPr>
          <a:xfrm>
            <a:off x="12458700" y="5181600"/>
            <a:ext cx="571500" cy="294005"/>
          </a:xfrm>
          <a:prstGeom prst="rect">
            <a:avLst/>
          </a:prstGeom>
        </p:spPr>
        <p:txBody>
          <a:bodyPr lIns="0" tIns="0" rIns="0" bIns="0" rtlCol="0" anchor="t">
            <a:spAutoFit/>
          </a:bodyPr>
          <a:lstStyle/>
          <a:p>
            <a:pPr algn="l">
              <a:lnSpc>
                <a:spcPts val="2125"/>
              </a:lnSpc>
            </a:pPr>
            <a:r>
              <a:rPr lang="en-US" sz="1700" b="1">
                <a:solidFill>
                  <a:srgbClr val="C7964A"/>
                </a:solidFill>
                <a:latin typeface="Poppins Bold"/>
                <a:ea typeface="Poppins Bold"/>
                <a:cs typeface="Poppins Bold"/>
                <a:sym typeface="Poppins Bold"/>
              </a:rPr>
              <a:t>04</a:t>
            </a:r>
          </a:p>
        </p:txBody>
      </p:sp>
      <p:sp>
        <p:nvSpPr>
          <p:cNvPr id="33" name="TextBox 33"/>
          <p:cNvSpPr txBox="1"/>
          <p:nvPr/>
        </p:nvSpPr>
        <p:spPr>
          <a:xfrm>
            <a:off x="12458700" y="5600700"/>
            <a:ext cx="3619500" cy="803275"/>
          </a:xfrm>
          <a:prstGeom prst="rect">
            <a:avLst/>
          </a:prstGeom>
        </p:spPr>
        <p:txBody>
          <a:bodyPr lIns="0" tIns="0" rIns="0" bIns="0" rtlCol="0" anchor="t">
            <a:spAutoFit/>
          </a:bodyPr>
          <a:lstStyle/>
          <a:p>
            <a:pPr algn="l">
              <a:lnSpc>
                <a:spcPts val="3124"/>
              </a:lnSpc>
            </a:pPr>
            <a:r>
              <a:rPr lang="en-US" sz="2499" b="1">
                <a:solidFill>
                  <a:srgbClr val="123D2B"/>
                </a:solidFill>
                <a:latin typeface="Poppins Bold"/>
                <a:ea typeface="Poppins Bold"/>
                <a:cs typeface="Poppins Bold"/>
                <a:sym typeface="Poppins Bold"/>
              </a:rPr>
              <a:t>Expense Management Gaps</a:t>
            </a:r>
          </a:p>
        </p:txBody>
      </p:sp>
      <p:sp>
        <p:nvSpPr>
          <p:cNvPr id="34" name="TextBox 34"/>
          <p:cNvSpPr txBox="1"/>
          <p:nvPr/>
        </p:nvSpPr>
        <p:spPr>
          <a:xfrm>
            <a:off x="12425823" y="6367462"/>
            <a:ext cx="3667125" cy="1191768"/>
          </a:xfrm>
          <a:prstGeom prst="rect">
            <a:avLst/>
          </a:prstGeom>
        </p:spPr>
        <p:txBody>
          <a:bodyPr lIns="0" tIns="0" rIns="0" bIns="0" rtlCol="0" anchor="t">
            <a:spAutoFit/>
          </a:bodyPr>
          <a:lstStyle/>
          <a:p>
            <a:pPr algn="l">
              <a:lnSpc>
                <a:spcPts val="2376"/>
              </a:lnSpc>
            </a:pPr>
            <a:r>
              <a:rPr lang="en-US" sz="1800">
                <a:solidFill>
                  <a:srgbClr val="5A6B60"/>
                </a:solidFill>
                <a:latin typeface="Poppins"/>
                <a:ea typeface="Poppins"/>
                <a:cs typeface="Poppins"/>
                <a:sym typeface="Poppins"/>
              </a:rPr>
              <a:t>Agricultural expenses and crop-inputs need organized digital records for reliable monitoring and planning.</a:t>
            </a:r>
          </a:p>
        </p:txBody>
      </p:sp>
      <p:sp>
        <p:nvSpPr>
          <p:cNvPr id="35" name="Freeform 35"/>
          <p:cNvSpPr/>
          <p:nvPr/>
        </p:nvSpPr>
        <p:spPr>
          <a:xfrm>
            <a:off x="762000" y="8093448"/>
            <a:ext cx="1619250" cy="717177"/>
          </a:xfrm>
          <a:custGeom>
            <a:avLst/>
            <a:gdLst/>
            <a:ahLst/>
            <a:cxnLst/>
            <a:rect l="l" t="t" r="r" b="b"/>
            <a:pathLst>
              <a:path w="1619250" h="717177">
                <a:moveTo>
                  <a:pt x="0" y="717177"/>
                </a:moveTo>
                <a:quadBezTo>
                  <a:pt x="631031" y="-44823"/>
                  <a:pt x="1619250" y="2802"/>
                </a:quadBezTo>
              </a:path>
            </a:pathLst>
          </a:custGeom>
          <a:ln w="47625" cap="flat">
            <a:solidFill>
              <a:srgbClr val="2F6B45">
                <a:alpha val="74902"/>
              </a:srgbClr>
            </a:solidFill>
            <a:prstDash val="solid"/>
            <a:headEnd type="none" w="sm" len="sm"/>
            <a:tailEnd type="none" w="sm" len="sm"/>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8" name="TextBox 8"/>
          <p:cNvSpPr txBox="1"/>
          <p:nvPr/>
        </p:nvSpPr>
        <p:spPr>
          <a:xfrm>
            <a:off x="876300" y="742950"/>
            <a:ext cx="8572500" cy="1009650"/>
          </a:xfrm>
          <a:prstGeom prst="rect">
            <a:avLst/>
          </a:prstGeom>
        </p:spPr>
        <p:txBody>
          <a:bodyPr lIns="0" tIns="0" rIns="0" bIns="0" rtlCol="0" anchor="t">
            <a:spAutoFit/>
          </a:bodyPr>
          <a:lstStyle/>
          <a:p>
            <a:pPr algn="l">
              <a:lnSpc>
                <a:spcPts val="7500"/>
              </a:lnSpc>
            </a:pPr>
            <a:r>
              <a:rPr lang="en-US" sz="6000" b="1">
                <a:solidFill>
                  <a:srgbClr val="123D2B"/>
                </a:solidFill>
                <a:latin typeface="Poppins Bold"/>
                <a:ea typeface="Poppins Bold"/>
                <a:cs typeface="Poppins Bold"/>
                <a:sym typeface="Poppins Bold"/>
              </a:rPr>
              <a:t>Proposed Solution</a:t>
            </a:r>
          </a:p>
        </p:txBody>
      </p:sp>
      <p:sp>
        <p:nvSpPr>
          <p:cNvPr id="9" name="TextBox 9"/>
          <p:cNvSpPr txBox="1"/>
          <p:nvPr/>
        </p:nvSpPr>
        <p:spPr>
          <a:xfrm>
            <a:off x="832055" y="1618880"/>
            <a:ext cx="9525000" cy="357505"/>
          </a:xfrm>
          <a:prstGeom prst="rect">
            <a:avLst/>
          </a:prstGeom>
        </p:spPr>
        <p:txBody>
          <a:bodyPr lIns="0" tIns="0" rIns="0" bIns="0" rtlCol="0" anchor="t">
            <a:spAutoFit/>
          </a:bodyPr>
          <a:lstStyle/>
          <a:p>
            <a:pPr algn="l">
              <a:lnSpc>
                <a:spcPts val="2749"/>
              </a:lnSpc>
            </a:pPr>
            <a:r>
              <a:rPr lang="en-US" sz="2199">
                <a:solidFill>
                  <a:srgbClr val="5A6B60"/>
                </a:solidFill>
                <a:latin typeface="Poppins"/>
                <a:ea typeface="Poppins"/>
                <a:cs typeface="Poppins"/>
                <a:sym typeface="Poppins"/>
              </a:rPr>
              <a:t>One connected platform for secure, structured farm operations</a:t>
            </a:r>
          </a:p>
        </p:txBody>
      </p:sp>
      <p:grpSp>
        <p:nvGrpSpPr>
          <p:cNvPr id="14" name="Group 14"/>
          <p:cNvGrpSpPr/>
          <p:nvPr/>
        </p:nvGrpSpPr>
        <p:grpSpPr>
          <a:xfrm>
            <a:off x="876300" y="2619375"/>
            <a:ext cx="9810750" cy="1219200"/>
            <a:chOff x="0" y="0"/>
            <a:chExt cx="13081000" cy="1625600"/>
          </a:xfrm>
        </p:grpSpPr>
        <p:sp>
          <p:nvSpPr>
            <p:cNvPr id="15" name="Freeform 15"/>
            <p:cNvSpPr/>
            <p:nvPr/>
          </p:nvSpPr>
          <p:spPr>
            <a:xfrm>
              <a:off x="0" y="0"/>
              <a:ext cx="13081000" cy="1625600"/>
            </a:xfrm>
            <a:custGeom>
              <a:avLst/>
              <a:gdLst/>
              <a:ahLst/>
              <a:cxnLst/>
              <a:rect l="l" t="t" r="r" b="b"/>
              <a:pathLst>
                <a:path w="13081000" h="1625600">
                  <a:moveTo>
                    <a:pt x="203200" y="0"/>
                  </a:moveTo>
                  <a:lnTo>
                    <a:pt x="12877800" y="0"/>
                  </a:lnTo>
                  <a:cubicBezTo>
                    <a:pt x="12990024" y="0"/>
                    <a:pt x="13081000" y="90976"/>
                    <a:pt x="13081000" y="203200"/>
                  </a:cubicBezTo>
                  <a:lnTo>
                    <a:pt x="13081000" y="1422400"/>
                  </a:lnTo>
                  <a:cubicBezTo>
                    <a:pt x="13081000" y="1534624"/>
                    <a:pt x="12990024" y="1625600"/>
                    <a:pt x="12877800" y="1625600"/>
                  </a:cubicBezTo>
                  <a:lnTo>
                    <a:pt x="203200" y="1625600"/>
                  </a:lnTo>
                  <a:cubicBezTo>
                    <a:pt x="90976" y="1625600"/>
                    <a:pt x="0" y="1534624"/>
                    <a:pt x="0" y="1422400"/>
                  </a:cubicBezTo>
                  <a:lnTo>
                    <a:pt x="0" y="203200"/>
                  </a:lnTo>
                  <a:cubicBezTo>
                    <a:pt x="0" y="90976"/>
                    <a:pt x="90976" y="0"/>
                    <a:pt x="203200" y="0"/>
                  </a:cubicBezTo>
                  <a:close/>
                </a:path>
              </a:pathLst>
            </a:custGeom>
            <a:solidFill>
              <a:srgbClr val="FFFFFF"/>
            </a:solidFill>
            <a:ln w="9525" cap="sq">
              <a:solidFill>
                <a:srgbClr val="C9D7C5"/>
              </a:solidFill>
              <a:prstDash val="solid"/>
              <a:miter/>
            </a:ln>
          </p:spPr>
        </p:sp>
        <p:sp>
          <p:nvSpPr>
            <p:cNvPr id="16" name="TextBox 16"/>
            <p:cNvSpPr txBox="1"/>
            <p:nvPr/>
          </p:nvSpPr>
          <p:spPr>
            <a:xfrm>
              <a:off x="0" y="-38100"/>
              <a:ext cx="13081000" cy="1663700"/>
            </a:xfrm>
            <a:prstGeom prst="rect">
              <a:avLst/>
            </a:prstGeom>
          </p:spPr>
          <p:txBody>
            <a:bodyPr lIns="50800" tIns="50800" rIns="50800" bIns="50800" rtlCol="0" anchor="ctr"/>
            <a:lstStyle/>
            <a:p>
              <a:pPr algn="l">
                <a:lnSpc>
                  <a:spcPts val="1679"/>
                </a:lnSpc>
              </a:pPr>
              <a:endParaRPr/>
            </a:p>
          </p:txBody>
        </p:sp>
      </p:grpSp>
      <p:grpSp>
        <p:nvGrpSpPr>
          <p:cNvPr id="17" name="Group 17"/>
          <p:cNvGrpSpPr/>
          <p:nvPr/>
        </p:nvGrpSpPr>
        <p:grpSpPr>
          <a:xfrm>
            <a:off x="1143000" y="3057525"/>
            <a:ext cx="552450" cy="323850"/>
            <a:chOff x="0" y="0"/>
            <a:chExt cx="736600" cy="431800"/>
          </a:xfrm>
        </p:grpSpPr>
        <p:sp>
          <p:nvSpPr>
            <p:cNvPr id="18" name="Freeform 18"/>
            <p:cNvSpPr/>
            <p:nvPr/>
          </p:nvSpPr>
          <p:spPr>
            <a:xfrm>
              <a:off x="0" y="0"/>
              <a:ext cx="736600" cy="431800"/>
            </a:xfrm>
            <a:custGeom>
              <a:avLst/>
              <a:gdLst/>
              <a:ahLst/>
              <a:cxnLst/>
              <a:rect l="l" t="t" r="r" b="b"/>
              <a:pathLst>
                <a:path w="736600" h="431800">
                  <a:moveTo>
                    <a:pt x="215900" y="0"/>
                  </a:moveTo>
                  <a:lnTo>
                    <a:pt x="520700" y="0"/>
                  </a:lnTo>
                  <a:cubicBezTo>
                    <a:pt x="639938" y="0"/>
                    <a:pt x="736600" y="96662"/>
                    <a:pt x="736600" y="215900"/>
                  </a:cubicBezTo>
                  <a:cubicBezTo>
                    <a:pt x="736600" y="335138"/>
                    <a:pt x="639938" y="431800"/>
                    <a:pt x="5207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19" name="TextBox 19"/>
            <p:cNvSpPr txBox="1"/>
            <p:nvPr/>
          </p:nvSpPr>
          <p:spPr>
            <a:xfrm>
              <a:off x="0" y="-47625"/>
              <a:ext cx="7366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01</a:t>
              </a:r>
            </a:p>
          </p:txBody>
        </p:sp>
      </p:grpSp>
      <p:sp>
        <p:nvSpPr>
          <p:cNvPr id="20" name="TextBox 20"/>
          <p:cNvSpPr txBox="1"/>
          <p:nvPr/>
        </p:nvSpPr>
        <p:spPr>
          <a:xfrm>
            <a:off x="2000250" y="2790825"/>
            <a:ext cx="3714750" cy="403860"/>
          </a:xfrm>
          <a:prstGeom prst="rect">
            <a:avLst/>
          </a:prstGeom>
        </p:spPr>
        <p:txBody>
          <a:bodyPr lIns="0" tIns="0" rIns="0" bIns="0" rtlCol="0" anchor="t">
            <a:spAutoFit/>
          </a:bodyPr>
          <a:lstStyle/>
          <a:p>
            <a:pPr algn="l">
              <a:lnSpc>
                <a:spcPts val="3000"/>
              </a:lnSpc>
            </a:pPr>
            <a:r>
              <a:rPr lang="en-US" sz="2400" b="1">
                <a:solidFill>
                  <a:srgbClr val="123D2B"/>
                </a:solidFill>
                <a:latin typeface="Poppins Bold"/>
                <a:ea typeface="Poppins Bold"/>
                <a:cs typeface="Poppins Bold"/>
                <a:sym typeface="Poppins Bold"/>
              </a:rPr>
              <a:t>Secure Authentication</a:t>
            </a:r>
          </a:p>
        </p:txBody>
      </p:sp>
      <p:sp>
        <p:nvSpPr>
          <p:cNvPr id="21" name="TextBox 21"/>
          <p:cNvSpPr txBox="1"/>
          <p:nvPr/>
        </p:nvSpPr>
        <p:spPr>
          <a:xfrm>
            <a:off x="2000250" y="3162300"/>
            <a:ext cx="7810500" cy="588645"/>
          </a:xfrm>
          <a:prstGeom prst="rect">
            <a:avLst/>
          </a:prstGeom>
        </p:spPr>
        <p:txBody>
          <a:bodyPr lIns="0" tIns="0" rIns="0" bIns="0" rtlCol="0" anchor="t">
            <a:spAutoFit/>
          </a:bodyPr>
          <a:lstStyle/>
          <a:p>
            <a:pPr algn="l">
              <a:lnSpc>
                <a:spcPts val="2250"/>
              </a:lnSpc>
            </a:pPr>
            <a:r>
              <a:rPr lang="en-US" sz="1800">
                <a:solidFill>
                  <a:srgbClr val="5A6B60"/>
                </a:solidFill>
                <a:latin typeface="Poppins"/>
                <a:ea typeface="Poppins"/>
                <a:cs typeface="Poppins"/>
                <a:sym typeface="Poppins"/>
              </a:rPr>
              <a:t>Validated registration and login for secure access to the farmer dashboard.</a:t>
            </a:r>
          </a:p>
        </p:txBody>
      </p:sp>
      <p:grpSp>
        <p:nvGrpSpPr>
          <p:cNvPr id="22" name="Group 22"/>
          <p:cNvGrpSpPr/>
          <p:nvPr/>
        </p:nvGrpSpPr>
        <p:grpSpPr>
          <a:xfrm>
            <a:off x="876300" y="4191000"/>
            <a:ext cx="9810750" cy="1219200"/>
            <a:chOff x="0" y="0"/>
            <a:chExt cx="13081000" cy="1625600"/>
          </a:xfrm>
        </p:grpSpPr>
        <p:sp>
          <p:nvSpPr>
            <p:cNvPr id="23" name="Freeform 23"/>
            <p:cNvSpPr/>
            <p:nvPr/>
          </p:nvSpPr>
          <p:spPr>
            <a:xfrm>
              <a:off x="0" y="0"/>
              <a:ext cx="13081000" cy="1625600"/>
            </a:xfrm>
            <a:custGeom>
              <a:avLst/>
              <a:gdLst/>
              <a:ahLst/>
              <a:cxnLst/>
              <a:rect l="l" t="t" r="r" b="b"/>
              <a:pathLst>
                <a:path w="13081000" h="1625600">
                  <a:moveTo>
                    <a:pt x="203200" y="0"/>
                  </a:moveTo>
                  <a:lnTo>
                    <a:pt x="12877800" y="0"/>
                  </a:lnTo>
                  <a:cubicBezTo>
                    <a:pt x="12990024" y="0"/>
                    <a:pt x="13081000" y="90976"/>
                    <a:pt x="13081000" y="203200"/>
                  </a:cubicBezTo>
                  <a:lnTo>
                    <a:pt x="13081000" y="1422400"/>
                  </a:lnTo>
                  <a:cubicBezTo>
                    <a:pt x="13081000" y="1534624"/>
                    <a:pt x="12990024" y="1625600"/>
                    <a:pt x="12877800" y="1625600"/>
                  </a:cubicBezTo>
                  <a:lnTo>
                    <a:pt x="203200" y="1625600"/>
                  </a:lnTo>
                  <a:cubicBezTo>
                    <a:pt x="90976" y="1625600"/>
                    <a:pt x="0" y="1534624"/>
                    <a:pt x="0" y="1422400"/>
                  </a:cubicBezTo>
                  <a:lnTo>
                    <a:pt x="0" y="203200"/>
                  </a:lnTo>
                  <a:cubicBezTo>
                    <a:pt x="0" y="90976"/>
                    <a:pt x="90976" y="0"/>
                    <a:pt x="203200" y="0"/>
                  </a:cubicBezTo>
                  <a:close/>
                </a:path>
              </a:pathLst>
            </a:custGeom>
            <a:solidFill>
              <a:srgbClr val="FFFFFF"/>
            </a:solidFill>
            <a:ln w="9525" cap="sq">
              <a:solidFill>
                <a:srgbClr val="C9D7C5"/>
              </a:solidFill>
              <a:prstDash val="solid"/>
              <a:miter/>
            </a:ln>
          </p:spPr>
        </p:sp>
        <p:sp>
          <p:nvSpPr>
            <p:cNvPr id="24" name="TextBox 24"/>
            <p:cNvSpPr txBox="1"/>
            <p:nvPr/>
          </p:nvSpPr>
          <p:spPr>
            <a:xfrm>
              <a:off x="0" y="-38100"/>
              <a:ext cx="13081000" cy="1663700"/>
            </a:xfrm>
            <a:prstGeom prst="rect">
              <a:avLst/>
            </a:prstGeom>
          </p:spPr>
          <p:txBody>
            <a:bodyPr lIns="50800" tIns="50800" rIns="50800" bIns="50800" rtlCol="0" anchor="ctr"/>
            <a:lstStyle/>
            <a:p>
              <a:pPr algn="l">
                <a:lnSpc>
                  <a:spcPts val="1679"/>
                </a:lnSpc>
              </a:pPr>
              <a:endParaRPr/>
            </a:p>
          </p:txBody>
        </p:sp>
      </p:grpSp>
      <p:grpSp>
        <p:nvGrpSpPr>
          <p:cNvPr id="25" name="Group 25"/>
          <p:cNvGrpSpPr/>
          <p:nvPr/>
        </p:nvGrpSpPr>
        <p:grpSpPr>
          <a:xfrm>
            <a:off x="1143000" y="4629150"/>
            <a:ext cx="552450" cy="323850"/>
            <a:chOff x="0" y="0"/>
            <a:chExt cx="736600" cy="431800"/>
          </a:xfrm>
        </p:grpSpPr>
        <p:sp>
          <p:nvSpPr>
            <p:cNvPr id="26" name="Freeform 26"/>
            <p:cNvSpPr/>
            <p:nvPr/>
          </p:nvSpPr>
          <p:spPr>
            <a:xfrm>
              <a:off x="0" y="0"/>
              <a:ext cx="736600" cy="431800"/>
            </a:xfrm>
            <a:custGeom>
              <a:avLst/>
              <a:gdLst/>
              <a:ahLst/>
              <a:cxnLst/>
              <a:rect l="l" t="t" r="r" b="b"/>
              <a:pathLst>
                <a:path w="736600" h="431800">
                  <a:moveTo>
                    <a:pt x="215900" y="0"/>
                  </a:moveTo>
                  <a:lnTo>
                    <a:pt x="520700" y="0"/>
                  </a:lnTo>
                  <a:cubicBezTo>
                    <a:pt x="639938" y="0"/>
                    <a:pt x="736600" y="96662"/>
                    <a:pt x="736600" y="215900"/>
                  </a:cubicBezTo>
                  <a:cubicBezTo>
                    <a:pt x="736600" y="335138"/>
                    <a:pt x="639938" y="431800"/>
                    <a:pt x="5207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27" name="TextBox 27"/>
            <p:cNvSpPr txBox="1"/>
            <p:nvPr/>
          </p:nvSpPr>
          <p:spPr>
            <a:xfrm>
              <a:off x="0" y="-47625"/>
              <a:ext cx="7366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02</a:t>
              </a:r>
            </a:p>
          </p:txBody>
        </p:sp>
      </p:grpSp>
      <p:sp>
        <p:nvSpPr>
          <p:cNvPr id="28" name="TextBox 28"/>
          <p:cNvSpPr txBox="1"/>
          <p:nvPr/>
        </p:nvSpPr>
        <p:spPr>
          <a:xfrm>
            <a:off x="2000250" y="4381500"/>
            <a:ext cx="5238750" cy="307392"/>
          </a:xfrm>
          <a:prstGeom prst="rect">
            <a:avLst/>
          </a:prstGeom>
        </p:spPr>
        <p:txBody>
          <a:bodyPr wrap="square" lIns="0" tIns="0" rIns="0" bIns="0" rtlCol="0" anchor="t">
            <a:spAutoFit/>
          </a:bodyPr>
          <a:lstStyle/>
          <a:p>
            <a:pPr algn="l">
              <a:lnSpc>
                <a:spcPts val="2272"/>
              </a:lnSpc>
            </a:pPr>
            <a:r>
              <a:rPr lang="en-US" sz="2400" b="1">
                <a:solidFill>
                  <a:srgbClr val="123D2B"/>
                </a:solidFill>
                <a:latin typeface="Poppins Bold"/>
                <a:ea typeface="Poppins Bold"/>
                <a:cs typeface="Poppins Bold"/>
                <a:sym typeface="Poppins Bold"/>
              </a:rPr>
              <a:t>Centralized Farm Management</a:t>
            </a:r>
          </a:p>
        </p:txBody>
      </p:sp>
      <p:sp>
        <p:nvSpPr>
          <p:cNvPr id="29" name="TextBox 29"/>
          <p:cNvSpPr txBox="1"/>
          <p:nvPr/>
        </p:nvSpPr>
        <p:spPr>
          <a:xfrm>
            <a:off x="2000250" y="4733925"/>
            <a:ext cx="7810500" cy="302895"/>
          </a:xfrm>
          <a:prstGeom prst="rect">
            <a:avLst/>
          </a:prstGeom>
        </p:spPr>
        <p:txBody>
          <a:bodyPr lIns="0" tIns="0" rIns="0" bIns="0" rtlCol="0" anchor="t">
            <a:spAutoFit/>
          </a:bodyPr>
          <a:lstStyle/>
          <a:p>
            <a:pPr algn="l">
              <a:lnSpc>
                <a:spcPts val="2250"/>
              </a:lnSpc>
            </a:pPr>
            <a:r>
              <a:rPr lang="en-US" sz="1800">
                <a:solidFill>
                  <a:srgbClr val="5A6B60"/>
                </a:solidFill>
                <a:latin typeface="Poppins"/>
                <a:ea typeface="Poppins"/>
                <a:cs typeface="Poppins"/>
                <a:sym typeface="Poppins"/>
              </a:rPr>
              <a:t>Register and manage multiple farm records in a single platform.</a:t>
            </a:r>
          </a:p>
        </p:txBody>
      </p:sp>
      <p:grpSp>
        <p:nvGrpSpPr>
          <p:cNvPr id="30" name="Group 30"/>
          <p:cNvGrpSpPr/>
          <p:nvPr/>
        </p:nvGrpSpPr>
        <p:grpSpPr>
          <a:xfrm>
            <a:off x="876300" y="5762625"/>
            <a:ext cx="9810750" cy="1219200"/>
            <a:chOff x="0" y="0"/>
            <a:chExt cx="13081000" cy="1625600"/>
          </a:xfrm>
        </p:grpSpPr>
        <p:sp>
          <p:nvSpPr>
            <p:cNvPr id="31" name="Freeform 31"/>
            <p:cNvSpPr/>
            <p:nvPr/>
          </p:nvSpPr>
          <p:spPr>
            <a:xfrm>
              <a:off x="0" y="0"/>
              <a:ext cx="13081000" cy="1625600"/>
            </a:xfrm>
            <a:custGeom>
              <a:avLst/>
              <a:gdLst/>
              <a:ahLst/>
              <a:cxnLst/>
              <a:rect l="l" t="t" r="r" b="b"/>
              <a:pathLst>
                <a:path w="13081000" h="1625600">
                  <a:moveTo>
                    <a:pt x="203200" y="0"/>
                  </a:moveTo>
                  <a:lnTo>
                    <a:pt x="12877800" y="0"/>
                  </a:lnTo>
                  <a:cubicBezTo>
                    <a:pt x="12990024" y="0"/>
                    <a:pt x="13081000" y="90976"/>
                    <a:pt x="13081000" y="203200"/>
                  </a:cubicBezTo>
                  <a:lnTo>
                    <a:pt x="13081000" y="1422400"/>
                  </a:lnTo>
                  <a:cubicBezTo>
                    <a:pt x="13081000" y="1534624"/>
                    <a:pt x="12990024" y="1625600"/>
                    <a:pt x="12877800" y="1625600"/>
                  </a:cubicBezTo>
                  <a:lnTo>
                    <a:pt x="203200" y="1625600"/>
                  </a:lnTo>
                  <a:cubicBezTo>
                    <a:pt x="90976" y="1625600"/>
                    <a:pt x="0" y="1534624"/>
                    <a:pt x="0" y="1422400"/>
                  </a:cubicBezTo>
                  <a:lnTo>
                    <a:pt x="0" y="203200"/>
                  </a:lnTo>
                  <a:cubicBezTo>
                    <a:pt x="0" y="90976"/>
                    <a:pt x="90976" y="0"/>
                    <a:pt x="203200" y="0"/>
                  </a:cubicBezTo>
                  <a:close/>
                </a:path>
              </a:pathLst>
            </a:custGeom>
            <a:solidFill>
              <a:srgbClr val="FFFFFF"/>
            </a:solidFill>
            <a:ln w="9525" cap="sq">
              <a:solidFill>
                <a:srgbClr val="C9D7C5"/>
              </a:solidFill>
              <a:prstDash val="solid"/>
              <a:miter/>
            </a:ln>
          </p:spPr>
        </p:sp>
        <p:sp>
          <p:nvSpPr>
            <p:cNvPr id="32" name="TextBox 32"/>
            <p:cNvSpPr txBox="1"/>
            <p:nvPr/>
          </p:nvSpPr>
          <p:spPr>
            <a:xfrm>
              <a:off x="0" y="-38100"/>
              <a:ext cx="13081000" cy="1663700"/>
            </a:xfrm>
            <a:prstGeom prst="rect">
              <a:avLst/>
            </a:prstGeom>
          </p:spPr>
          <p:txBody>
            <a:bodyPr lIns="50800" tIns="50800" rIns="50800" bIns="50800" rtlCol="0" anchor="ctr"/>
            <a:lstStyle/>
            <a:p>
              <a:pPr algn="l">
                <a:lnSpc>
                  <a:spcPts val="1679"/>
                </a:lnSpc>
              </a:pPr>
              <a:endParaRPr/>
            </a:p>
          </p:txBody>
        </p:sp>
      </p:grpSp>
      <p:grpSp>
        <p:nvGrpSpPr>
          <p:cNvPr id="33" name="Group 33"/>
          <p:cNvGrpSpPr/>
          <p:nvPr/>
        </p:nvGrpSpPr>
        <p:grpSpPr>
          <a:xfrm>
            <a:off x="1143000" y="6200775"/>
            <a:ext cx="552450" cy="323850"/>
            <a:chOff x="0" y="0"/>
            <a:chExt cx="736600" cy="431800"/>
          </a:xfrm>
        </p:grpSpPr>
        <p:sp>
          <p:nvSpPr>
            <p:cNvPr id="34" name="Freeform 34"/>
            <p:cNvSpPr/>
            <p:nvPr/>
          </p:nvSpPr>
          <p:spPr>
            <a:xfrm>
              <a:off x="0" y="0"/>
              <a:ext cx="736600" cy="431800"/>
            </a:xfrm>
            <a:custGeom>
              <a:avLst/>
              <a:gdLst/>
              <a:ahLst/>
              <a:cxnLst/>
              <a:rect l="l" t="t" r="r" b="b"/>
              <a:pathLst>
                <a:path w="736600" h="431800">
                  <a:moveTo>
                    <a:pt x="215900" y="0"/>
                  </a:moveTo>
                  <a:lnTo>
                    <a:pt x="520700" y="0"/>
                  </a:lnTo>
                  <a:cubicBezTo>
                    <a:pt x="639938" y="0"/>
                    <a:pt x="736600" y="96662"/>
                    <a:pt x="736600" y="215900"/>
                  </a:cubicBezTo>
                  <a:cubicBezTo>
                    <a:pt x="736600" y="335138"/>
                    <a:pt x="639938" y="431800"/>
                    <a:pt x="5207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35" name="TextBox 35"/>
            <p:cNvSpPr txBox="1"/>
            <p:nvPr/>
          </p:nvSpPr>
          <p:spPr>
            <a:xfrm>
              <a:off x="0" y="-47625"/>
              <a:ext cx="7366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03</a:t>
              </a:r>
            </a:p>
          </p:txBody>
        </p:sp>
      </p:grpSp>
      <p:sp>
        <p:nvSpPr>
          <p:cNvPr id="36" name="TextBox 36"/>
          <p:cNvSpPr txBox="1"/>
          <p:nvPr/>
        </p:nvSpPr>
        <p:spPr>
          <a:xfrm>
            <a:off x="2000250" y="5934075"/>
            <a:ext cx="3714750" cy="403860"/>
          </a:xfrm>
          <a:prstGeom prst="rect">
            <a:avLst/>
          </a:prstGeom>
        </p:spPr>
        <p:txBody>
          <a:bodyPr lIns="0" tIns="0" rIns="0" bIns="0" rtlCol="0" anchor="t">
            <a:spAutoFit/>
          </a:bodyPr>
          <a:lstStyle/>
          <a:p>
            <a:pPr algn="l">
              <a:lnSpc>
                <a:spcPts val="3000"/>
              </a:lnSpc>
            </a:pPr>
            <a:r>
              <a:rPr lang="en-US" sz="2400" b="1">
                <a:solidFill>
                  <a:srgbClr val="123D2B"/>
                </a:solidFill>
                <a:latin typeface="Poppins Bold"/>
                <a:ea typeface="Poppins Bold"/>
                <a:cs typeface="Poppins Bold"/>
                <a:sym typeface="Poppins Bold"/>
              </a:rPr>
              <a:t>Crop &amp; Yield Tracking</a:t>
            </a:r>
          </a:p>
        </p:txBody>
      </p:sp>
      <p:sp>
        <p:nvSpPr>
          <p:cNvPr id="37" name="TextBox 37"/>
          <p:cNvSpPr txBox="1"/>
          <p:nvPr/>
        </p:nvSpPr>
        <p:spPr>
          <a:xfrm>
            <a:off x="2000250" y="6305550"/>
            <a:ext cx="7810500" cy="588645"/>
          </a:xfrm>
          <a:prstGeom prst="rect">
            <a:avLst/>
          </a:prstGeom>
        </p:spPr>
        <p:txBody>
          <a:bodyPr lIns="0" tIns="0" rIns="0" bIns="0" rtlCol="0" anchor="t">
            <a:spAutoFit/>
          </a:bodyPr>
          <a:lstStyle/>
          <a:p>
            <a:pPr algn="l">
              <a:lnSpc>
                <a:spcPts val="2250"/>
              </a:lnSpc>
            </a:pPr>
            <a:r>
              <a:rPr lang="en-US" sz="1800">
                <a:solidFill>
                  <a:srgbClr val="5A6B60"/>
                </a:solidFill>
                <a:latin typeface="Poppins"/>
                <a:ea typeface="Poppins"/>
                <a:cs typeface="Poppins"/>
                <a:sym typeface="Poppins"/>
              </a:rPr>
              <a:t>Structured tracking of crop area, soil, sowing/harvest timeline and yield.</a:t>
            </a:r>
          </a:p>
        </p:txBody>
      </p:sp>
      <p:grpSp>
        <p:nvGrpSpPr>
          <p:cNvPr id="38" name="Group 38"/>
          <p:cNvGrpSpPr/>
          <p:nvPr/>
        </p:nvGrpSpPr>
        <p:grpSpPr>
          <a:xfrm>
            <a:off x="876300" y="7334250"/>
            <a:ext cx="9810750" cy="1219200"/>
            <a:chOff x="0" y="0"/>
            <a:chExt cx="13081000" cy="1625600"/>
          </a:xfrm>
        </p:grpSpPr>
        <p:sp>
          <p:nvSpPr>
            <p:cNvPr id="39" name="Freeform 39"/>
            <p:cNvSpPr/>
            <p:nvPr/>
          </p:nvSpPr>
          <p:spPr>
            <a:xfrm>
              <a:off x="0" y="0"/>
              <a:ext cx="13081000" cy="1625600"/>
            </a:xfrm>
            <a:custGeom>
              <a:avLst/>
              <a:gdLst/>
              <a:ahLst/>
              <a:cxnLst/>
              <a:rect l="l" t="t" r="r" b="b"/>
              <a:pathLst>
                <a:path w="13081000" h="1625600">
                  <a:moveTo>
                    <a:pt x="203200" y="0"/>
                  </a:moveTo>
                  <a:lnTo>
                    <a:pt x="12877800" y="0"/>
                  </a:lnTo>
                  <a:cubicBezTo>
                    <a:pt x="12990024" y="0"/>
                    <a:pt x="13081000" y="90976"/>
                    <a:pt x="13081000" y="203200"/>
                  </a:cubicBezTo>
                  <a:lnTo>
                    <a:pt x="13081000" y="1422400"/>
                  </a:lnTo>
                  <a:cubicBezTo>
                    <a:pt x="13081000" y="1534624"/>
                    <a:pt x="12990024" y="1625600"/>
                    <a:pt x="12877800" y="1625600"/>
                  </a:cubicBezTo>
                  <a:lnTo>
                    <a:pt x="203200" y="1625600"/>
                  </a:lnTo>
                  <a:cubicBezTo>
                    <a:pt x="90976" y="1625600"/>
                    <a:pt x="0" y="1534624"/>
                    <a:pt x="0" y="1422400"/>
                  </a:cubicBezTo>
                  <a:lnTo>
                    <a:pt x="0" y="203200"/>
                  </a:lnTo>
                  <a:cubicBezTo>
                    <a:pt x="0" y="90976"/>
                    <a:pt x="90976" y="0"/>
                    <a:pt x="203200" y="0"/>
                  </a:cubicBezTo>
                  <a:close/>
                </a:path>
              </a:pathLst>
            </a:custGeom>
            <a:solidFill>
              <a:srgbClr val="FFFFFF"/>
            </a:solidFill>
            <a:ln w="9525" cap="sq">
              <a:solidFill>
                <a:srgbClr val="C9D7C5"/>
              </a:solidFill>
              <a:prstDash val="solid"/>
              <a:miter/>
            </a:ln>
          </p:spPr>
        </p:sp>
        <p:sp>
          <p:nvSpPr>
            <p:cNvPr id="40" name="TextBox 40"/>
            <p:cNvSpPr txBox="1"/>
            <p:nvPr/>
          </p:nvSpPr>
          <p:spPr>
            <a:xfrm>
              <a:off x="0" y="-38100"/>
              <a:ext cx="13081000" cy="1663700"/>
            </a:xfrm>
            <a:prstGeom prst="rect">
              <a:avLst/>
            </a:prstGeom>
          </p:spPr>
          <p:txBody>
            <a:bodyPr lIns="50800" tIns="50800" rIns="50800" bIns="50800" rtlCol="0" anchor="ctr"/>
            <a:lstStyle/>
            <a:p>
              <a:pPr algn="l">
                <a:lnSpc>
                  <a:spcPts val="1679"/>
                </a:lnSpc>
              </a:pPr>
              <a:endParaRPr/>
            </a:p>
          </p:txBody>
        </p:sp>
      </p:grpSp>
      <p:grpSp>
        <p:nvGrpSpPr>
          <p:cNvPr id="41" name="Group 41"/>
          <p:cNvGrpSpPr/>
          <p:nvPr/>
        </p:nvGrpSpPr>
        <p:grpSpPr>
          <a:xfrm>
            <a:off x="1143000" y="7772400"/>
            <a:ext cx="552450" cy="323850"/>
            <a:chOff x="0" y="0"/>
            <a:chExt cx="736600" cy="431800"/>
          </a:xfrm>
        </p:grpSpPr>
        <p:sp>
          <p:nvSpPr>
            <p:cNvPr id="42" name="Freeform 42"/>
            <p:cNvSpPr/>
            <p:nvPr/>
          </p:nvSpPr>
          <p:spPr>
            <a:xfrm>
              <a:off x="0" y="0"/>
              <a:ext cx="736600" cy="431800"/>
            </a:xfrm>
            <a:custGeom>
              <a:avLst/>
              <a:gdLst/>
              <a:ahLst/>
              <a:cxnLst/>
              <a:rect l="l" t="t" r="r" b="b"/>
              <a:pathLst>
                <a:path w="736600" h="431800">
                  <a:moveTo>
                    <a:pt x="215900" y="0"/>
                  </a:moveTo>
                  <a:lnTo>
                    <a:pt x="520700" y="0"/>
                  </a:lnTo>
                  <a:cubicBezTo>
                    <a:pt x="639938" y="0"/>
                    <a:pt x="736600" y="96662"/>
                    <a:pt x="736600" y="215900"/>
                  </a:cubicBezTo>
                  <a:cubicBezTo>
                    <a:pt x="736600" y="335138"/>
                    <a:pt x="639938" y="431800"/>
                    <a:pt x="5207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43" name="TextBox 43"/>
            <p:cNvSpPr txBox="1"/>
            <p:nvPr/>
          </p:nvSpPr>
          <p:spPr>
            <a:xfrm>
              <a:off x="0" y="-47625"/>
              <a:ext cx="7366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04</a:t>
              </a:r>
            </a:p>
          </p:txBody>
        </p:sp>
      </p:grpSp>
      <p:sp>
        <p:nvSpPr>
          <p:cNvPr id="44" name="TextBox 44"/>
          <p:cNvSpPr txBox="1"/>
          <p:nvPr/>
        </p:nvSpPr>
        <p:spPr>
          <a:xfrm>
            <a:off x="2000250" y="7505700"/>
            <a:ext cx="3714750" cy="403860"/>
          </a:xfrm>
          <a:prstGeom prst="rect">
            <a:avLst/>
          </a:prstGeom>
        </p:spPr>
        <p:txBody>
          <a:bodyPr lIns="0" tIns="0" rIns="0" bIns="0" rtlCol="0" anchor="t">
            <a:spAutoFit/>
          </a:bodyPr>
          <a:lstStyle/>
          <a:p>
            <a:pPr algn="l">
              <a:lnSpc>
                <a:spcPts val="3000"/>
              </a:lnSpc>
            </a:pPr>
            <a:r>
              <a:rPr lang="en-US" sz="2400" b="1">
                <a:solidFill>
                  <a:srgbClr val="123D2B"/>
                </a:solidFill>
                <a:latin typeface="Poppins Bold"/>
                <a:ea typeface="Poppins Bold"/>
                <a:cs typeface="Poppins Bold"/>
                <a:sym typeface="Poppins Bold"/>
              </a:rPr>
              <a:t>Expense Management</a:t>
            </a:r>
          </a:p>
        </p:txBody>
      </p:sp>
      <p:sp>
        <p:nvSpPr>
          <p:cNvPr id="45" name="TextBox 45"/>
          <p:cNvSpPr txBox="1"/>
          <p:nvPr/>
        </p:nvSpPr>
        <p:spPr>
          <a:xfrm>
            <a:off x="2000250" y="7877175"/>
            <a:ext cx="7810500" cy="302895"/>
          </a:xfrm>
          <a:prstGeom prst="rect">
            <a:avLst/>
          </a:prstGeom>
        </p:spPr>
        <p:txBody>
          <a:bodyPr lIns="0" tIns="0" rIns="0" bIns="0" rtlCol="0" anchor="t">
            <a:spAutoFit/>
          </a:bodyPr>
          <a:lstStyle/>
          <a:p>
            <a:pPr algn="l">
              <a:lnSpc>
                <a:spcPts val="2250"/>
              </a:lnSpc>
            </a:pPr>
            <a:r>
              <a:rPr lang="en-US" sz="1800">
                <a:solidFill>
                  <a:srgbClr val="5A6B60"/>
                </a:solidFill>
                <a:latin typeface="Poppins"/>
                <a:ea typeface="Poppins"/>
                <a:cs typeface="Poppins"/>
                <a:sym typeface="Poppins"/>
              </a:rPr>
              <a:t>Organize agricultural expenses and crop-input records digitally.</a:t>
            </a:r>
          </a:p>
        </p:txBody>
      </p:sp>
      <p:sp>
        <p:nvSpPr>
          <p:cNvPr id="49" name="Freeform 10">
            <a:extLst>
              <a:ext uri="{FF2B5EF4-FFF2-40B4-BE49-F238E27FC236}">
                <a16:creationId xmlns:a16="http://schemas.microsoft.com/office/drawing/2014/main" id="{9F62260A-0C10-C1C2-CB27-395433CCDD1C}"/>
              </a:ext>
            </a:extLst>
          </p:cNvPr>
          <p:cNvSpPr/>
          <p:nvPr/>
        </p:nvSpPr>
        <p:spPr>
          <a:xfrm>
            <a:off x="10914647" y="1767148"/>
            <a:ext cx="6004821" cy="4290125"/>
          </a:xfrm>
          <a:custGeom>
            <a:avLst/>
            <a:gdLst/>
            <a:ahLst/>
            <a:cxnLst/>
            <a:rect l="l" t="t" r="r" b="b"/>
            <a:pathLst>
              <a:path w="939286" h="671070">
                <a:moveTo>
                  <a:pt x="29654" y="0"/>
                </a:moveTo>
                <a:lnTo>
                  <a:pt x="909633" y="0"/>
                </a:lnTo>
                <a:cubicBezTo>
                  <a:pt x="926010" y="0"/>
                  <a:pt x="939286" y="13276"/>
                  <a:pt x="939286" y="29654"/>
                </a:cubicBezTo>
                <a:lnTo>
                  <a:pt x="939286" y="641416"/>
                </a:lnTo>
                <a:cubicBezTo>
                  <a:pt x="939286" y="649281"/>
                  <a:pt x="936162" y="656824"/>
                  <a:pt x="930601" y="662385"/>
                </a:cubicBezTo>
                <a:cubicBezTo>
                  <a:pt x="925040" y="667946"/>
                  <a:pt x="917497" y="671070"/>
                  <a:pt x="909633" y="671070"/>
                </a:cubicBezTo>
                <a:lnTo>
                  <a:pt x="29654" y="671070"/>
                </a:lnTo>
                <a:cubicBezTo>
                  <a:pt x="21789" y="671070"/>
                  <a:pt x="14246" y="667946"/>
                  <a:pt x="8685" y="662385"/>
                </a:cubicBezTo>
                <a:cubicBezTo>
                  <a:pt x="3124" y="656824"/>
                  <a:pt x="0" y="649281"/>
                  <a:pt x="0" y="641416"/>
                </a:cubicBezTo>
                <a:lnTo>
                  <a:pt x="0" y="29654"/>
                </a:lnTo>
                <a:cubicBezTo>
                  <a:pt x="0" y="21789"/>
                  <a:pt x="3124" y="14246"/>
                  <a:pt x="8685" y="8685"/>
                </a:cubicBezTo>
                <a:cubicBezTo>
                  <a:pt x="14246" y="3124"/>
                  <a:pt x="21789" y="0"/>
                  <a:pt x="29654" y="0"/>
                </a:cubicBezTo>
                <a:close/>
              </a:path>
            </a:pathLst>
          </a:custGeom>
          <a:blipFill>
            <a:blip r:embed="rId3"/>
            <a:stretch>
              <a:fillRect l="-3534" r="-3534"/>
            </a:stretch>
          </a:blipFill>
          <a:ln w="57150" cap="rnd">
            <a:solidFill>
              <a:srgbClr val="004D13"/>
            </a:solidFill>
            <a:prstDash val="solid"/>
            <a:round/>
          </a:ln>
        </p:spPr>
      </p:sp>
      <p:grpSp>
        <p:nvGrpSpPr>
          <p:cNvPr id="50" name="Group 4"/>
          <p:cNvGrpSpPr/>
          <p:nvPr/>
        </p:nvGrpSpPr>
        <p:grpSpPr>
          <a:xfrm>
            <a:off x="11582400" y="5705923"/>
            <a:ext cx="6381957" cy="4290126"/>
            <a:chOff x="0" y="0"/>
            <a:chExt cx="1087862" cy="723497"/>
          </a:xfrm>
        </p:grpSpPr>
        <p:sp>
          <p:nvSpPr>
            <p:cNvPr id="51" name="Freeform 5"/>
            <p:cNvSpPr/>
            <p:nvPr/>
          </p:nvSpPr>
          <p:spPr>
            <a:xfrm>
              <a:off x="0" y="0"/>
              <a:ext cx="1087862" cy="723497"/>
            </a:xfrm>
            <a:custGeom>
              <a:avLst/>
              <a:gdLst/>
              <a:ahLst/>
              <a:cxnLst/>
              <a:rect l="l" t="t" r="r" b="b"/>
              <a:pathLst>
                <a:path w="1087862" h="723497">
                  <a:moveTo>
                    <a:pt x="22523" y="0"/>
                  </a:moveTo>
                  <a:lnTo>
                    <a:pt x="1065339" y="0"/>
                  </a:lnTo>
                  <a:cubicBezTo>
                    <a:pt x="1077778" y="0"/>
                    <a:pt x="1087862" y="10084"/>
                    <a:pt x="1087862" y="22523"/>
                  </a:cubicBezTo>
                  <a:lnTo>
                    <a:pt x="1087862" y="700974"/>
                  </a:lnTo>
                  <a:cubicBezTo>
                    <a:pt x="1087862" y="713413"/>
                    <a:pt x="1077778" y="723497"/>
                    <a:pt x="1065339" y="723497"/>
                  </a:cubicBezTo>
                  <a:lnTo>
                    <a:pt x="22523" y="723497"/>
                  </a:lnTo>
                  <a:cubicBezTo>
                    <a:pt x="10084" y="723497"/>
                    <a:pt x="0" y="713413"/>
                    <a:pt x="0" y="700974"/>
                  </a:cubicBezTo>
                  <a:lnTo>
                    <a:pt x="0" y="22523"/>
                  </a:lnTo>
                  <a:cubicBezTo>
                    <a:pt x="0" y="10084"/>
                    <a:pt x="10084" y="0"/>
                    <a:pt x="22523" y="0"/>
                  </a:cubicBezTo>
                  <a:close/>
                </a:path>
              </a:pathLst>
            </a:custGeom>
            <a:blipFill>
              <a:blip r:embed="rId4"/>
              <a:stretch>
                <a:fillRect t="-166" b="-166"/>
              </a:stretch>
            </a:blipFill>
            <a:ln w="57150" cap="rnd">
              <a:solidFill>
                <a:srgbClr val="004D13"/>
              </a:solidFill>
              <a:prstDash val="solid"/>
              <a:round/>
            </a:ln>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333375" y="8382000"/>
            <a:ext cx="1047750" cy="1047750"/>
            <a:chOff x="0" y="0"/>
            <a:chExt cx="1397000" cy="1397000"/>
          </a:xfrm>
        </p:grpSpPr>
        <p:sp>
          <p:nvSpPr>
            <p:cNvPr id="3" name="Freeform 3"/>
            <p:cNvSpPr/>
            <p:nvPr/>
          </p:nvSpPr>
          <p:spPr>
            <a:xfrm>
              <a:off x="0" y="0"/>
              <a:ext cx="1397000" cy="1397000"/>
            </a:xfrm>
            <a:custGeom>
              <a:avLst/>
              <a:gdLst/>
              <a:ahLst/>
              <a:cxnLst/>
              <a:rect l="l" t="t" r="r" b="b"/>
              <a:pathLst>
                <a:path w="1397000" h="1397000">
                  <a:moveTo>
                    <a:pt x="0" y="698500"/>
                  </a:moveTo>
                  <a:cubicBezTo>
                    <a:pt x="0" y="1084271"/>
                    <a:pt x="312729" y="1397000"/>
                    <a:pt x="698500" y="1397000"/>
                  </a:cubicBezTo>
                  <a:cubicBezTo>
                    <a:pt x="1084271" y="1397000"/>
                    <a:pt x="1397000" y="1084271"/>
                    <a:pt x="1397000" y="698500"/>
                  </a:cubicBezTo>
                  <a:cubicBezTo>
                    <a:pt x="1397000" y="312729"/>
                    <a:pt x="1084271" y="0"/>
                    <a:pt x="698500" y="0"/>
                  </a:cubicBezTo>
                  <a:cubicBezTo>
                    <a:pt x="312729" y="0"/>
                    <a:pt x="0" y="312729"/>
                    <a:pt x="0" y="698500"/>
                  </a:cubicBezTo>
                  <a:close/>
                </a:path>
              </a:pathLst>
            </a:custGeom>
            <a:solidFill>
              <a:srgbClr val="2F6B45">
                <a:alpha val="84706"/>
              </a:srgbClr>
            </a:solidFill>
          </p:spPr>
        </p:sp>
        <p:sp>
          <p:nvSpPr>
            <p:cNvPr id="4" name="TextBox 4"/>
            <p:cNvSpPr txBox="1"/>
            <p:nvPr/>
          </p:nvSpPr>
          <p:spPr>
            <a:xfrm>
              <a:off x="0" y="-38100"/>
              <a:ext cx="1397000" cy="1435100"/>
            </a:xfrm>
            <a:prstGeom prst="rect">
              <a:avLst/>
            </a:prstGeom>
          </p:spPr>
          <p:txBody>
            <a:bodyPr lIns="50800" tIns="50800" rIns="50800" bIns="50800" rtlCol="0" anchor="ctr"/>
            <a:lstStyle/>
            <a:p>
              <a:pPr algn="l">
                <a:lnSpc>
                  <a:spcPts val="1679"/>
                </a:lnSpc>
              </a:pPr>
              <a:endParaRPr/>
            </a:p>
          </p:txBody>
        </p:sp>
      </p:grpSp>
      <p:sp>
        <p:nvSpPr>
          <p:cNvPr id="5" name="TextBox 5"/>
          <p:cNvSpPr txBox="1"/>
          <p:nvPr/>
        </p:nvSpPr>
        <p:spPr>
          <a:xfrm>
            <a:off x="847725" y="449734"/>
            <a:ext cx="9525000" cy="1027430"/>
          </a:xfrm>
          <a:prstGeom prst="rect">
            <a:avLst/>
          </a:prstGeom>
        </p:spPr>
        <p:txBody>
          <a:bodyPr lIns="0" tIns="0" rIns="0" bIns="0" rtlCol="0" anchor="t">
            <a:spAutoFit/>
          </a:bodyPr>
          <a:lstStyle/>
          <a:p>
            <a:pPr algn="l">
              <a:lnSpc>
                <a:spcPts val="7750"/>
              </a:lnSpc>
            </a:pPr>
            <a:r>
              <a:rPr lang="en-US" sz="6200" b="1">
                <a:solidFill>
                  <a:srgbClr val="123D2B"/>
                </a:solidFill>
                <a:latin typeface="Poppins Bold"/>
                <a:ea typeface="Poppins Bold"/>
                <a:cs typeface="Poppins Bold"/>
                <a:sym typeface="Poppins Bold"/>
              </a:rPr>
              <a:t>Key Features</a:t>
            </a:r>
          </a:p>
        </p:txBody>
      </p:sp>
      <p:sp>
        <p:nvSpPr>
          <p:cNvPr id="6" name="TextBox 6"/>
          <p:cNvSpPr txBox="1"/>
          <p:nvPr/>
        </p:nvSpPr>
        <p:spPr>
          <a:xfrm>
            <a:off x="876300" y="1495425"/>
            <a:ext cx="12382500" cy="338619"/>
          </a:xfrm>
          <a:prstGeom prst="rect">
            <a:avLst/>
          </a:prstGeom>
        </p:spPr>
        <p:txBody>
          <a:bodyPr lIns="0" tIns="0" rIns="0" bIns="0" rtlCol="0" anchor="t">
            <a:spAutoFit/>
          </a:bodyPr>
          <a:lstStyle/>
          <a:p>
            <a:pPr algn="l">
              <a:lnSpc>
                <a:spcPts val="2749"/>
              </a:lnSpc>
            </a:pPr>
            <a:r>
              <a:rPr lang="en-US" sz="2199">
                <a:solidFill>
                  <a:srgbClr val="5A6B60"/>
                </a:solidFill>
                <a:highlight>
                  <a:srgbClr val="C0C0C0"/>
                </a:highlight>
                <a:latin typeface="Poppins"/>
                <a:ea typeface="Poppins"/>
                <a:cs typeface="Poppins"/>
                <a:sym typeface="Poppins"/>
              </a:rPr>
              <a:t>A complete operating layer for farmers, crops, expenses and AI-assisted workflows</a:t>
            </a:r>
          </a:p>
        </p:txBody>
      </p:sp>
      <p:grpSp>
        <p:nvGrpSpPr>
          <p:cNvPr id="7" name="Group 7"/>
          <p:cNvGrpSpPr/>
          <p:nvPr/>
        </p:nvGrpSpPr>
        <p:grpSpPr>
          <a:xfrm>
            <a:off x="876300" y="2333625"/>
            <a:ext cx="5000625" cy="2095500"/>
            <a:chOff x="0" y="0"/>
            <a:chExt cx="6667500" cy="2794000"/>
          </a:xfrm>
        </p:grpSpPr>
        <p:sp>
          <p:nvSpPr>
            <p:cNvPr id="8" name="Freeform 8"/>
            <p:cNvSpPr/>
            <p:nvPr/>
          </p:nvSpPr>
          <p:spPr>
            <a:xfrm>
              <a:off x="0" y="0"/>
              <a:ext cx="6667500" cy="2794000"/>
            </a:xfrm>
            <a:custGeom>
              <a:avLst/>
              <a:gdLst/>
              <a:ahLst/>
              <a:cxnLst/>
              <a:rect l="l" t="t" r="r" b="b"/>
              <a:pathLst>
                <a:path w="6667500" h="2794000">
                  <a:moveTo>
                    <a:pt x="228600" y="0"/>
                  </a:moveTo>
                  <a:lnTo>
                    <a:pt x="6438900" y="0"/>
                  </a:lnTo>
                  <a:cubicBezTo>
                    <a:pt x="6565152" y="0"/>
                    <a:pt x="6667500" y="102348"/>
                    <a:pt x="6667500" y="228600"/>
                  </a:cubicBezTo>
                  <a:lnTo>
                    <a:pt x="6667500" y="2565400"/>
                  </a:lnTo>
                  <a:cubicBezTo>
                    <a:pt x="6667500" y="2691652"/>
                    <a:pt x="6565152" y="2794000"/>
                    <a:pt x="6438900" y="2794000"/>
                  </a:cubicBezTo>
                  <a:lnTo>
                    <a:pt x="228600" y="2794000"/>
                  </a:lnTo>
                  <a:cubicBezTo>
                    <a:pt x="102348" y="2794000"/>
                    <a:pt x="0" y="2691652"/>
                    <a:pt x="0" y="2565400"/>
                  </a:cubicBezTo>
                  <a:lnTo>
                    <a:pt x="0" y="228600"/>
                  </a:lnTo>
                  <a:cubicBezTo>
                    <a:pt x="0" y="102348"/>
                    <a:pt x="102348" y="0"/>
                    <a:pt x="228600" y="0"/>
                  </a:cubicBezTo>
                  <a:close/>
                </a:path>
              </a:pathLst>
            </a:custGeom>
            <a:solidFill>
              <a:srgbClr val="FFFFFF"/>
            </a:solidFill>
            <a:ln w="9525" cap="sq">
              <a:solidFill>
                <a:srgbClr val="C9D7C5"/>
              </a:solidFill>
              <a:prstDash val="solid"/>
              <a:miter/>
            </a:ln>
          </p:spPr>
        </p:sp>
        <p:sp>
          <p:nvSpPr>
            <p:cNvPr id="9" name="TextBox 9"/>
            <p:cNvSpPr txBox="1"/>
            <p:nvPr/>
          </p:nvSpPr>
          <p:spPr>
            <a:xfrm>
              <a:off x="0" y="-38100"/>
              <a:ext cx="6667500" cy="2832100"/>
            </a:xfrm>
            <a:prstGeom prst="rect">
              <a:avLst/>
            </a:prstGeom>
          </p:spPr>
          <p:txBody>
            <a:bodyPr lIns="50800" tIns="50800" rIns="50800" bIns="50800" rtlCol="0" anchor="ctr"/>
            <a:lstStyle/>
            <a:p>
              <a:pPr algn="l">
                <a:lnSpc>
                  <a:spcPts val="1679"/>
                </a:lnSpc>
              </a:pPr>
              <a:endParaRPr/>
            </a:p>
          </p:txBody>
        </p:sp>
      </p:grpSp>
      <p:sp>
        <p:nvSpPr>
          <p:cNvPr id="10" name="TextBox 10"/>
          <p:cNvSpPr txBox="1"/>
          <p:nvPr/>
        </p:nvSpPr>
        <p:spPr>
          <a:xfrm>
            <a:off x="1143000" y="2533650"/>
            <a:ext cx="523875" cy="294005"/>
          </a:xfrm>
          <a:prstGeom prst="rect">
            <a:avLst/>
          </a:prstGeom>
        </p:spPr>
        <p:txBody>
          <a:bodyPr lIns="0" tIns="0" rIns="0" bIns="0" rtlCol="0" anchor="t">
            <a:spAutoFit/>
          </a:bodyPr>
          <a:lstStyle/>
          <a:p>
            <a:pPr algn="l">
              <a:lnSpc>
                <a:spcPts val="2125"/>
              </a:lnSpc>
            </a:pPr>
            <a:r>
              <a:rPr lang="en-US" sz="1700" b="1">
                <a:solidFill>
                  <a:srgbClr val="C7964A"/>
                </a:solidFill>
                <a:latin typeface="Poppins Bold"/>
                <a:ea typeface="Poppins Bold"/>
                <a:cs typeface="Poppins Bold"/>
                <a:sym typeface="Poppins Bold"/>
              </a:rPr>
              <a:t>01</a:t>
            </a:r>
          </a:p>
        </p:txBody>
      </p:sp>
      <p:sp>
        <p:nvSpPr>
          <p:cNvPr id="11" name="TextBox 11"/>
          <p:cNvSpPr txBox="1"/>
          <p:nvPr/>
        </p:nvSpPr>
        <p:spPr>
          <a:xfrm>
            <a:off x="1143000" y="2895600"/>
            <a:ext cx="4467225" cy="357505"/>
          </a:xfrm>
          <a:prstGeom prst="rect">
            <a:avLst/>
          </a:prstGeom>
        </p:spPr>
        <p:txBody>
          <a:bodyPr lIns="0" tIns="0" rIns="0" bIns="0" rtlCol="0" anchor="t">
            <a:spAutoFit/>
          </a:bodyPr>
          <a:lstStyle/>
          <a:p>
            <a:pPr algn="l">
              <a:lnSpc>
                <a:spcPts val="2749"/>
              </a:lnSpc>
            </a:pPr>
            <a:r>
              <a:rPr lang="en-US" sz="2199" b="1">
                <a:solidFill>
                  <a:srgbClr val="123D2B"/>
                </a:solidFill>
                <a:latin typeface="Poppins Bold"/>
                <a:ea typeface="Poppins Bold"/>
                <a:cs typeface="Poppins Bold"/>
                <a:sym typeface="Poppins Bold"/>
              </a:rPr>
              <a:t>Farmer Registration &amp; Login</a:t>
            </a:r>
          </a:p>
        </p:txBody>
      </p:sp>
      <p:sp>
        <p:nvSpPr>
          <p:cNvPr id="12" name="TextBox 12"/>
          <p:cNvSpPr txBox="1"/>
          <p:nvPr/>
        </p:nvSpPr>
        <p:spPr>
          <a:xfrm>
            <a:off x="1143000" y="3514725"/>
            <a:ext cx="4467225" cy="560705"/>
          </a:xfrm>
          <a:prstGeom prst="rect">
            <a:avLst/>
          </a:prstGeom>
        </p:spPr>
        <p:txBody>
          <a:bodyPr lIns="0" tIns="0" rIns="0" bIns="0" rtlCol="0" anchor="t">
            <a:spAutoFit/>
          </a:bodyPr>
          <a:lstStyle/>
          <a:p>
            <a:pPr algn="l">
              <a:lnSpc>
                <a:spcPts val="2125"/>
              </a:lnSpc>
            </a:pPr>
            <a:r>
              <a:rPr lang="en-US" sz="1700">
                <a:solidFill>
                  <a:srgbClr val="5A6B60"/>
                </a:solidFill>
                <a:latin typeface="Poppins"/>
                <a:ea typeface="Poppins"/>
                <a:cs typeface="Poppins"/>
                <a:sym typeface="Poppins"/>
              </a:rPr>
              <a:t>Secure onboarding and authentication for each farmer.</a:t>
            </a:r>
          </a:p>
        </p:txBody>
      </p:sp>
      <p:grpSp>
        <p:nvGrpSpPr>
          <p:cNvPr id="13" name="Group 13"/>
          <p:cNvGrpSpPr/>
          <p:nvPr/>
        </p:nvGrpSpPr>
        <p:grpSpPr>
          <a:xfrm>
            <a:off x="6448425" y="2333625"/>
            <a:ext cx="5000625" cy="2095500"/>
            <a:chOff x="0" y="0"/>
            <a:chExt cx="6667500" cy="2794000"/>
          </a:xfrm>
        </p:grpSpPr>
        <p:sp>
          <p:nvSpPr>
            <p:cNvPr id="14" name="Freeform 14"/>
            <p:cNvSpPr/>
            <p:nvPr/>
          </p:nvSpPr>
          <p:spPr>
            <a:xfrm>
              <a:off x="0" y="0"/>
              <a:ext cx="6667500" cy="2794000"/>
            </a:xfrm>
            <a:custGeom>
              <a:avLst/>
              <a:gdLst/>
              <a:ahLst/>
              <a:cxnLst/>
              <a:rect l="l" t="t" r="r" b="b"/>
              <a:pathLst>
                <a:path w="6667500" h="2794000">
                  <a:moveTo>
                    <a:pt x="228600" y="0"/>
                  </a:moveTo>
                  <a:lnTo>
                    <a:pt x="6438900" y="0"/>
                  </a:lnTo>
                  <a:cubicBezTo>
                    <a:pt x="6565152" y="0"/>
                    <a:pt x="6667500" y="102348"/>
                    <a:pt x="6667500" y="228600"/>
                  </a:cubicBezTo>
                  <a:lnTo>
                    <a:pt x="6667500" y="2565400"/>
                  </a:lnTo>
                  <a:cubicBezTo>
                    <a:pt x="6667500" y="2691652"/>
                    <a:pt x="6565152" y="2794000"/>
                    <a:pt x="6438900" y="2794000"/>
                  </a:cubicBezTo>
                  <a:lnTo>
                    <a:pt x="228600" y="2794000"/>
                  </a:lnTo>
                  <a:cubicBezTo>
                    <a:pt x="102348" y="2794000"/>
                    <a:pt x="0" y="2691652"/>
                    <a:pt x="0" y="2565400"/>
                  </a:cubicBezTo>
                  <a:lnTo>
                    <a:pt x="0" y="228600"/>
                  </a:lnTo>
                  <a:cubicBezTo>
                    <a:pt x="0" y="102348"/>
                    <a:pt x="102348" y="0"/>
                    <a:pt x="228600" y="0"/>
                  </a:cubicBezTo>
                  <a:close/>
                </a:path>
              </a:pathLst>
            </a:custGeom>
            <a:solidFill>
              <a:srgbClr val="FFFFFF"/>
            </a:solidFill>
            <a:ln w="9525" cap="sq">
              <a:solidFill>
                <a:srgbClr val="C9D7C5"/>
              </a:solidFill>
              <a:prstDash val="solid"/>
              <a:miter/>
            </a:ln>
          </p:spPr>
        </p:sp>
        <p:sp>
          <p:nvSpPr>
            <p:cNvPr id="15" name="TextBox 15"/>
            <p:cNvSpPr txBox="1"/>
            <p:nvPr/>
          </p:nvSpPr>
          <p:spPr>
            <a:xfrm>
              <a:off x="0" y="-38100"/>
              <a:ext cx="6667500" cy="2832100"/>
            </a:xfrm>
            <a:prstGeom prst="rect">
              <a:avLst/>
            </a:prstGeom>
          </p:spPr>
          <p:txBody>
            <a:bodyPr lIns="50800" tIns="50800" rIns="50800" bIns="50800" rtlCol="0" anchor="ctr"/>
            <a:lstStyle/>
            <a:p>
              <a:pPr algn="l">
                <a:lnSpc>
                  <a:spcPts val="1679"/>
                </a:lnSpc>
              </a:pPr>
              <a:endParaRPr/>
            </a:p>
          </p:txBody>
        </p:sp>
      </p:grpSp>
      <p:sp>
        <p:nvSpPr>
          <p:cNvPr id="16" name="TextBox 16"/>
          <p:cNvSpPr txBox="1"/>
          <p:nvPr/>
        </p:nvSpPr>
        <p:spPr>
          <a:xfrm>
            <a:off x="6715125" y="2533650"/>
            <a:ext cx="523875" cy="294005"/>
          </a:xfrm>
          <a:prstGeom prst="rect">
            <a:avLst/>
          </a:prstGeom>
        </p:spPr>
        <p:txBody>
          <a:bodyPr lIns="0" tIns="0" rIns="0" bIns="0" rtlCol="0" anchor="t">
            <a:spAutoFit/>
          </a:bodyPr>
          <a:lstStyle/>
          <a:p>
            <a:pPr algn="l">
              <a:lnSpc>
                <a:spcPts val="2125"/>
              </a:lnSpc>
            </a:pPr>
            <a:r>
              <a:rPr lang="en-US" sz="1700" b="1">
                <a:solidFill>
                  <a:srgbClr val="C7964A"/>
                </a:solidFill>
                <a:latin typeface="Poppins Bold"/>
                <a:ea typeface="Poppins Bold"/>
                <a:cs typeface="Poppins Bold"/>
                <a:sym typeface="Poppins Bold"/>
              </a:rPr>
              <a:t>02</a:t>
            </a:r>
          </a:p>
        </p:txBody>
      </p:sp>
      <p:sp>
        <p:nvSpPr>
          <p:cNvPr id="17" name="TextBox 17"/>
          <p:cNvSpPr txBox="1"/>
          <p:nvPr/>
        </p:nvSpPr>
        <p:spPr>
          <a:xfrm>
            <a:off x="6715125" y="2895600"/>
            <a:ext cx="4467225" cy="357505"/>
          </a:xfrm>
          <a:prstGeom prst="rect">
            <a:avLst/>
          </a:prstGeom>
        </p:spPr>
        <p:txBody>
          <a:bodyPr lIns="0" tIns="0" rIns="0" bIns="0" rtlCol="0" anchor="t">
            <a:spAutoFit/>
          </a:bodyPr>
          <a:lstStyle/>
          <a:p>
            <a:pPr algn="l">
              <a:lnSpc>
                <a:spcPts val="2749"/>
              </a:lnSpc>
            </a:pPr>
            <a:r>
              <a:rPr lang="en-US" sz="2199" b="1">
                <a:solidFill>
                  <a:srgbClr val="123D2B"/>
                </a:solidFill>
                <a:latin typeface="Poppins Bold"/>
                <a:ea typeface="Poppins Bold"/>
                <a:cs typeface="Poppins Bold"/>
                <a:sym typeface="Poppins Bold"/>
              </a:rPr>
              <a:t>Farmer Dashboard</a:t>
            </a:r>
          </a:p>
        </p:txBody>
      </p:sp>
      <p:sp>
        <p:nvSpPr>
          <p:cNvPr id="18" name="TextBox 18"/>
          <p:cNvSpPr txBox="1"/>
          <p:nvPr/>
        </p:nvSpPr>
        <p:spPr>
          <a:xfrm>
            <a:off x="6715125" y="3514725"/>
            <a:ext cx="4467225" cy="560705"/>
          </a:xfrm>
          <a:prstGeom prst="rect">
            <a:avLst/>
          </a:prstGeom>
        </p:spPr>
        <p:txBody>
          <a:bodyPr lIns="0" tIns="0" rIns="0" bIns="0" rtlCol="0" anchor="t">
            <a:spAutoFit/>
          </a:bodyPr>
          <a:lstStyle/>
          <a:p>
            <a:pPr algn="l">
              <a:lnSpc>
                <a:spcPts val="2125"/>
              </a:lnSpc>
            </a:pPr>
            <a:r>
              <a:rPr lang="en-US" sz="1700">
                <a:solidFill>
                  <a:srgbClr val="5A6B60"/>
                </a:solidFill>
                <a:latin typeface="Poppins"/>
                <a:ea typeface="Poppins"/>
                <a:cs typeface="Poppins"/>
                <a:sym typeface="Poppins"/>
              </a:rPr>
              <a:t>Centralized access to farm and crop operations.</a:t>
            </a:r>
          </a:p>
        </p:txBody>
      </p:sp>
      <p:grpSp>
        <p:nvGrpSpPr>
          <p:cNvPr id="19" name="Group 19"/>
          <p:cNvGrpSpPr/>
          <p:nvPr/>
        </p:nvGrpSpPr>
        <p:grpSpPr>
          <a:xfrm>
            <a:off x="12020550" y="2333625"/>
            <a:ext cx="5000625" cy="2095500"/>
            <a:chOff x="0" y="0"/>
            <a:chExt cx="6667500" cy="2794000"/>
          </a:xfrm>
        </p:grpSpPr>
        <p:sp>
          <p:nvSpPr>
            <p:cNvPr id="20" name="Freeform 20"/>
            <p:cNvSpPr/>
            <p:nvPr/>
          </p:nvSpPr>
          <p:spPr>
            <a:xfrm>
              <a:off x="0" y="0"/>
              <a:ext cx="6667500" cy="2794000"/>
            </a:xfrm>
            <a:custGeom>
              <a:avLst/>
              <a:gdLst/>
              <a:ahLst/>
              <a:cxnLst/>
              <a:rect l="l" t="t" r="r" b="b"/>
              <a:pathLst>
                <a:path w="6667500" h="2794000">
                  <a:moveTo>
                    <a:pt x="228600" y="0"/>
                  </a:moveTo>
                  <a:lnTo>
                    <a:pt x="6438900" y="0"/>
                  </a:lnTo>
                  <a:cubicBezTo>
                    <a:pt x="6565152" y="0"/>
                    <a:pt x="6667500" y="102348"/>
                    <a:pt x="6667500" y="228600"/>
                  </a:cubicBezTo>
                  <a:lnTo>
                    <a:pt x="6667500" y="2565400"/>
                  </a:lnTo>
                  <a:cubicBezTo>
                    <a:pt x="6667500" y="2691652"/>
                    <a:pt x="6565152" y="2794000"/>
                    <a:pt x="6438900" y="2794000"/>
                  </a:cubicBezTo>
                  <a:lnTo>
                    <a:pt x="228600" y="2794000"/>
                  </a:lnTo>
                  <a:cubicBezTo>
                    <a:pt x="102348" y="2794000"/>
                    <a:pt x="0" y="2691652"/>
                    <a:pt x="0" y="2565400"/>
                  </a:cubicBezTo>
                  <a:lnTo>
                    <a:pt x="0" y="228600"/>
                  </a:lnTo>
                  <a:cubicBezTo>
                    <a:pt x="0" y="102348"/>
                    <a:pt x="102348" y="0"/>
                    <a:pt x="228600" y="0"/>
                  </a:cubicBezTo>
                  <a:close/>
                </a:path>
              </a:pathLst>
            </a:custGeom>
            <a:solidFill>
              <a:srgbClr val="FFFFFF"/>
            </a:solidFill>
            <a:ln w="9525" cap="sq">
              <a:solidFill>
                <a:srgbClr val="C9D7C5"/>
              </a:solidFill>
              <a:prstDash val="solid"/>
              <a:miter/>
            </a:ln>
          </p:spPr>
        </p:sp>
        <p:sp>
          <p:nvSpPr>
            <p:cNvPr id="21" name="TextBox 21"/>
            <p:cNvSpPr txBox="1"/>
            <p:nvPr/>
          </p:nvSpPr>
          <p:spPr>
            <a:xfrm>
              <a:off x="0" y="-38100"/>
              <a:ext cx="6667500" cy="2832100"/>
            </a:xfrm>
            <a:prstGeom prst="rect">
              <a:avLst/>
            </a:prstGeom>
          </p:spPr>
          <p:txBody>
            <a:bodyPr lIns="50800" tIns="50800" rIns="50800" bIns="50800" rtlCol="0" anchor="ctr"/>
            <a:lstStyle/>
            <a:p>
              <a:pPr algn="l">
                <a:lnSpc>
                  <a:spcPts val="1679"/>
                </a:lnSpc>
              </a:pPr>
              <a:endParaRPr/>
            </a:p>
          </p:txBody>
        </p:sp>
      </p:grpSp>
      <p:sp>
        <p:nvSpPr>
          <p:cNvPr id="22" name="TextBox 22"/>
          <p:cNvSpPr txBox="1"/>
          <p:nvPr/>
        </p:nvSpPr>
        <p:spPr>
          <a:xfrm>
            <a:off x="12287250" y="2533650"/>
            <a:ext cx="523875" cy="294005"/>
          </a:xfrm>
          <a:prstGeom prst="rect">
            <a:avLst/>
          </a:prstGeom>
        </p:spPr>
        <p:txBody>
          <a:bodyPr lIns="0" tIns="0" rIns="0" bIns="0" rtlCol="0" anchor="t">
            <a:spAutoFit/>
          </a:bodyPr>
          <a:lstStyle/>
          <a:p>
            <a:pPr algn="l">
              <a:lnSpc>
                <a:spcPts val="2125"/>
              </a:lnSpc>
            </a:pPr>
            <a:r>
              <a:rPr lang="en-US" sz="1700" b="1">
                <a:solidFill>
                  <a:srgbClr val="C7964A"/>
                </a:solidFill>
                <a:latin typeface="Poppins Bold"/>
                <a:ea typeface="Poppins Bold"/>
                <a:cs typeface="Poppins Bold"/>
                <a:sym typeface="Poppins Bold"/>
              </a:rPr>
              <a:t>03</a:t>
            </a:r>
          </a:p>
        </p:txBody>
      </p:sp>
      <p:sp>
        <p:nvSpPr>
          <p:cNvPr id="23" name="TextBox 23"/>
          <p:cNvSpPr txBox="1"/>
          <p:nvPr/>
        </p:nvSpPr>
        <p:spPr>
          <a:xfrm>
            <a:off x="12287250" y="2895600"/>
            <a:ext cx="4467225" cy="357505"/>
          </a:xfrm>
          <a:prstGeom prst="rect">
            <a:avLst/>
          </a:prstGeom>
        </p:spPr>
        <p:txBody>
          <a:bodyPr lIns="0" tIns="0" rIns="0" bIns="0" rtlCol="0" anchor="t">
            <a:spAutoFit/>
          </a:bodyPr>
          <a:lstStyle/>
          <a:p>
            <a:pPr algn="l">
              <a:lnSpc>
                <a:spcPts val="2749"/>
              </a:lnSpc>
            </a:pPr>
            <a:r>
              <a:rPr lang="en-US" sz="2199" b="1">
                <a:solidFill>
                  <a:srgbClr val="123D2B"/>
                </a:solidFill>
                <a:latin typeface="Poppins Bold"/>
                <a:ea typeface="Poppins Bold"/>
                <a:cs typeface="Poppins Bold"/>
                <a:sym typeface="Poppins Bold"/>
              </a:rPr>
              <a:t>Farm Management</a:t>
            </a:r>
          </a:p>
        </p:txBody>
      </p:sp>
      <p:sp>
        <p:nvSpPr>
          <p:cNvPr id="24" name="TextBox 24"/>
          <p:cNvSpPr txBox="1"/>
          <p:nvPr/>
        </p:nvSpPr>
        <p:spPr>
          <a:xfrm>
            <a:off x="12287250" y="3514725"/>
            <a:ext cx="4467225" cy="560705"/>
          </a:xfrm>
          <a:prstGeom prst="rect">
            <a:avLst/>
          </a:prstGeom>
        </p:spPr>
        <p:txBody>
          <a:bodyPr lIns="0" tIns="0" rIns="0" bIns="0" rtlCol="0" anchor="t">
            <a:spAutoFit/>
          </a:bodyPr>
          <a:lstStyle/>
          <a:p>
            <a:pPr algn="l">
              <a:lnSpc>
                <a:spcPts val="2125"/>
              </a:lnSpc>
            </a:pPr>
            <a:r>
              <a:rPr lang="en-US" sz="1700">
                <a:solidFill>
                  <a:srgbClr val="5A6B60"/>
                </a:solidFill>
                <a:latin typeface="Poppins"/>
                <a:ea typeface="Poppins"/>
                <a:cs typeface="Poppins"/>
                <a:sym typeface="Poppins"/>
              </a:rPr>
              <a:t>Register and manage farm information in one place.</a:t>
            </a:r>
          </a:p>
        </p:txBody>
      </p:sp>
      <p:grpSp>
        <p:nvGrpSpPr>
          <p:cNvPr id="25" name="Group 25"/>
          <p:cNvGrpSpPr/>
          <p:nvPr/>
        </p:nvGrpSpPr>
        <p:grpSpPr>
          <a:xfrm>
            <a:off x="876300" y="4905375"/>
            <a:ext cx="5000625" cy="2095500"/>
            <a:chOff x="0" y="0"/>
            <a:chExt cx="6667500" cy="2794000"/>
          </a:xfrm>
        </p:grpSpPr>
        <p:sp>
          <p:nvSpPr>
            <p:cNvPr id="26" name="Freeform 26"/>
            <p:cNvSpPr/>
            <p:nvPr/>
          </p:nvSpPr>
          <p:spPr>
            <a:xfrm>
              <a:off x="0" y="0"/>
              <a:ext cx="6667500" cy="2794000"/>
            </a:xfrm>
            <a:custGeom>
              <a:avLst/>
              <a:gdLst/>
              <a:ahLst/>
              <a:cxnLst/>
              <a:rect l="l" t="t" r="r" b="b"/>
              <a:pathLst>
                <a:path w="6667500" h="2794000">
                  <a:moveTo>
                    <a:pt x="228600" y="0"/>
                  </a:moveTo>
                  <a:lnTo>
                    <a:pt x="6438900" y="0"/>
                  </a:lnTo>
                  <a:cubicBezTo>
                    <a:pt x="6565152" y="0"/>
                    <a:pt x="6667500" y="102348"/>
                    <a:pt x="6667500" y="228600"/>
                  </a:cubicBezTo>
                  <a:lnTo>
                    <a:pt x="6667500" y="2565400"/>
                  </a:lnTo>
                  <a:cubicBezTo>
                    <a:pt x="6667500" y="2691652"/>
                    <a:pt x="6565152" y="2794000"/>
                    <a:pt x="6438900" y="2794000"/>
                  </a:cubicBezTo>
                  <a:lnTo>
                    <a:pt x="228600" y="2794000"/>
                  </a:lnTo>
                  <a:cubicBezTo>
                    <a:pt x="102348" y="2794000"/>
                    <a:pt x="0" y="2691652"/>
                    <a:pt x="0" y="2565400"/>
                  </a:cubicBezTo>
                  <a:lnTo>
                    <a:pt x="0" y="228600"/>
                  </a:lnTo>
                  <a:cubicBezTo>
                    <a:pt x="0" y="102348"/>
                    <a:pt x="102348" y="0"/>
                    <a:pt x="228600" y="0"/>
                  </a:cubicBezTo>
                  <a:close/>
                </a:path>
              </a:pathLst>
            </a:custGeom>
            <a:solidFill>
              <a:srgbClr val="FFFFFF"/>
            </a:solidFill>
            <a:ln w="9525" cap="sq">
              <a:solidFill>
                <a:srgbClr val="C9D7C5"/>
              </a:solidFill>
              <a:prstDash val="solid"/>
              <a:miter/>
            </a:ln>
          </p:spPr>
        </p:sp>
        <p:sp>
          <p:nvSpPr>
            <p:cNvPr id="27" name="TextBox 27"/>
            <p:cNvSpPr txBox="1"/>
            <p:nvPr/>
          </p:nvSpPr>
          <p:spPr>
            <a:xfrm>
              <a:off x="0" y="-38100"/>
              <a:ext cx="6667500" cy="2832100"/>
            </a:xfrm>
            <a:prstGeom prst="rect">
              <a:avLst/>
            </a:prstGeom>
          </p:spPr>
          <p:txBody>
            <a:bodyPr lIns="50800" tIns="50800" rIns="50800" bIns="50800" rtlCol="0" anchor="ctr"/>
            <a:lstStyle/>
            <a:p>
              <a:pPr algn="l">
                <a:lnSpc>
                  <a:spcPts val="1679"/>
                </a:lnSpc>
              </a:pPr>
              <a:endParaRPr/>
            </a:p>
          </p:txBody>
        </p:sp>
      </p:grpSp>
      <p:sp>
        <p:nvSpPr>
          <p:cNvPr id="28" name="TextBox 28"/>
          <p:cNvSpPr txBox="1"/>
          <p:nvPr/>
        </p:nvSpPr>
        <p:spPr>
          <a:xfrm>
            <a:off x="1143000" y="5105400"/>
            <a:ext cx="523875" cy="294005"/>
          </a:xfrm>
          <a:prstGeom prst="rect">
            <a:avLst/>
          </a:prstGeom>
        </p:spPr>
        <p:txBody>
          <a:bodyPr lIns="0" tIns="0" rIns="0" bIns="0" rtlCol="0" anchor="t">
            <a:spAutoFit/>
          </a:bodyPr>
          <a:lstStyle/>
          <a:p>
            <a:pPr algn="l">
              <a:lnSpc>
                <a:spcPts val="2125"/>
              </a:lnSpc>
            </a:pPr>
            <a:r>
              <a:rPr lang="en-US" sz="1700" b="1">
                <a:solidFill>
                  <a:srgbClr val="C7964A"/>
                </a:solidFill>
                <a:latin typeface="Poppins Bold"/>
                <a:ea typeface="Poppins Bold"/>
                <a:cs typeface="Poppins Bold"/>
                <a:sym typeface="Poppins Bold"/>
              </a:rPr>
              <a:t>04</a:t>
            </a:r>
          </a:p>
        </p:txBody>
      </p:sp>
      <p:sp>
        <p:nvSpPr>
          <p:cNvPr id="29" name="TextBox 29"/>
          <p:cNvSpPr txBox="1"/>
          <p:nvPr/>
        </p:nvSpPr>
        <p:spPr>
          <a:xfrm>
            <a:off x="1143000" y="5467350"/>
            <a:ext cx="4467225" cy="357505"/>
          </a:xfrm>
          <a:prstGeom prst="rect">
            <a:avLst/>
          </a:prstGeom>
        </p:spPr>
        <p:txBody>
          <a:bodyPr lIns="0" tIns="0" rIns="0" bIns="0" rtlCol="0" anchor="t">
            <a:spAutoFit/>
          </a:bodyPr>
          <a:lstStyle/>
          <a:p>
            <a:pPr algn="l">
              <a:lnSpc>
                <a:spcPts val="2749"/>
              </a:lnSpc>
            </a:pPr>
            <a:r>
              <a:rPr lang="en-US" sz="2199" b="1">
                <a:solidFill>
                  <a:srgbClr val="123D2B"/>
                </a:solidFill>
                <a:latin typeface="Poppins Bold"/>
                <a:ea typeface="Poppins Bold"/>
                <a:cs typeface="Poppins Bold"/>
                <a:sym typeface="Poppins Bold"/>
              </a:rPr>
              <a:t>Crop Management</a:t>
            </a:r>
          </a:p>
        </p:txBody>
      </p:sp>
      <p:sp>
        <p:nvSpPr>
          <p:cNvPr id="30" name="TextBox 30"/>
          <p:cNvSpPr txBox="1"/>
          <p:nvPr/>
        </p:nvSpPr>
        <p:spPr>
          <a:xfrm>
            <a:off x="1143000" y="6086475"/>
            <a:ext cx="4467225" cy="560705"/>
          </a:xfrm>
          <a:prstGeom prst="rect">
            <a:avLst/>
          </a:prstGeom>
        </p:spPr>
        <p:txBody>
          <a:bodyPr lIns="0" tIns="0" rIns="0" bIns="0" rtlCol="0" anchor="t">
            <a:spAutoFit/>
          </a:bodyPr>
          <a:lstStyle/>
          <a:p>
            <a:pPr algn="l">
              <a:lnSpc>
                <a:spcPts val="2125"/>
              </a:lnSpc>
            </a:pPr>
            <a:r>
              <a:rPr lang="en-US" sz="1700">
                <a:solidFill>
                  <a:srgbClr val="5A6B60"/>
                </a:solidFill>
                <a:latin typeface="Poppins"/>
                <a:ea typeface="Poppins"/>
                <a:cs typeface="Poppins"/>
                <a:sym typeface="Poppins"/>
              </a:rPr>
              <a:t>Add, view and maintain crop records linked to farms.</a:t>
            </a:r>
          </a:p>
        </p:txBody>
      </p:sp>
      <p:grpSp>
        <p:nvGrpSpPr>
          <p:cNvPr id="31" name="Group 31"/>
          <p:cNvGrpSpPr/>
          <p:nvPr/>
        </p:nvGrpSpPr>
        <p:grpSpPr>
          <a:xfrm>
            <a:off x="6448425" y="4905375"/>
            <a:ext cx="5000625" cy="2095500"/>
            <a:chOff x="0" y="0"/>
            <a:chExt cx="6667500" cy="2794000"/>
          </a:xfrm>
        </p:grpSpPr>
        <p:sp>
          <p:nvSpPr>
            <p:cNvPr id="32" name="Freeform 32"/>
            <p:cNvSpPr/>
            <p:nvPr/>
          </p:nvSpPr>
          <p:spPr>
            <a:xfrm>
              <a:off x="0" y="0"/>
              <a:ext cx="6667500" cy="2794000"/>
            </a:xfrm>
            <a:custGeom>
              <a:avLst/>
              <a:gdLst/>
              <a:ahLst/>
              <a:cxnLst/>
              <a:rect l="l" t="t" r="r" b="b"/>
              <a:pathLst>
                <a:path w="6667500" h="2794000">
                  <a:moveTo>
                    <a:pt x="228600" y="0"/>
                  </a:moveTo>
                  <a:lnTo>
                    <a:pt x="6438900" y="0"/>
                  </a:lnTo>
                  <a:cubicBezTo>
                    <a:pt x="6565152" y="0"/>
                    <a:pt x="6667500" y="102348"/>
                    <a:pt x="6667500" y="228600"/>
                  </a:cubicBezTo>
                  <a:lnTo>
                    <a:pt x="6667500" y="2565400"/>
                  </a:lnTo>
                  <a:cubicBezTo>
                    <a:pt x="6667500" y="2691652"/>
                    <a:pt x="6565152" y="2794000"/>
                    <a:pt x="6438900" y="2794000"/>
                  </a:cubicBezTo>
                  <a:lnTo>
                    <a:pt x="228600" y="2794000"/>
                  </a:lnTo>
                  <a:cubicBezTo>
                    <a:pt x="102348" y="2794000"/>
                    <a:pt x="0" y="2691652"/>
                    <a:pt x="0" y="2565400"/>
                  </a:cubicBezTo>
                  <a:lnTo>
                    <a:pt x="0" y="228600"/>
                  </a:lnTo>
                  <a:cubicBezTo>
                    <a:pt x="0" y="102348"/>
                    <a:pt x="102348" y="0"/>
                    <a:pt x="228600" y="0"/>
                  </a:cubicBezTo>
                  <a:close/>
                </a:path>
              </a:pathLst>
            </a:custGeom>
            <a:solidFill>
              <a:srgbClr val="FFFFFF"/>
            </a:solidFill>
            <a:ln w="9525" cap="sq">
              <a:solidFill>
                <a:srgbClr val="C9D7C5"/>
              </a:solidFill>
              <a:prstDash val="solid"/>
              <a:miter/>
            </a:ln>
          </p:spPr>
        </p:sp>
        <p:sp>
          <p:nvSpPr>
            <p:cNvPr id="33" name="TextBox 33"/>
            <p:cNvSpPr txBox="1"/>
            <p:nvPr/>
          </p:nvSpPr>
          <p:spPr>
            <a:xfrm>
              <a:off x="0" y="-38100"/>
              <a:ext cx="6667500" cy="2832100"/>
            </a:xfrm>
            <a:prstGeom prst="rect">
              <a:avLst/>
            </a:prstGeom>
          </p:spPr>
          <p:txBody>
            <a:bodyPr lIns="50800" tIns="50800" rIns="50800" bIns="50800" rtlCol="0" anchor="ctr"/>
            <a:lstStyle/>
            <a:p>
              <a:pPr algn="l">
                <a:lnSpc>
                  <a:spcPts val="1679"/>
                </a:lnSpc>
              </a:pPr>
              <a:endParaRPr/>
            </a:p>
          </p:txBody>
        </p:sp>
      </p:grpSp>
      <p:sp>
        <p:nvSpPr>
          <p:cNvPr id="34" name="TextBox 34"/>
          <p:cNvSpPr txBox="1"/>
          <p:nvPr/>
        </p:nvSpPr>
        <p:spPr>
          <a:xfrm>
            <a:off x="6715125" y="5105400"/>
            <a:ext cx="523875" cy="294005"/>
          </a:xfrm>
          <a:prstGeom prst="rect">
            <a:avLst/>
          </a:prstGeom>
        </p:spPr>
        <p:txBody>
          <a:bodyPr lIns="0" tIns="0" rIns="0" bIns="0" rtlCol="0" anchor="t">
            <a:spAutoFit/>
          </a:bodyPr>
          <a:lstStyle/>
          <a:p>
            <a:pPr algn="l">
              <a:lnSpc>
                <a:spcPts val="2125"/>
              </a:lnSpc>
            </a:pPr>
            <a:r>
              <a:rPr lang="en-US" sz="1700" b="1">
                <a:solidFill>
                  <a:srgbClr val="C7964A"/>
                </a:solidFill>
                <a:latin typeface="Poppins Bold"/>
                <a:ea typeface="Poppins Bold"/>
                <a:cs typeface="Poppins Bold"/>
                <a:sym typeface="Poppins Bold"/>
              </a:rPr>
              <a:t>05</a:t>
            </a:r>
          </a:p>
        </p:txBody>
      </p:sp>
      <p:sp>
        <p:nvSpPr>
          <p:cNvPr id="35" name="TextBox 35"/>
          <p:cNvSpPr txBox="1"/>
          <p:nvPr/>
        </p:nvSpPr>
        <p:spPr>
          <a:xfrm>
            <a:off x="6715125" y="5467350"/>
            <a:ext cx="4467225" cy="357505"/>
          </a:xfrm>
          <a:prstGeom prst="rect">
            <a:avLst/>
          </a:prstGeom>
        </p:spPr>
        <p:txBody>
          <a:bodyPr lIns="0" tIns="0" rIns="0" bIns="0" rtlCol="0" anchor="t">
            <a:spAutoFit/>
          </a:bodyPr>
          <a:lstStyle/>
          <a:p>
            <a:pPr algn="l">
              <a:lnSpc>
                <a:spcPts val="2749"/>
              </a:lnSpc>
            </a:pPr>
            <a:r>
              <a:rPr lang="en-US" sz="2199" b="1">
                <a:solidFill>
                  <a:srgbClr val="123D2B"/>
                </a:solidFill>
                <a:latin typeface="Poppins Bold"/>
                <a:ea typeface="Poppins Bold"/>
                <a:cs typeface="Poppins Bold"/>
                <a:sym typeface="Poppins Bold"/>
              </a:rPr>
              <a:t>Crop &amp; Yield Information</a:t>
            </a:r>
          </a:p>
        </p:txBody>
      </p:sp>
      <p:sp>
        <p:nvSpPr>
          <p:cNvPr id="36" name="TextBox 36"/>
          <p:cNvSpPr txBox="1"/>
          <p:nvPr/>
        </p:nvSpPr>
        <p:spPr>
          <a:xfrm>
            <a:off x="6715125" y="6086475"/>
            <a:ext cx="4467225" cy="827405"/>
          </a:xfrm>
          <a:prstGeom prst="rect">
            <a:avLst/>
          </a:prstGeom>
        </p:spPr>
        <p:txBody>
          <a:bodyPr lIns="0" tIns="0" rIns="0" bIns="0" rtlCol="0" anchor="t">
            <a:spAutoFit/>
          </a:bodyPr>
          <a:lstStyle/>
          <a:p>
            <a:pPr algn="l">
              <a:lnSpc>
                <a:spcPts val="2125"/>
              </a:lnSpc>
            </a:pPr>
            <a:r>
              <a:rPr lang="en-US" sz="1700">
                <a:solidFill>
                  <a:srgbClr val="5A6B60"/>
                </a:solidFill>
                <a:latin typeface="Poppins"/>
                <a:ea typeface="Poppins"/>
                <a:cs typeface="Poppins"/>
                <a:sym typeface="Poppins"/>
              </a:rPr>
              <a:t>Track crop area, soil details, sowing/harvest months and yield information.</a:t>
            </a:r>
          </a:p>
        </p:txBody>
      </p:sp>
      <p:grpSp>
        <p:nvGrpSpPr>
          <p:cNvPr id="37" name="Group 37"/>
          <p:cNvGrpSpPr/>
          <p:nvPr/>
        </p:nvGrpSpPr>
        <p:grpSpPr>
          <a:xfrm>
            <a:off x="12020550" y="4905375"/>
            <a:ext cx="5000625" cy="2095500"/>
            <a:chOff x="0" y="0"/>
            <a:chExt cx="6667500" cy="2794000"/>
          </a:xfrm>
        </p:grpSpPr>
        <p:sp>
          <p:nvSpPr>
            <p:cNvPr id="38" name="Freeform 38"/>
            <p:cNvSpPr/>
            <p:nvPr/>
          </p:nvSpPr>
          <p:spPr>
            <a:xfrm>
              <a:off x="0" y="0"/>
              <a:ext cx="6667500" cy="2794000"/>
            </a:xfrm>
            <a:custGeom>
              <a:avLst/>
              <a:gdLst/>
              <a:ahLst/>
              <a:cxnLst/>
              <a:rect l="l" t="t" r="r" b="b"/>
              <a:pathLst>
                <a:path w="6667500" h="2794000">
                  <a:moveTo>
                    <a:pt x="228600" y="0"/>
                  </a:moveTo>
                  <a:lnTo>
                    <a:pt x="6438900" y="0"/>
                  </a:lnTo>
                  <a:cubicBezTo>
                    <a:pt x="6565152" y="0"/>
                    <a:pt x="6667500" y="102348"/>
                    <a:pt x="6667500" y="228600"/>
                  </a:cubicBezTo>
                  <a:lnTo>
                    <a:pt x="6667500" y="2565400"/>
                  </a:lnTo>
                  <a:cubicBezTo>
                    <a:pt x="6667500" y="2691652"/>
                    <a:pt x="6565152" y="2794000"/>
                    <a:pt x="6438900" y="2794000"/>
                  </a:cubicBezTo>
                  <a:lnTo>
                    <a:pt x="228600" y="2794000"/>
                  </a:lnTo>
                  <a:cubicBezTo>
                    <a:pt x="102348" y="2794000"/>
                    <a:pt x="0" y="2691652"/>
                    <a:pt x="0" y="2565400"/>
                  </a:cubicBezTo>
                  <a:lnTo>
                    <a:pt x="0" y="228600"/>
                  </a:lnTo>
                  <a:cubicBezTo>
                    <a:pt x="0" y="102348"/>
                    <a:pt x="102348" y="0"/>
                    <a:pt x="228600" y="0"/>
                  </a:cubicBezTo>
                  <a:close/>
                </a:path>
              </a:pathLst>
            </a:custGeom>
            <a:solidFill>
              <a:srgbClr val="FFFFFF"/>
            </a:solidFill>
            <a:ln w="9525" cap="sq">
              <a:solidFill>
                <a:srgbClr val="C9D7C5"/>
              </a:solidFill>
              <a:prstDash val="solid"/>
              <a:miter/>
            </a:ln>
          </p:spPr>
        </p:sp>
        <p:sp>
          <p:nvSpPr>
            <p:cNvPr id="39" name="TextBox 39"/>
            <p:cNvSpPr txBox="1"/>
            <p:nvPr/>
          </p:nvSpPr>
          <p:spPr>
            <a:xfrm>
              <a:off x="0" y="-38100"/>
              <a:ext cx="6667500" cy="2832100"/>
            </a:xfrm>
            <a:prstGeom prst="rect">
              <a:avLst/>
            </a:prstGeom>
          </p:spPr>
          <p:txBody>
            <a:bodyPr lIns="50800" tIns="50800" rIns="50800" bIns="50800" rtlCol="0" anchor="ctr"/>
            <a:lstStyle/>
            <a:p>
              <a:pPr algn="l">
                <a:lnSpc>
                  <a:spcPts val="1679"/>
                </a:lnSpc>
              </a:pPr>
              <a:endParaRPr/>
            </a:p>
          </p:txBody>
        </p:sp>
      </p:grpSp>
      <p:sp>
        <p:nvSpPr>
          <p:cNvPr id="40" name="TextBox 40"/>
          <p:cNvSpPr txBox="1"/>
          <p:nvPr/>
        </p:nvSpPr>
        <p:spPr>
          <a:xfrm>
            <a:off x="12287250" y="5105400"/>
            <a:ext cx="523875" cy="294005"/>
          </a:xfrm>
          <a:prstGeom prst="rect">
            <a:avLst/>
          </a:prstGeom>
        </p:spPr>
        <p:txBody>
          <a:bodyPr lIns="0" tIns="0" rIns="0" bIns="0" rtlCol="0" anchor="t">
            <a:spAutoFit/>
          </a:bodyPr>
          <a:lstStyle/>
          <a:p>
            <a:pPr algn="l">
              <a:lnSpc>
                <a:spcPts val="2125"/>
              </a:lnSpc>
            </a:pPr>
            <a:r>
              <a:rPr lang="en-US" sz="1700" b="1">
                <a:solidFill>
                  <a:srgbClr val="C7964A"/>
                </a:solidFill>
                <a:latin typeface="Poppins Bold"/>
                <a:ea typeface="Poppins Bold"/>
                <a:cs typeface="Poppins Bold"/>
                <a:sym typeface="Poppins Bold"/>
              </a:rPr>
              <a:t>06</a:t>
            </a:r>
          </a:p>
        </p:txBody>
      </p:sp>
      <p:sp>
        <p:nvSpPr>
          <p:cNvPr id="41" name="TextBox 41"/>
          <p:cNvSpPr txBox="1"/>
          <p:nvPr/>
        </p:nvSpPr>
        <p:spPr>
          <a:xfrm>
            <a:off x="12287250" y="5467350"/>
            <a:ext cx="4467225" cy="357505"/>
          </a:xfrm>
          <a:prstGeom prst="rect">
            <a:avLst/>
          </a:prstGeom>
        </p:spPr>
        <p:txBody>
          <a:bodyPr lIns="0" tIns="0" rIns="0" bIns="0" rtlCol="0" anchor="t">
            <a:spAutoFit/>
          </a:bodyPr>
          <a:lstStyle/>
          <a:p>
            <a:pPr algn="l">
              <a:lnSpc>
                <a:spcPts val="2749"/>
              </a:lnSpc>
            </a:pPr>
            <a:r>
              <a:rPr lang="en-US" sz="2199" b="1">
                <a:solidFill>
                  <a:srgbClr val="123D2B"/>
                </a:solidFill>
                <a:latin typeface="Poppins Bold"/>
                <a:ea typeface="Poppins Bold"/>
                <a:cs typeface="Poppins Bold"/>
                <a:sym typeface="Poppins Bold"/>
              </a:rPr>
              <a:t>Agricultural Expenses</a:t>
            </a:r>
          </a:p>
        </p:txBody>
      </p:sp>
      <p:sp>
        <p:nvSpPr>
          <p:cNvPr id="42" name="TextBox 42"/>
          <p:cNvSpPr txBox="1"/>
          <p:nvPr/>
        </p:nvSpPr>
        <p:spPr>
          <a:xfrm>
            <a:off x="12287250" y="6086475"/>
            <a:ext cx="4467225" cy="560705"/>
          </a:xfrm>
          <a:prstGeom prst="rect">
            <a:avLst/>
          </a:prstGeom>
        </p:spPr>
        <p:txBody>
          <a:bodyPr lIns="0" tIns="0" rIns="0" bIns="0" rtlCol="0" anchor="t">
            <a:spAutoFit/>
          </a:bodyPr>
          <a:lstStyle/>
          <a:p>
            <a:pPr algn="l">
              <a:lnSpc>
                <a:spcPts val="2125"/>
              </a:lnSpc>
            </a:pPr>
            <a:r>
              <a:rPr lang="en-US" sz="1700">
                <a:solidFill>
                  <a:srgbClr val="5A6B60"/>
                </a:solidFill>
                <a:latin typeface="Poppins"/>
                <a:ea typeface="Poppins"/>
                <a:cs typeface="Poppins"/>
                <a:sym typeface="Poppins"/>
              </a:rPr>
              <a:t>Record crop inputs and manage agricultural expenses digitally.</a:t>
            </a:r>
          </a:p>
        </p:txBody>
      </p:sp>
      <p:grpSp>
        <p:nvGrpSpPr>
          <p:cNvPr id="43" name="Group 43"/>
          <p:cNvGrpSpPr/>
          <p:nvPr/>
        </p:nvGrpSpPr>
        <p:grpSpPr>
          <a:xfrm>
            <a:off x="876300" y="7477125"/>
            <a:ext cx="10572750" cy="2095500"/>
            <a:chOff x="0" y="0"/>
            <a:chExt cx="14097000" cy="2794000"/>
          </a:xfrm>
        </p:grpSpPr>
        <p:sp>
          <p:nvSpPr>
            <p:cNvPr id="44" name="Freeform 44"/>
            <p:cNvSpPr/>
            <p:nvPr/>
          </p:nvSpPr>
          <p:spPr>
            <a:xfrm>
              <a:off x="0" y="0"/>
              <a:ext cx="14097000" cy="2794000"/>
            </a:xfrm>
            <a:custGeom>
              <a:avLst/>
              <a:gdLst/>
              <a:ahLst/>
              <a:cxnLst/>
              <a:rect l="l" t="t" r="r" b="b"/>
              <a:pathLst>
                <a:path w="14097000" h="2794000">
                  <a:moveTo>
                    <a:pt x="228600" y="0"/>
                  </a:moveTo>
                  <a:lnTo>
                    <a:pt x="13868400" y="0"/>
                  </a:lnTo>
                  <a:cubicBezTo>
                    <a:pt x="13994653" y="0"/>
                    <a:pt x="14097000" y="102348"/>
                    <a:pt x="14097000" y="228600"/>
                  </a:cubicBezTo>
                  <a:lnTo>
                    <a:pt x="14097000" y="2565400"/>
                  </a:lnTo>
                  <a:cubicBezTo>
                    <a:pt x="14097000" y="2691652"/>
                    <a:pt x="13994653" y="2794000"/>
                    <a:pt x="13868400" y="2794000"/>
                  </a:cubicBezTo>
                  <a:lnTo>
                    <a:pt x="228600" y="2794000"/>
                  </a:lnTo>
                  <a:cubicBezTo>
                    <a:pt x="102348" y="2794000"/>
                    <a:pt x="0" y="2691652"/>
                    <a:pt x="0" y="2565400"/>
                  </a:cubicBezTo>
                  <a:lnTo>
                    <a:pt x="0" y="228600"/>
                  </a:lnTo>
                  <a:cubicBezTo>
                    <a:pt x="0" y="102348"/>
                    <a:pt x="102348" y="0"/>
                    <a:pt x="228600" y="0"/>
                  </a:cubicBezTo>
                  <a:close/>
                </a:path>
              </a:pathLst>
            </a:custGeom>
            <a:solidFill>
              <a:srgbClr val="FFFFFF"/>
            </a:solidFill>
            <a:ln w="9525" cap="sq">
              <a:solidFill>
                <a:srgbClr val="C9D7C5"/>
              </a:solidFill>
              <a:prstDash val="solid"/>
              <a:miter/>
            </a:ln>
          </p:spPr>
        </p:sp>
        <p:sp>
          <p:nvSpPr>
            <p:cNvPr id="45" name="TextBox 45"/>
            <p:cNvSpPr txBox="1"/>
            <p:nvPr/>
          </p:nvSpPr>
          <p:spPr>
            <a:xfrm>
              <a:off x="0" y="-38100"/>
              <a:ext cx="14097000" cy="2832100"/>
            </a:xfrm>
            <a:prstGeom prst="rect">
              <a:avLst/>
            </a:prstGeom>
          </p:spPr>
          <p:txBody>
            <a:bodyPr lIns="50800" tIns="50800" rIns="50800" bIns="50800" rtlCol="0" anchor="ctr"/>
            <a:lstStyle/>
            <a:p>
              <a:pPr algn="l">
                <a:lnSpc>
                  <a:spcPts val="1679"/>
                </a:lnSpc>
              </a:pPr>
              <a:endParaRPr/>
            </a:p>
          </p:txBody>
        </p:sp>
      </p:grpSp>
      <p:sp>
        <p:nvSpPr>
          <p:cNvPr id="46" name="TextBox 46"/>
          <p:cNvSpPr txBox="1"/>
          <p:nvPr/>
        </p:nvSpPr>
        <p:spPr>
          <a:xfrm>
            <a:off x="1143000" y="7677150"/>
            <a:ext cx="523875" cy="294005"/>
          </a:xfrm>
          <a:prstGeom prst="rect">
            <a:avLst/>
          </a:prstGeom>
        </p:spPr>
        <p:txBody>
          <a:bodyPr lIns="0" tIns="0" rIns="0" bIns="0" rtlCol="0" anchor="t">
            <a:spAutoFit/>
          </a:bodyPr>
          <a:lstStyle/>
          <a:p>
            <a:pPr algn="l">
              <a:lnSpc>
                <a:spcPts val="2125"/>
              </a:lnSpc>
            </a:pPr>
            <a:r>
              <a:rPr lang="en-US" sz="1700" b="1">
                <a:solidFill>
                  <a:srgbClr val="C7964A"/>
                </a:solidFill>
                <a:latin typeface="Poppins Bold"/>
                <a:ea typeface="Poppins Bold"/>
                <a:cs typeface="Poppins Bold"/>
                <a:sym typeface="Poppins Bold"/>
              </a:rPr>
              <a:t>07</a:t>
            </a:r>
          </a:p>
        </p:txBody>
      </p:sp>
      <p:sp>
        <p:nvSpPr>
          <p:cNvPr id="47" name="TextBox 47"/>
          <p:cNvSpPr txBox="1"/>
          <p:nvPr/>
        </p:nvSpPr>
        <p:spPr>
          <a:xfrm>
            <a:off x="1143000" y="8039100"/>
            <a:ext cx="10039350" cy="357505"/>
          </a:xfrm>
          <a:prstGeom prst="rect">
            <a:avLst/>
          </a:prstGeom>
        </p:spPr>
        <p:txBody>
          <a:bodyPr lIns="0" tIns="0" rIns="0" bIns="0" rtlCol="0" anchor="t">
            <a:spAutoFit/>
          </a:bodyPr>
          <a:lstStyle/>
          <a:p>
            <a:pPr algn="l">
              <a:lnSpc>
                <a:spcPts val="2749"/>
              </a:lnSpc>
            </a:pPr>
            <a:r>
              <a:rPr lang="en-US" sz="2199" b="1">
                <a:solidFill>
                  <a:srgbClr val="123D2B"/>
                </a:solidFill>
                <a:latin typeface="Poppins Bold"/>
                <a:ea typeface="Poppins Bold"/>
                <a:cs typeface="Poppins Bold"/>
                <a:sym typeface="Poppins Bold"/>
              </a:rPr>
              <a:t>AI Integration</a:t>
            </a:r>
          </a:p>
        </p:txBody>
      </p:sp>
      <p:sp>
        <p:nvSpPr>
          <p:cNvPr id="48" name="TextBox 48"/>
          <p:cNvSpPr txBox="1"/>
          <p:nvPr/>
        </p:nvSpPr>
        <p:spPr>
          <a:xfrm>
            <a:off x="1143000" y="8658225"/>
            <a:ext cx="10039350" cy="294005"/>
          </a:xfrm>
          <a:prstGeom prst="rect">
            <a:avLst/>
          </a:prstGeom>
        </p:spPr>
        <p:txBody>
          <a:bodyPr lIns="0" tIns="0" rIns="0" bIns="0" rtlCol="0" anchor="t">
            <a:spAutoFit/>
          </a:bodyPr>
          <a:lstStyle/>
          <a:p>
            <a:pPr algn="l">
              <a:lnSpc>
                <a:spcPts val="2125"/>
              </a:lnSpc>
            </a:pPr>
            <a:r>
              <a:rPr lang="en-US" sz="1700">
                <a:solidFill>
                  <a:srgbClr val="5A6B60"/>
                </a:solidFill>
                <a:latin typeface="Poppins"/>
                <a:ea typeface="Poppins"/>
                <a:cs typeface="Poppins"/>
                <a:sym typeface="Poppins"/>
              </a:rPr>
              <a:t>AI-powered functionality through Hugging Face integrated into the application workflow.</a:t>
            </a:r>
          </a:p>
        </p:txBody>
      </p:sp>
      <p:grpSp>
        <p:nvGrpSpPr>
          <p:cNvPr id="49" name="Group 49"/>
          <p:cNvGrpSpPr/>
          <p:nvPr/>
        </p:nvGrpSpPr>
        <p:grpSpPr>
          <a:xfrm>
            <a:off x="13049250" y="6858000"/>
            <a:ext cx="3429000" cy="3429000"/>
            <a:chOff x="0" y="0"/>
            <a:chExt cx="4572000" cy="4572000"/>
          </a:xfrm>
        </p:grpSpPr>
        <p:sp>
          <p:nvSpPr>
            <p:cNvPr id="50" name="Freeform 50"/>
            <p:cNvSpPr/>
            <p:nvPr/>
          </p:nvSpPr>
          <p:spPr>
            <a:xfrm>
              <a:off x="0" y="0"/>
              <a:ext cx="4572000" cy="4572000"/>
            </a:xfrm>
            <a:custGeom>
              <a:avLst/>
              <a:gdLst/>
              <a:ahLst/>
              <a:cxnLst/>
              <a:rect l="l" t="t" r="r" b="b"/>
              <a:pathLst>
                <a:path w="4572000" h="4572000">
                  <a:moveTo>
                    <a:pt x="0" y="2286000"/>
                  </a:moveTo>
                  <a:cubicBezTo>
                    <a:pt x="0" y="3548523"/>
                    <a:pt x="1023477" y="4572000"/>
                    <a:pt x="2286000" y="4572000"/>
                  </a:cubicBezTo>
                  <a:cubicBezTo>
                    <a:pt x="3548523" y="4572000"/>
                    <a:pt x="4572000" y="3548523"/>
                    <a:pt x="4572000" y="2286000"/>
                  </a:cubicBezTo>
                  <a:cubicBezTo>
                    <a:pt x="4572000" y="1023477"/>
                    <a:pt x="3548523" y="0"/>
                    <a:pt x="2286000" y="0"/>
                  </a:cubicBezTo>
                  <a:cubicBezTo>
                    <a:pt x="1023477" y="0"/>
                    <a:pt x="0" y="1023477"/>
                    <a:pt x="0" y="2286000"/>
                  </a:cubicBezTo>
                  <a:close/>
                </a:path>
              </a:pathLst>
            </a:custGeom>
            <a:blipFill>
              <a:blip r:embed="rId3">
                <a:alphaModFix amt="96000"/>
              </a:blip>
              <a:stretch>
                <a:fillRect l="-16666" r="-16666"/>
              </a:stretch>
            </a:blipFill>
          </p:spPr>
        </p:sp>
      </p:grpSp>
      <p:sp>
        <p:nvSpPr>
          <p:cNvPr id="51" name="Freeform 51"/>
          <p:cNvSpPr/>
          <p:nvPr/>
        </p:nvSpPr>
        <p:spPr>
          <a:xfrm>
            <a:off x="762000" y="8093448"/>
            <a:ext cx="1619250" cy="717177"/>
          </a:xfrm>
          <a:custGeom>
            <a:avLst/>
            <a:gdLst/>
            <a:ahLst/>
            <a:cxnLst/>
            <a:rect l="l" t="t" r="r" b="b"/>
            <a:pathLst>
              <a:path w="1619250" h="717177">
                <a:moveTo>
                  <a:pt x="0" y="717177"/>
                </a:moveTo>
                <a:quadBezTo>
                  <a:pt x="631031" y="-44823"/>
                  <a:pt x="1619250" y="2802"/>
                </a:quadBezTo>
              </a:path>
            </a:pathLst>
          </a:custGeom>
          <a:ln w="47625" cap="flat">
            <a:solidFill>
              <a:srgbClr val="2F6B45">
                <a:alpha val="74902"/>
              </a:srgbClr>
            </a:solidFill>
            <a:prstDash val="solid"/>
            <a:headEnd type="none" w="sm" len="sm"/>
            <a:tailEnd type="none" w="sm" len="sm"/>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5000"/>
            <a:lum/>
            <a:extLst>
              <a:ext uri="{BEBA8EAE-BF5A-486C-A8C5-ECC9F3942E4B}">
                <a14:imgProps xmlns:a14="http://schemas.microsoft.com/office/drawing/2010/main">
                  <a14:imgLayer r:embed="rId4">
                    <a14:imgEffect>
                      <a14:artisticPastelsSmooth trans="11000"/>
                    </a14:imgEffect>
                  </a14:imgLayer>
                </a14:imgProps>
              </a:ext>
            </a:extLst>
          </a:blip>
          <a:srcRect/>
          <a:tile tx="0" ty="0" sx="100000" sy="100000" flip="none" algn="tl"/>
        </a:blipFill>
        <a:effectLst/>
      </p:bgPr>
    </p:bg>
    <p:spTree>
      <p:nvGrpSpPr>
        <p:cNvPr id="1" name=""/>
        <p:cNvGrpSpPr/>
        <p:nvPr/>
      </p:nvGrpSpPr>
      <p:grpSpPr>
        <a:xfrm>
          <a:off x="0" y="0"/>
          <a:ext cx="0" cy="0"/>
          <a:chOff x="0" y="0"/>
          <a:chExt cx="0" cy="0"/>
        </a:xfrm>
      </p:grpSpPr>
      <p:sp>
        <p:nvSpPr>
          <p:cNvPr id="8" name="TextBox 8"/>
          <p:cNvSpPr txBox="1"/>
          <p:nvPr/>
        </p:nvSpPr>
        <p:spPr>
          <a:xfrm>
            <a:off x="1210426" y="247717"/>
            <a:ext cx="10477500" cy="2023311"/>
          </a:xfrm>
          <a:prstGeom prst="rect">
            <a:avLst/>
          </a:prstGeom>
        </p:spPr>
        <p:txBody>
          <a:bodyPr lIns="0" tIns="0" rIns="0" bIns="0" rtlCol="0" anchor="t">
            <a:spAutoFit/>
          </a:bodyPr>
          <a:lstStyle/>
          <a:p>
            <a:pPr>
              <a:lnSpc>
                <a:spcPts val="7827"/>
              </a:lnSpc>
            </a:pPr>
            <a:r>
              <a:rPr lang="en-US" sz="6000" b="1">
                <a:solidFill>
                  <a:srgbClr val="FFFFFF"/>
                </a:solidFill>
                <a:latin typeface="Poppins Bold"/>
                <a:ea typeface="Poppins Bold"/>
                <a:cs typeface="Poppins Bold"/>
                <a:sym typeface="Poppins Bold"/>
              </a:rPr>
              <a:t>How Intelligent Farm</a:t>
            </a:r>
          </a:p>
          <a:p>
            <a:pPr>
              <a:lnSpc>
                <a:spcPts val="7827"/>
              </a:lnSpc>
            </a:pPr>
            <a:r>
              <a:rPr lang="en-US" sz="6000" b="1">
                <a:solidFill>
                  <a:srgbClr val="FFFFFF"/>
                </a:solidFill>
                <a:latin typeface="Poppins Bold"/>
                <a:ea typeface="Poppins Bold"/>
                <a:cs typeface="Poppins Bold"/>
                <a:sym typeface="Poppins Bold"/>
              </a:rPr>
              <a:t>Operations Works :-</a:t>
            </a:r>
          </a:p>
        </p:txBody>
      </p:sp>
      <p:sp>
        <p:nvSpPr>
          <p:cNvPr id="9" name="TextBox 9"/>
          <p:cNvSpPr txBox="1"/>
          <p:nvPr/>
        </p:nvSpPr>
        <p:spPr>
          <a:xfrm>
            <a:off x="1301917" y="2473593"/>
            <a:ext cx="11430000" cy="357505"/>
          </a:xfrm>
          <a:prstGeom prst="rect">
            <a:avLst/>
          </a:prstGeom>
        </p:spPr>
        <p:txBody>
          <a:bodyPr lIns="0" tIns="0" rIns="0" bIns="0" rtlCol="0" anchor="t">
            <a:spAutoFit/>
          </a:bodyPr>
          <a:lstStyle/>
          <a:p>
            <a:pPr algn="l">
              <a:lnSpc>
                <a:spcPts val="2749"/>
              </a:lnSpc>
            </a:pPr>
            <a:r>
              <a:rPr lang="en-US" sz="2400" b="1">
                <a:solidFill>
                  <a:schemeClr val="bg1">
                    <a:lumMod val="85000"/>
                  </a:schemeClr>
                </a:solidFill>
                <a:latin typeface="Poppins"/>
                <a:ea typeface="Poppins"/>
                <a:cs typeface="Poppins"/>
                <a:sym typeface="Poppins"/>
              </a:rPr>
              <a:t>End-to-end user journey from registration to AI-assisted responses.</a:t>
            </a:r>
          </a:p>
        </p:txBody>
      </p:sp>
      <p:grpSp>
        <p:nvGrpSpPr>
          <p:cNvPr id="81" name="Group 10"/>
          <p:cNvGrpSpPr/>
          <p:nvPr/>
        </p:nvGrpSpPr>
        <p:grpSpPr>
          <a:xfrm>
            <a:off x="1063792" y="5143500"/>
            <a:ext cx="1666875" cy="1524000"/>
            <a:chOff x="0" y="0"/>
            <a:chExt cx="2222500" cy="2032000"/>
          </a:xfrm>
        </p:grpSpPr>
        <p:sp>
          <p:nvSpPr>
            <p:cNvPr id="82" name="Freeform 11"/>
            <p:cNvSpPr/>
            <p:nvPr/>
          </p:nvSpPr>
          <p:spPr>
            <a:xfrm>
              <a:off x="0" y="0"/>
              <a:ext cx="2222500" cy="2032000"/>
            </a:xfrm>
            <a:custGeom>
              <a:avLst/>
              <a:gdLst/>
              <a:ahLst/>
              <a:cxnLst/>
              <a:rect l="l" t="t" r="r" b="b"/>
              <a:pathLst>
                <a:path w="2222500" h="2032000">
                  <a:moveTo>
                    <a:pt x="254000" y="0"/>
                  </a:moveTo>
                  <a:lnTo>
                    <a:pt x="1968500" y="0"/>
                  </a:lnTo>
                  <a:cubicBezTo>
                    <a:pt x="2108780" y="0"/>
                    <a:pt x="2222500" y="113720"/>
                    <a:pt x="2222500" y="254000"/>
                  </a:cubicBezTo>
                  <a:lnTo>
                    <a:pt x="2222500" y="1778000"/>
                  </a:lnTo>
                  <a:cubicBezTo>
                    <a:pt x="2222500" y="1918280"/>
                    <a:pt x="2108780" y="2032000"/>
                    <a:pt x="1968500" y="2032000"/>
                  </a:cubicBezTo>
                  <a:lnTo>
                    <a:pt x="254000" y="2032000"/>
                  </a:lnTo>
                  <a:cubicBezTo>
                    <a:pt x="113720" y="2032000"/>
                    <a:pt x="0" y="1918280"/>
                    <a:pt x="0" y="1778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83" name="TextBox 12"/>
            <p:cNvSpPr txBox="1"/>
            <p:nvPr/>
          </p:nvSpPr>
          <p:spPr>
            <a:xfrm>
              <a:off x="0" y="-38100"/>
              <a:ext cx="2222500" cy="2070100"/>
            </a:xfrm>
            <a:prstGeom prst="rect">
              <a:avLst/>
            </a:prstGeom>
          </p:spPr>
          <p:txBody>
            <a:bodyPr lIns="50800" tIns="50800" rIns="50800" bIns="50800" rtlCol="0" anchor="ctr"/>
            <a:lstStyle/>
            <a:p>
              <a:pPr algn="l">
                <a:lnSpc>
                  <a:spcPts val="1679"/>
                </a:lnSpc>
              </a:pPr>
              <a:endParaRPr/>
            </a:p>
          </p:txBody>
        </p:sp>
      </p:grpSp>
      <p:grpSp>
        <p:nvGrpSpPr>
          <p:cNvPr id="84" name="Group 13"/>
          <p:cNvGrpSpPr/>
          <p:nvPr/>
        </p:nvGrpSpPr>
        <p:grpSpPr>
          <a:xfrm>
            <a:off x="1587667" y="5353050"/>
            <a:ext cx="619125" cy="323850"/>
            <a:chOff x="0" y="0"/>
            <a:chExt cx="825500" cy="431800"/>
          </a:xfrm>
        </p:grpSpPr>
        <p:sp>
          <p:nvSpPr>
            <p:cNvPr id="85" name="Freeform 14"/>
            <p:cNvSpPr/>
            <p:nvPr/>
          </p:nvSpPr>
          <p:spPr>
            <a:xfrm>
              <a:off x="0" y="0"/>
              <a:ext cx="825500" cy="431800"/>
            </a:xfrm>
            <a:custGeom>
              <a:avLst/>
              <a:gdLst/>
              <a:ahLst/>
              <a:cxnLst/>
              <a:rect l="l" t="t" r="r" b="b"/>
              <a:pathLst>
                <a:path w="825500" h="431800">
                  <a:moveTo>
                    <a:pt x="215900" y="0"/>
                  </a:moveTo>
                  <a:lnTo>
                    <a:pt x="609600" y="0"/>
                  </a:lnTo>
                  <a:cubicBezTo>
                    <a:pt x="728838" y="0"/>
                    <a:pt x="825500" y="96662"/>
                    <a:pt x="825500" y="215900"/>
                  </a:cubicBezTo>
                  <a:cubicBezTo>
                    <a:pt x="825500" y="335138"/>
                    <a:pt x="728838" y="431800"/>
                    <a:pt x="6096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86" name="TextBox 15"/>
            <p:cNvSpPr txBox="1"/>
            <p:nvPr/>
          </p:nvSpPr>
          <p:spPr>
            <a:xfrm>
              <a:off x="0" y="-47625"/>
              <a:ext cx="8255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01</a:t>
              </a:r>
            </a:p>
          </p:txBody>
        </p:sp>
      </p:grpSp>
      <p:sp>
        <p:nvSpPr>
          <p:cNvPr id="87" name="TextBox 16"/>
          <p:cNvSpPr txBox="1"/>
          <p:nvPr/>
        </p:nvSpPr>
        <p:spPr>
          <a:xfrm>
            <a:off x="1235242" y="5991225"/>
            <a:ext cx="1323975" cy="302895"/>
          </a:xfrm>
          <a:prstGeom prst="rect">
            <a:avLst/>
          </a:prstGeom>
        </p:spPr>
        <p:txBody>
          <a:bodyPr lIns="0" tIns="0" rIns="0" bIns="0" rtlCol="0" anchor="t">
            <a:spAutoFit/>
          </a:bodyPr>
          <a:lstStyle/>
          <a:p>
            <a:pPr algn="ctr">
              <a:lnSpc>
                <a:spcPts val="2250"/>
              </a:lnSpc>
            </a:pPr>
            <a:r>
              <a:rPr lang="en-US" sz="1800" b="1">
                <a:solidFill>
                  <a:srgbClr val="123D2B"/>
                </a:solidFill>
                <a:latin typeface="Poppins Bold"/>
                <a:ea typeface="Poppins Bold"/>
                <a:cs typeface="Poppins Bold"/>
                <a:sym typeface="Poppins Bold"/>
              </a:rPr>
              <a:t>Register</a:t>
            </a:r>
          </a:p>
        </p:txBody>
      </p:sp>
      <p:sp>
        <p:nvSpPr>
          <p:cNvPr id="88" name="TextBox 17"/>
          <p:cNvSpPr txBox="1"/>
          <p:nvPr/>
        </p:nvSpPr>
        <p:spPr>
          <a:xfrm>
            <a:off x="1235242" y="6315075"/>
            <a:ext cx="1323975" cy="210820"/>
          </a:xfrm>
          <a:prstGeom prst="rect">
            <a:avLst/>
          </a:prstGeom>
        </p:spPr>
        <p:txBody>
          <a:bodyPr lIns="0" tIns="0" rIns="0" bIns="0" rtlCol="0" anchor="t">
            <a:spAutoFit/>
          </a:bodyPr>
          <a:lstStyle/>
          <a:p>
            <a:pPr algn="ctr">
              <a:lnSpc>
                <a:spcPts val="1624"/>
              </a:lnSpc>
            </a:pPr>
            <a:r>
              <a:rPr lang="en-US" sz="1299">
                <a:solidFill>
                  <a:srgbClr val="5A6B60"/>
                </a:solidFill>
                <a:latin typeface="Poppins"/>
                <a:ea typeface="Poppins"/>
                <a:cs typeface="Poppins"/>
                <a:sym typeface="Poppins"/>
              </a:rPr>
              <a:t>person</a:t>
            </a:r>
          </a:p>
        </p:txBody>
      </p:sp>
      <p:sp>
        <p:nvSpPr>
          <p:cNvPr id="89" name="AutoShape 18"/>
          <p:cNvSpPr/>
          <p:nvPr/>
        </p:nvSpPr>
        <p:spPr>
          <a:xfrm>
            <a:off x="2730667" y="5905500"/>
            <a:ext cx="447675" cy="0"/>
          </a:xfrm>
          <a:prstGeom prst="line">
            <a:avLst/>
          </a:prstGeom>
          <a:ln w="38100" cap="flat">
            <a:solidFill>
              <a:srgbClr val="C7964A"/>
            </a:solidFill>
            <a:prstDash val="solid"/>
            <a:headEnd type="none" w="sm" len="sm"/>
            <a:tailEnd type="arrow" w="med" len="sm"/>
          </a:ln>
        </p:spPr>
      </p:sp>
      <p:grpSp>
        <p:nvGrpSpPr>
          <p:cNvPr id="90" name="Group 19"/>
          <p:cNvGrpSpPr/>
          <p:nvPr/>
        </p:nvGrpSpPr>
        <p:grpSpPr>
          <a:xfrm>
            <a:off x="3206917" y="5143500"/>
            <a:ext cx="1666875" cy="1524000"/>
            <a:chOff x="0" y="0"/>
            <a:chExt cx="2222500" cy="2032000"/>
          </a:xfrm>
        </p:grpSpPr>
        <p:sp>
          <p:nvSpPr>
            <p:cNvPr id="91" name="Freeform 20"/>
            <p:cNvSpPr/>
            <p:nvPr/>
          </p:nvSpPr>
          <p:spPr>
            <a:xfrm>
              <a:off x="0" y="0"/>
              <a:ext cx="2222500" cy="2032000"/>
            </a:xfrm>
            <a:custGeom>
              <a:avLst/>
              <a:gdLst/>
              <a:ahLst/>
              <a:cxnLst/>
              <a:rect l="l" t="t" r="r" b="b"/>
              <a:pathLst>
                <a:path w="2222500" h="2032000">
                  <a:moveTo>
                    <a:pt x="254000" y="0"/>
                  </a:moveTo>
                  <a:lnTo>
                    <a:pt x="1968500" y="0"/>
                  </a:lnTo>
                  <a:cubicBezTo>
                    <a:pt x="2108780" y="0"/>
                    <a:pt x="2222500" y="113720"/>
                    <a:pt x="2222500" y="254000"/>
                  </a:cubicBezTo>
                  <a:lnTo>
                    <a:pt x="2222500" y="1778000"/>
                  </a:lnTo>
                  <a:cubicBezTo>
                    <a:pt x="2222500" y="1918280"/>
                    <a:pt x="2108780" y="2032000"/>
                    <a:pt x="1968500" y="2032000"/>
                  </a:cubicBezTo>
                  <a:lnTo>
                    <a:pt x="254000" y="2032000"/>
                  </a:lnTo>
                  <a:cubicBezTo>
                    <a:pt x="113720" y="2032000"/>
                    <a:pt x="0" y="1918280"/>
                    <a:pt x="0" y="1778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92" name="TextBox 21"/>
            <p:cNvSpPr txBox="1"/>
            <p:nvPr/>
          </p:nvSpPr>
          <p:spPr>
            <a:xfrm>
              <a:off x="0" y="-38100"/>
              <a:ext cx="2222500" cy="2070100"/>
            </a:xfrm>
            <a:prstGeom prst="rect">
              <a:avLst/>
            </a:prstGeom>
          </p:spPr>
          <p:txBody>
            <a:bodyPr lIns="50800" tIns="50800" rIns="50800" bIns="50800" rtlCol="0" anchor="ctr"/>
            <a:lstStyle/>
            <a:p>
              <a:pPr algn="l">
                <a:lnSpc>
                  <a:spcPts val="1679"/>
                </a:lnSpc>
              </a:pPr>
              <a:endParaRPr/>
            </a:p>
          </p:txBody>
        </p:sp>
      </p:grpSp>
      <p:grpSp>
        <p:nvGrpSpPr>
          <p:cNvPr id="93" name="Group 22"/>
          <p:cNvGrpSpPr/>
          <p:nvPr/>
        </p:nvGrpSpPr>
        <p:grpSpPr>
          <a:xfrm>
            <a:off x="3730792" y="5353050"/>
            <a:ext cx="619125" cy="323850"/>
            <a:chOff x="0" y="0"/>
            <a:chExt cx="825500" cy="431800"/>
          </a:xfrm>
        </p:grpSpPr>
        <p:sp>
          <p:nvSpPr>
            <p:cNvPr id="94" name="Freeform 23"/>
            <p:cNvSpPr/>
            <p:nvPr/>
          </p:nvSpPr>
          <p:spPr>
            <a:xfrm>
              <a:off x="0" y="0"/>
              <a:ext cx="825500" cy="431800"/>
            </a:xfrm>
            <a:custGeom>
              <a:avLst/>
              <a:gdLst/>
              <a:ahLst/>
              <a:cxnLst/>
              <a:rect l="l" t="t" r="r" b="b"/>
              <a:pathLst>
                <a:path w="825500" h="431800">
                  <a:moveTo>
                    <a:pt x="215900" y="0"/>
                  </a:moveTo>
                  <a:lnTo>
                    <a:pt x="609600" y="0"/>
                  </a:lnTo>
                  <a:cubicBezTo>
                    <a:pt x="728838" y="0"/>
                    <a:pt x="825500" y="96662"/>
                    <a:pt x="825500" y="215900"/>
                  </a:cubicBezTo>
                  <a:cubicBezTo>
                    <a:pt x="825500" y="335138"/>
                    <a:pt x="728838" y="431800"/>
                    <a:pt x="6096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95" name="TextBox 24"/>
            <p:cNvSpPr txBox="1"/>
            <p:nvPr/>
          </p:nvSpPr>
          <p:spPr>
            <a:xfrm>
              <a:off x="0" y="-47625"/>
              <a:ext cx="8255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02</a:t>
              </a:r>
            </a:p>
          </p:txBody>
        </p:sp>
      </p:grpSp>
      <p:sp>
        <p:nvSpPr>
          <p:cNvPr id="96" name="TextBox 25"/>
          <p:cNvSpPr txBox="1"/>
          <p:nvPr/>
        </p:nvSpPr>
        <p:spPr>
          <a:xfrm>
            <a:off x="3378367" y="5991225"/>
            <a:ext cx="1323975" cy="302895"/>
          </a:xfrm>
          <a:prstGeom prst="rect">
            <a:avLst/>
          </a:prstGeom>
        </p:spPr>
        <p:txBody>
          <a:bodyPr lIns="0" tIns="0" rIns="0" bIns="0" rtlCol="0" anchor="t">
            <a:spAutoFit/>
          </a:bodyPr>
          <a:lstStyle/>
          <a:p>
            <a:pPr algn="ctr">
              <a:lnSpc>
                <a:spcPts val="2250"/>
              </a:lnSpc>
            </a:pPr>
            <a:r>
              <a:rPr lang="en-US" sz="1800" b="1">
                <a:solidFill>
                  <a:srgbClr val="123D2B"/>
                </a:solidFill>
                <a:latin typeface="Poppins Bold"/>
                <a:ea typeface="Poppins Bold"/>
                <a:cs typeface="Poppins Bold"/>
                <a:sym typeface="Poppins Bold"/>
              </a:rPr>
              <a:t>Login</a:t>
            </a:r>
          </a:p>
        </p:txBody>
      </p:sp>
      <p:sp>
        <p:nvSpPr>
          <p:cNvPr id="97" name="TextBox 26"/>
          <p:cNvSpPr txBox="1"/>
          <p:nvPr/>
        </p:nvSpPr>
        <p:spPr>
          <a:xfrm>
            <a:off x="3378367" y="6315075"/>
            <a:ext cx="1323975" cy="210820"/>
          </a:xfrm>
          <a:prstGeom prst="rect">
            <a:avLst/>
          </a:prstGeom>
        </p:spPr>
        <p:txBody>
          <a:bodyPr lIns="0" tIns="0" rIns="0" bIns="0" rtlCol="0" anchor="t">
            <a:spAutoFit/>
          </a:bodyPr>
          <a:lstStyle/>
          <a:p>
            <a:pPr algn="ctr">
              <a:lnSpc>
                <a:spcPts val="1624"/>
              </a:lnSpc>
            </a:pPr>
            <a:r>
              <a:rPr lang="en-US" sz="1299">
                <a:solidFill>
                  <a:srgbClr val="5A6B60"/>
                </a:solidFill>
                <a:latin typeface="Poppins"/>
                <a:ea typeface="Poppins"/>
                <a:cs typeface="Poppins"/>
                <a:sym typeface="Poppins"/>
              </a:rPr>
              <a:t>lock</a:t>
            </a:r>
          </a:p>
        </p:txBody>
      </p:sp>
      <p:sp>
        <p:nvSpPr>
          <p:cNvPr id="98" name="AutoShape 27"/>
          <p:cNvSpPr/>
          <p:nvPr/>
        </p:nvSpPr>
        <p:spPr>
          <a:xfrm>
            <a:off x="4873792" y="5905500"/>
            <a:ext cx="447675" cy="0"/>
          </a:xfrm>
          <a:prstGeom prst="line">
            <a:avLst/>
          </a:prstGeom>
          <a:ln w="38100" cap="flat">
            <a:solidFill>
              <a:srgbClr val="C7964A"/>
            </a:solidFill>
            <a:prstDash val="solid"/>
            <a:headEnd type="none" w="sm" len="sm"/>
            <a:tailEnd type="arrow" w="med" len="sm"/>
          </a:ln>
        </p:spPr>
      </p:sp>
      <p:grpSp>
        <p:nvGrpSpPr>
          <p:cNvPr id="99" name="Group 28"/>
          <p:cNvGrpSpPr/>
          <p:nvPr/>
        </p:nvGrpSpPr>
        <p:grpSpPr>
          <a:xfrm>
            <a:off x="5350042" y="5143500"/>
            <a:ext cx="1666875" cy="1524000"/>
            <a:chOff x="0" y="0"/>
            <a:chExt cx="2222500" cy="2032000"/>
          </a:xfrm>
        </p:grpSpPr>
        <p:sp>
          <p:nvSpPr>
            <p:cNvPr id="100" name="Freeform 29"/>
            <p:cNvSpPr/>
            <p:nvPr/>
          </p:nvSpPr>
          <p:spPr>
            <a:xfrm>
              <a:off x="0" y="0"/>
              <a:ext cx="2222500" cy="2032000"/>
            </a:xfrm>
            <a:custGeom>
              <a:avLst/>
              <a:gdLst/>
              <a:ahLst/>
              <a:cxnLst/>
              <a:rect l="l" t="t" r="r" b="b"/>
              <a:pathLst>
                <a:path w="2222500" h="2032000">
                  <a:moveTo>
                    <a:pt x="254000" y="0"/>
                  </a:moveTo>
                  <a:lnTo>
                    <a:pt x="1968500" y="0"/>
                  </a:lnTo>
                  <a:cubicBezTo>
                    <a:pt x="2108780" y="0"/>
                    <a:pt x="2222500" y="113720"/>
                    <a:pt x="2222500" y="254000"/>
                  </a:cubicBezTo>
                  <a:lnTo>
                    <a:pt x="2222500" y="1778000"/>
                  </a:lnTo>
                  <a:cubicBezTo>
                    <a:pt x="2222500" y="1918280"/>
                    <a:pt x="2108780" y="2032000"/>
                    <a:pt x="1968500" y="2032000"/>
                  </a:cubicBezTo>
                  <a:lnTo>
                    <a:pt x="254000" y="2032000"/>
                  </a:lnTo>
                  <a:cubicBezTo>
                    <a:pt x="113720" y="2032000"/>
                    <a:pt x="0" y="1918280"/>
                    <a:pt x="0" y="1778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101" name="TextBox 30"/>
            <p:cNvSpPr txBox="1"/>
            <p:nvPr/>
          </p:nvSpPr>
          <p:spPr>
            <a:xfrm>
              <a:off x="0" y="-38100"/>
              <a:ext cx="2222500" cy="2070100"/>
            </a:xfrm>
            <a:prstGeom prst="rect">
              <a:avLst/>
            </a:prstGeom>
          </p:spPr>
          <p:txBody>
            <a:bodyPr lIns="50800" tIns="50800" rIns="50800" bIns="50800" rtlCol="0" anchor="ctr"/>
            <a:lstStyle/>
            <a:p>
              <a:pPr algn="l">
                <a:lnSpc>
                  <a:spcPts val="1679"/>
                </a:lnSpc>
              </a:pPr>
              <a:endParaRPr/>
            </a:p>
          </p:txBody>
        </p:sp>
      </p:grpSp>
      <p:grpSp>
        <p:nvGrpSpPr>
          <p:cNvPr id="102" name="Group 31"/>
          <p:cNvGrpSpPr/>
          <p:nvPr/>
        </p:nvGrpSpPr>
        <p:grpSpPr>
          <a:xfrm>
            <a:off x="5873917" y="5353050"/>
            <a:ext cx="619125" cy="323850"/>
            <a:chOff x="0" y="0"/>
            <a:chExt cx="825500" cy="431800"/>
          </a:xfrm>
        </p:grpSpPr>
        <p:sp>
          <p:nvSpPr>
            <p:cNvPr id="103" name="Freeform 32"/>
            <p:cNvSpPr/>
            <p:nvPr/>
          </p:nvSpPr>
          <p:spPr>
            <a:xfrm>
              <a:off x="0" y="0"/>
              <a:ext cx="825500" cy="431800"/>
            </a:xfrm>
            <a:custGeom>
              <a:avLst/>
              <a:gdLst/>
              <a:ahLst/>
              <a:cxnLst/>
              <a:rect l="l" t="t" r="r" b="b"/>
              <a:pathLst>
                <a:path w="825500" h="431800">
                  <a:moveTo>
                    <a:pt x="215900" y="0"/>
                  </a:moveTo>
                  <a:lnTo>
                    <a:pt x="609600" y="0"/>
                  </a:lnTo>
                  <a:cubicBezTo>
                    <a:pt x="728838" y="0"/>
                    <a:pt x="825500" y="96662"/>
                    <a:pt x="825500" y="215900"/>
                  </a:cubicBezTo>
                  <a:cubicBezTo>
                    <a:pt x="825500" y="335138"/>
                    <a:pt x="728838" y="431800"/>
                    <a:pt x="6096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104" name="TextBox 33"/>
            <p:cNvSpPr txBox="1"/>
            <p:nvPr/>
          </p:nvSpPr>
          <p:spPr>
            <a:xfrm>
              <a:off x="0" y="-47625"/>
              <a:ext cx="8255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03</a:t>
              </a:r>
            </a:p>
          </p:txBody>
        </p:sp>
      </p:grpSp>
      <p:sp>
        <p:nvSpPr>
          <p:cNvPr id="105" name="TextBox 34"/>
          <p:cNvSpPr txBox="1"/>
          <p:nvPr/>
        </p:nvSpPr>
        <p:spPr>
          <a:xfrm>
            <a:off x="5521492" y="5991225"/>
            <a:ext cx="1323975" cy="302895"/>
          </a:xfrm>
          <a:prstGeom prst="rect">
            <a:avLst/>
          </a:prstGeom>
        </p:spPr>
        <p:txBody>
          <a:bodyPr lIns="0" tIns="0" rIns="0" bIns="0" rtlCol="0" anchor="t">
            <a:spAutoFit/>
          </a:bodyPr>
          <a:lstStyle/>
          <a:p>
            <a:pPr algn="ctr">
              <a:lnSpc>
                <a:spcPts val="2250"/>
              </a:lnSpc>
            </a:pPr>
            <a:r>
              <a:rPr lang="en-US" sz="1800" b="1">
                <a:solidFill>
                  <a:srgbClr val="123D2B"/>
                </a:solidFill>
                <a:latin typeface="Poppins Bold"/>
                <a:ea typeface="Poppins Bold"/>
                <a:cs typeface="Poppins Bold"/>
                <a:sym typeface="Poppins Bold"/>
              </a:rPr>
              <a:t>Dashboard</a:t>
            </a:r>
          </a:p>
        </p:txBody>
      </p:sp>
      <p:sp>
        <p:nvSpPr>
          <p:cNvPr id="106" name="TextBox 35"/>
          <p:cNvSpPr txBox="1"/>
          <p:nvPr/>
        </p:nvSpPr>
        <p:spPr>
          <a:xfrm>
            <a:off x="5521492" y="6315075"/>
            <a:ext cx="1323975" cy="210820"/>
          </a:xfrm>
          <a:prstGeom prst="rect">
            <a:avLst/>
          </a:prstGeom>
        </p:spPr>
        <p:txBody>
          <a:bodyPr lIns="0" tIns="0" rIns="0" bIns="0" rtlCol="0" anchor="t">
            <a:spAutoFit/>
          </a:bodyPr>
          <a:lstStyle/>
          <a:p>
            <a:pPr algn="ctr">
              <a:lnSpc>
                <a:spcPts val="1624"/>
              </a:lnSpc>
            </a:pPr>
            <a:r>
              <a:rPr lang="en-US" sz="1299">
                <a:solidFill>
                  <a:srgbClr val="5A6B60"/>
                </a:solidFill>
                <a:latin typeface="Poppins"/>
                <a:ea typeface="Poppins"/>
                <a:cs typeface="Poppins"/>
                <a:sym typeface="Poppins"/>
              </a:rPr>
              <a:t>dashboard</a:t>
            </a:r>
          </a:p>
        </p:txBody>
      </p:sp>
      <p:sp>
        <p:nvSpPr>
          <p:cNvPr id="107" name="AutoShape 36"/>
          <p:cNvSpPr/>
          <p:nvPr/>
        </p:nvSpPr>
        <p:spPr>
          <a:xfrm>
            <a:off x="7016917" y="5905500"/>
            <a:ext cx="447675" cy="0"/>
          </a:xfrm>
          <a:prstGeom prst="line">
            <a:avLst/>
          </a:prstGeom>
          <a:ln w="38100" cap="flat">
            <a:solidFill>
              <a:srgbClr val="C7964A"/>
            </a:solidFill>
            <a:prstDash val="solid"/>
            <a:headEnd type="none" w="sm" len="sm"/>
            <a:tailEnd type="arrow" w="med" len="sm"/>
          </a:ln>
        </p:spPr>
      </p:sp>
      <p:grpSp>
        <p:nvGrpSpPr>
          <p:cNvPr id="108" name="Group 37"/>
          <p:cNvGrpSpPr/>
          <p:nvPr/>
        </p:nvGrpSpPr>
        <p:grpSpPr>
          <a:xfrm>
            <a:off x="7493167" y="5143500"/>
            <a:ext cx="1666875" cy="1524000"/>
            <a:chOff x="0" y="0"/>
            <a:chExt cx="2222500" cy="2032000"/>
          </a:xfrm>
        </p:grpSpPr>
        <p:sp>
          <p:nvSpPr>
            <p:cNvPr id="109" name="Freeform 38"/>
            <p:cNvSpPr/>
            <p:nvPr/>
          </p:nvSpPr>
          <p:spPr>
            <a:xfrm>
              <a:off x="0" y="0"/>
              <a:ext cx="2222500" cy="2032000"/>
            </a:xfrm>
            <a:custGeom>
              <a:avLst/>
              <a:gdLst/>
              <a:ahLst/>
              <a:cxnLst/>
              <a:rect l="l" t="t" r="r" b="b"/>
              <a:pathLst>
                <a:path w="2222500" h="2032000">
                  <a:moveTo>
                    <a:pt x="254000" y="0"/>
                  </a:moveTo>
                  <a:lnTo>
                    <a:pt x="1968500" y="0"/>
                  </a:lnTo>
                  <a:cubicBezTo>
                    <a:pt x="2108780" y="0"/>
                    <a:pt x="2222500" y="113720"/>
                    <a:pt x="2222500" y="254000"/>
                  </a:cubicBezTo>
                  <a:lnTo>
                    <a:pt x="2222500" y="1778000"/>
                  </a:lnTo>
                  <a:cubicBezTo>
                    <a:pt x="2222500" y="1918280"/>
                    <a:pt x="2108780" y="2032000"/>
                    <a:pt x="1968500" y="2032000"/>
                  </a:cubicBezTo>
                  <a:lnTo>
                    <a:pt x="254000" y="2032000"/>
                  </a:lnTo>
                  <a:cubicBezTo>
                    <a:pt x="113720" y="2032000"/>
                    <a:pt x="0" y="1918280"/>
                    <a:pt x="0" y="1778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110" name="TextBox 39"/>
            <p:cNvSpPr txBox="1"/>
            <p:nvPr/>
          </p:nvSpPr>
          <p:spPr>
            <a:xfrm>
              <a:off x="0" y="-38100"/>
              <a:ext cx="2222500" cy="2070100"/>
            </a:xfrm>
            <a:prstGeom prst="rect">
              <a:avLst/>
            </a:prstGeom>
          </p:spPr>
          <p:txBody>
            <a:bodyPr lIns="50800" tIns="50800" rIns="50800" bIns="50800" rtlCol="0" anchor="ctr"/>
            <a:lstStyle/>
            <a:p>
              <a:pPr algn="l">
                <a:lnSpc>
                  <a:spcPts val="1679"/>
                </a:lnSpc>
              </a:pPr>
              <a:endParaRPr/>
            </a:p>
          </p:txBody>
        </p:sp>
      </p:grpSp>
      <p:grpSp>
        <p:nvGrpSpPr>
          <p:cNvPr id="111" name="Group 40"/>
          <p:cNvGrpSpPr/>
          <p:nvPr/>
        </p:nvGrpSpPr>
        <p:grpSpPr>
          <a:xfrm>
            <a:off x="8017042" y="5353050"/>
            <a:ext cx="619125" cy="323850"/>
            <a:chOff x="0" y="0"/>
            <a:chExt cx="825500" cy="431800"/>
          </a:xfrm>
        </p:grpSpPr>
        <p:sp>
          <p:nvSpPr>
            <p:cNvPr id="112" name="Freeform 41"/>
            <p:cNvSpPr/>
            <p:nvPr/>
          </p:nvSpPr>
          <p:spPr>
            <a:xfrm>
              <a:off x="0" y="0"/>
              <a:ext cx="825500" cy="431800"/>
            </a:xfrm>
            <a:custGeom>
              <a:avLst/>
              <a:gdLst/>
              <a:ahLst/>
              <a:cxnLst/>
              <a:rect l="l" t="t" r="r" b="b"/>
              <a:pathLst>
                <a:path w="825500" h="431800">
                  <a:moveTo>
                    <a:pt x="215900" y="0"/>
                  </a:moveTo>
                  <a:lnTo>
                    <a:pt x="609600" y="0"/>
                  </a:lnTo>
                  <a:cubicBezTo>
                    <a:pt x="728838" y="0"/>
                    <a:pt x="825500" y="96662"/>
                    <a:pt x="825500" y="215900"/>
                  </a:cubicBezTo>
                  <a:cubicBezTo>
                    <a:pt x="825500" y="335138"/>
                    <a:pt x="728838" y="431800"/>
                    <a:pt x="6096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113" name="TextBox 42"/>
            <p:cNvSpPr txBox="1"/>
            <p:nvPr/>
          </p:nvSpPr>
          <p:spPr>
            <a:xfrm>
              <a:off x="0" y="-47625"/>
              <a:ext cx="8255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04</a:t>
              </a:r>
            </a:p>
          </p:txBody>
        </p:sp>
      </p:grpSp>
      <p:sp>
        <p:nvSpPr>
          <p:cNvPr id="114" name="TextBox 43"/>
          <p:cNvSpPr txBox="1"/>
          <p:nvPr/>
        </p:nvSpPr>
        <p:spPr>
          <a:xfrm>
            <a:off x="7664617" y="6000750"/>
            <a:ext cx="1323975" cy="220062"/>
          </a:xfrm>
          <a:prstGeom prst="rect">
            <a:avLst/>
          </a:prstGeom>
        </p:spPr>
        <p:txBody>
          <a:bodyPr lIns="0" tIns="0" rIns="0" bIns="0" rtlCol="0" anchor="t">
            <a:spAutoFit/>
          </a:bodyPr>
          <a:lstStyle/>
          <a:p>
            <a:pPr algn="ctr">
              <a:lnSpc>
                <a:spcPts val="1680"/>
              </a:lnSpc>
            </a:pPr>
            <a:r>
              <a:rPr lang="en-US" sz="1344" b="1">
                <a:solidFill>
                  <a:srgbClr val="123D2B"/>
                </a:solidFill>
                <a:latin typeface="Poppins Bold"/>
                <a:ea typeface="Poppins Bold"/>
                <a:cs typeface="Poppins Bold"/>
                <a:sym typeface="Poppins Bold"/>
              </a:rPr>
              <a:t>Manage Farms</a:t>
            </a:r>
          </a:p>
        </p:txBody>
      </p:sp>
      <p:sp>
        <p:nvSpPr>
          <p:cNvPr id="115" name="TextBox 44"/>
          <p:cNvSpPr txBox="1"/>
          <p:nvPr/>
        </p:nvSpPr>
        <p:spPr>
          <a:xfrm>
            <a:off x="7664617" y="6315075"/>
            <a:ext cx="1323975" cy="210820"/>
          </a:xfrm>
          <a:prstGeom prst="rect">
            <a:avLst/>
          </a:prstGeom>
        </p:spPr>
        <p:txBody>
          <a:bodyPr lIns="0" tIns="0" rIns="0" bIns="0" rtlCol="0" anchor="t">
            <a:spAutoFit/>
          </a:bodyPr>
          <a:lstStyle/>
          <a:p>
            <a:pPr algn="ctr">
              <a:lnSpc>
                <a:spcPts val="1624"/>
              </a:lnSpc>
            </a:pPr>
            <a:r>
              <a:rPr lang="en-US" sz="1299">
                <a:solidFill>
                  <a:srgbClr val="5A6B60"/>
                </a:solidFill>
                <a:latin typeface="Poppins"/>
                <a:ea typeface="Poppins"/>
                <a:cs typeface="Poppins"/>
                <a:sym typeface="Poppins"/>
              </a:rPr>
              <a:t>farm</a:t>
            </a:r>
          </a:p>
        </p:txBody>
      </p:sp>
      <p:sp>
        <p:nvSpPr>
          <p:cNvPr id="116" name="AutoShape 45"/>
          <p:cNvSpPr/>
          <p:nvPr/>
        </p:nvSpPr>
        <p:spPr>
          <a:xfrm>
            <a:off x="9160042" y="5905500"/>
            <a:ext cx="447675" cy="0"/>
          </a:xfrm>
          <a:prstGeom prst="line">
            <a:avLst/>
          </a:prstGeom>
          <a:ln w="38100" cap="flat">
            <a:solidFill>
              <a:srgbClr val="C7964A"/>
            </a:solidFill>
            <a:prstDash val="solid"/>
            <a:headEnd type="none" w="sm" len="sm"/>
            <a:tailEnd type="arrow" w="med" len="sm"/>
          </a:ln>
        </p:spPr>
      </p:sp>
      <p:grpSp>
        <p:nvGrpSpPr>
          <p:cNvPr id="117" name="Group 46"/>
          <p:cNvGrpSpPr/>
          <p:nvPr/>
        </p:nvGrpSpPr>
        <p:grpSpPr>
          <a:xfrm>
            <a:off x="9636292" y="5143500"/>
            <a:ext cx="1666875" cy="1524000"/>
            <a:chOff x="0" y="0"/>
            <a:chExt cx="2222500" cy="2032000"/>
          </a:xfrm>
        </p:grpSpPr>
        <p:sp>
          <p:nvSpPr>
            <p:cNvPr id="118" name="Freeform 47"/>
            <p:cNvSpPr/>
            <p:nvPr/>
          </p:nvSpPr>
          <p:spPr>
            <a:xfrm>
              <a:off x="0" y="0"/>
              <a:ext cx="2222500" cy="2032000"/>
            </a:xfrm>
            <a:custGeom>
              <a:avLst/>
              <a:gdLst/>
              <a:ahLst/>
              <a:cxnLst/>
              <a:rect l="l" t="t" r="r" b="b"/>
              <a:pathLst>
                <a:path w="2222500" h="2032000">
                  <a:moveTo>
                    <a:pt x="254000" y="0"/>
                  </a:moveTo>
                  <a:lnTo>
                    <a:pt x="1968500" y="0"/>
                  </a:lnTo>
                  <a:cubicBezTo>
                    <a:pt x="2108780" y="0"/>
                    <a:pt x="2222500" y="113720"/>
                    <a:pt x="2222500" y="254000"/>
                  </a:cubicBezTo>
                  <a:lnTo>
                    <a:pt x="2222500" y="1778000"/>
                  </a:lnTo>
                  <a:cubicBezTo>
                    <a:pt x="2222500" y="1918280"/>
                    <a:pt x="2108780" y="2032000"/>
                    <a:pt x="1968500" y="2032000"/>
                  </a:cubicBezTo>
                  <a:lnTo>
                    <a:pt x="254000" y="2032000"/>
                  </a:lnTo>
                  <a:cubicBezTo>
                    <a:pt x="113720" y="2032000"/>
                    <a:pt x="0" y="1918280"/>
                    <a:pt x="0" y="1778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119" name="TextBox 48"/>
            <p:cNvSpPr txBox="1"/>
            <p:nvPr/>
          </p:nvSpPr>
          <p:spPr>
            <a:xfrm>
              <a:off x="0" y="-38100"/>
              <a:ext cx="2222500" cy="2070100"/>
            </a:xfrm>
            <a:prstGeom prst="rect">
              <a:avLst/>
            </a:prstGeom>
          </p:spPr>
          <p:txBody>
            <a:bodyPr lIns="50800" tIns="50800" rIns="50800" bIns="50800" rtlCol="0" anchor="ctr"/>
            <a:lstStyle/>
            <a:p>
              <a:pPr algn="l">
                <a:lnSpc>
                  <a:spcPts val="1679"/>
                </a:lnSpc>
              </a:pPr>
              <a:endParaRPr/>
            </a:p>
          </p:txBody>
        </p:sp>
      </p:grpSp>
      <p:grpSp>
        <p:nvGrpSpPr>
          <p:cNvPr id="120" name="Group 49"/>
          <p:cNvGrpSpPr/>
          <p:nvPr/>
        </p:nvGrpSpPr>
        <p:grpSpPr>
          <a:xfrm>
            <a:off x="10160167" y="5353050"/>
            <a:ext cx="619125" cy="323850"/>
            <a:chOff x="0" y="0"/>
            <a:chExt cx="825500" cy="431800"/>
          </a:xfrm>
        </p:grpSpPr>
        <p:sp>
          <p:nvSpPr>
            <p:cNvPr id="121" name="Freeform 50"/>
            <p:cNvSpPr/>
            <p:nvPr/>
          </p:nvSpPr>
          <p:spPr>
            <a:xfrm>
              <a:off x="0" y="0"/>
              <a:ext cx="825500" cy="431800"/>
            </a:xfrm>
            <a:custGeom>
              <a:avLst/>
              <a:gdLst/>
              <a:ahLst/>
              <a:cxnLst/>
              <a:rect l="l" t="t" r="r" b="b"/>
              <a:pathLst>
                <a:path w="825500" h="431800">
                  <a:moveTo>
                    <a:pt x="215900" y="0"/>
                  </a:moveTo>
                  <a:lnTo>
                    <a:pt x="609600" y="0"/>
                  </a:lnTo>
                  <a:cubicBezTo>
                    <a:pt x="728838" y="0"/>
                    <a:pt x="825500" y="96662"/>
                    <a:pt x="825500" y="215900"/>
                  </a:cubicBezTo>
                  <a:cubicBezTo>
                    <a:pt x="825500" y="335138"/>
                    <a:pt x="728838" y="431800"/>
                    <a:pt x="6096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122" name="TextBox 51"/>
            <p:cNvSpPr txBox="1"/>
            <p:nvPr/>
          </p:nvSpPr>
          <p:spPr>
            <a:xfrm>
              <a:off x="0" y="-47625"/>
              <a:ext cx="8255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05</a:t>
              </a:r>
            </a:p>
          </p:txBody>
        </p:sp>
      </p:grpSp>
      <p:sp>
        <p:nvSpPr>
          <p:cNvPr id="123" name="TextBox 52"/>
          <p:cNvSpPr txBox="1"/>
          <p:nvPr/>
        </p:nvSpPr>
        <p:spPr>
          <a:xfrm>
            <a:off x="9807742" y="5991225"/>
            <a:ext cx="1323975" cy="229446"/>
          </a:xfrm>
          <a:prstGeom prst="rect">
            <a:avLst/>
          </a:prstGeom>
        </p:spPr>
        <p:txBody>
          <a:bodyPr lIns="0" tIns="0" rIns="0" bIns="0" rtlCol="0" anchor="t">
            <a:spAutoFit/>
          </a:bodyPr>
          <a:lstStyle/>
          <a:p>
            <a:pPr algn="ctr">
              <a:lnSpc>
                <a:spcPts val="1708"/>
              </a:lnSpc>
            </a:pPr>
            <a:r>
              <a:rPr lang="en-US" sz="1366" b="1">
                <a:solidFill>
                  <a:srgbClr val="123D2B"/>
                </a:solidFill>
                <a:latin typeface="Poppins Bold"/>
                <a:ea typeface="Poppins Bold"/>
                <a:cs typeface="Poppins Bold"/>
                <a:sym typeface="Poppins Bold"/>
              </a:rPr>
              <a:t>Manage Crops</a:t>
            </a:r>
          </a:p>
        </p:txBody>
      </p:sp>
      <p:sp>
        <p:nvSpPr>
          <p:cNvPr id="124" name="TextBox 53"/>
          <p:cNvSpPr txBox="1"/>
          <p:nvPr/>
        </p:nvSpPr>
        <p:spPr>
          <a:xfrm>
            <a:off x="9807742" y="6315075"/>
            <a:ext cx="1323975" cy="210820"/>
          </a:xfrm>
          <a:prstGeom prst="rect">
            <a:avLst/>
          </a:prstGeom>
        </p:spPr>
        <p:txBody>
          <a:bodyPr lIns="0" tIns="0" rIns="0" bIns="0" rtlCol="0" anchor="t">
            <a:spAutoFit/>
          </a:bodyPr>
          <a:lstStyle/>
          <a:p>
            <a:pPr algn="ctr">
              <a:lnSpc>
                <a:spcPts val="1624"/>
              </a:lnSpc>
            </a:pPr>
            <a:r>
              <a:rPr lang="en-US" sz="1299">
                <a:solidFill>
                  <a:srgbClr val="5A6B60"/>
                </a:solidFill>
                <a:latin typeface="Poppins"/>
                <a:ea typeface="Poppins"/>
                <a:cs typeface="Poppins"/>
                <a:sym typeface="Poppins"/>
              </a:rPr>
              <a:t>crop</a:t>
            </a:r>
          </a:p>
        </p:txBody>
      </p:sp>
      <p:sp>
        <p:nvSpPr>
          <p:cNvPr id="125" name="AutoShape 54"/>
          <p:cNvSpPr/>
          <p:nvPr/>
        </p:nvSpPr>
        <p:spPr>
          <a:xfrm>
            <a:off x="11303167" y="5905500"/>
            <a:ext cx="447675" cy="0"/>
          </a:xfrm>
          <a:prstGeom prst="line">
            <a:avLst/>
          </a:prstGeom>
          <a:ln w="38100" cap="flat">
            <a:solidFill>
              <a:srgbClr val="C7964A"/>
            </a:solidFill>
            <a:prstDash val="solid"/>
            <a:headEnd type="none" w="sm" len="sm"/>
            <a:tailEnd type="arrow" w="med" len="sm"/>
          </a:ln>
        </p:spPr>
      </p:sp>
      <p:grpSp>
        <p:nvGrpSpPr>
          <p:cNvPr id="126" name="Group 55"/>
          <p:cNvGrpSpPr/>
          <p:nvPr/>
        </p:nvGrpSpPr>
        <p:grpSpPr>
          <a:xfrm>
            <a:off x="11779417" y="5143500"/>
            <a:ext cx="1666875" cy="1524000"/>
            <a:chOff x="0" y="0"/>
            <a:chExt cx="2222500" cy="2032000"/>
          </a:xfrm>
        </p:grpSpPr>
        <p:sp>
          <p:nvSpPr>
            <p:cNvPr id="127" name="Freeform 56"/>
            <p:cNvSpPr/>
            <p:nvPr/>
          </p:nvSpPr>
          <p:spPr>
            <a:xfrm>
              <a:off x="0" y="0"/>
              <a:ext cx="2222500" cy="2032000"/>
            </a:xfrm>
            <a:custGeom>
              <a:avLst/>
              <a:gdLst/>
              <a:ahLst/>
              <a:cxnLst/>
              <a:rect l="l" t="t" r="r" b="b"/>
              <a:pathLst>
                <a:path w="2222500" h="2032000">
                  <a:moveTo>
                    <a:pt x="254000" y="0"/>
                  </a:moveTo>
                  <a:lnTo>
                    <a:pt x="1968500" y="0"/>
                  </a:lnTo>
                  <a:cubicBezTo>
                    <a:pt x="2108780" y="0"/>
                    <a:pt x="2222500" y="113720"/>
                    <a:pt x="2222500" y="254000"/>
                  </a:cubicBezTo>
                  <a:lnTo>
                    <a:pt x="2222500" y="1778000"/>
                  </a:lnTo>
                  <a:cubicBezTo>
                    <a:pt x="2222500" y="1918280"/>
                    <a:pt x="2108780" y="2032000"/>
                    <a:pt x="1968500" y="2032000"/>
                  </a:cubicBezTo>
                  <a:lnTo>
                    <a:pt x="254000" y="2032000"/>
                  </a:lnTo>
                  <a:cubicBezTo>
                    <a:pt x="113720" y="2032000"/>
                    <a:pt x="0" y="1918280"/>
                    <a:pt x="0" y="1778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128" name="TextBox 57"/>
            <p:cNvSpPr txBox="1"/>
            <p:nvPr/>
          </p:nvSpPr>
          <p:spPr>
            <a:xfrm>
              <a:off x="0" y="-38100"/>
              <a:ext cx="2222500" cy="2070100"/>
            </a:xfrm>
            <a:prstGeom prst="rect">
              <a:avLst/>
            </a:prstGeom>
          </p:spPr>
          <p:txBody>
            <a:bodyPr lIns="50800" tIns="50800" rIns="50800" bIns="50800" rtlCol="0" anchor="ctr"/>
            <a:lstStyle/>
            <a:p>
              <a:pPr algn="l">
                <a:lnSpc>
                  <a:spcPts val="1679"/>
                </a:lnSpc>
              </a:pPr>
              <a:endParaRPr/>
            </a:p>
          </p:txBody>
        </p:sp>
      </p:grpSp>
      <p:grpSp>
        <p:nvGrpSpPr>
          <p:cNvPr id="129" name="Group 58"/>
          <p:cNvGrpSpPr/>
          <p:nvPr/>
        </p:nvGrpSpPr>
        <p:grpSpPr>
          <a:xfrm>
            <a:off x="12303292" y="5353050"/>
            <a:ext cx="619125" cy="323850"/>
            <a:chOff x="0" y="0"/>
            <a:chExt cx="825500" cy="431800"/>
          </a:xfrm>
        </p:grpSpPr>
        <p:sp>
          <p:nvSpPr>
            <p:cNvPr id="130" name="Freeform 59"/>
            <p:cNvSpPr/>
            <p:nvPr/>
          </p:nvSpPr>
          <p:spPr>
            <a:xfrm>
              <a:off x="0" y="0"/>
              <a:ext cx="825500" cy="431800"/>
            </a:xfrm>
            <a:custGeom>
              <a:avLst/>
              <a:gdLst/>
              <a:ahLst/>
              <a:cxnLst/>
              <a:rect l="l" t="t" r="r" b="b"/>
              <a:pathLst>
                <a:path w="825500" h="431800">
                  <a:moveTo>
                    <a:pt x="215900" y="0"/>
                  </a:moveTo>
                  <a:lnTo>
                    <a:pt x="609600" y="0"/>
                  </a:lnTo>
                  <a:cubicBezTo>
                    <a:pt x="728838" y="0"/>
                    <a:pt x="825500" y="96662"/>
                    <a:pt x="825500" y="215900"/>
                  </a:cubicBezTo>
                  <a:cubicBezTo>
                    <a:pt x="825500" y="335138"/>
                    <a:pt x="728838" y="431800"/>
                    <a:pt x="6096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131" name="TextBox 60"/>
            <p:cNvSpPr txBox="1"/>
            <p:nvPr/>
          </p:nvSpPr>
          <p:spPr>
            <a:xfrm>
              <a:off x="0" y="-47625"/>
              <a:ext cx="8255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06</a:t>
              </a:r>
            </a:p>
          </p:txBody>
        </p:sp>
      </p:grpSp>
      <p:sp>
        <p:nvSpPr>
          <p:cNvPr id="132" name="TextBox 61"/>
          <p:cNvSpPr txBox="1"/>
          <p:nvPr/>
        </p:nvSpPr>
        <p:spPr>
          <a:xfrm>
            <a:off x="11950867" y="5991225"/>
            <a:ext cx="1323975" cy="302895"/>
          </a:xfrm>
          <a:prstGeom prst="rect">
            <a:avLst/>
          </a:prstGeom>
        </p:spPr>
        <p:txBody>
          <a:bodyPr lIns="0" tIns="0" rIns="0" bIns="0" rtlCol="0" anchor="t">
            <a:spAutoFit/>
          </a:bodyPr>
          <a:lstStyle/>
          <a:p>
            <a:pPr algn="ctr">
              <a:lnSpc>
                <a:spcPts val="2250"/>
              </a:lnSpc>
            </a:pPr>
            <a:r>
              <a:rPr lang="en-US" sz="1800" b="1">
                <a:solidFill>
                  <a:srgbClr val="123D2B"/>
                </a:solidFill>
                <a:latin typeface="Poppins Bold"/>
                <a:ea typeface="Poppins Bold"/>
                <a:cs typeface="Poppins Bold"/>
                <a:sym typeface="Poppins Bold"/>
              </a:rPr>
              <a:t>Analytics</a:t>
            </a:r>
          </a:p>
        </p:txBody>
      </p:sp>
      <p:sp>
        <p:nvSpPr>
          <p:cNvPr id="133" name="TextBox 62"/>
          <p:cNvSpPr txBox="1"/>
          <p:nvPr/>
        </p:nvSpPr>
        <p:spPr>
          <a:xfrm>
            <a:off x="11950867" y="6315075"/>
            <a:ext cx="1323975" cy="210820"/>
          </a:xfrm>
          <a:prstGeom prst="rect">
            <a:avLst/>
          </a:prstGeom>
        </p:spPr>
        <p:txBody>
          <a:bodyPr lIns="0" tIns="0" rIns="0" bIns="0" rtlCol="0" anchor="t">
            <a:spAutoFit/>
          </a:bodyPr>
          <a:lstStyle/>
          <a:p>
            <a:pPr algn="ctr">
              <a:lnSpc>
                <a:spcPts val="1624"/>
              </a:lnSpc>
            </a:pPr>
            <a:r>
              <a:rPr lang="en-US" sz="1299">
                <a:solidFill>
                  <a:srgbClr val="5A6B60"/>
                </a:solidFill>
                <a:latin typeface="Poppins"/>
                <a:ea typeface="Poppins"/>
                <a:cs typeface="Poppins"/>
                <a:sym typeface="Poppins"/>
              </a:rPr>
              <a:t>analytics</a:t>
            </a:r>
          </a:p>
        </p:txBody>
      </p:sp>
      <p:sp>
        <p:nvSpPr>
          <p:cNvPr id="134" name="AutoShape 63"/>
          <p:cNvSpPr/>
          <p:nvPr/>
        </p:nvSpPr>
        <p:spPr>
          <a:xfrm>
            <a:off x="13446292" y="5905500"/>
            <a:ext cx="447675" cy="0"/>
          </a:xfrm>
          <a:prstGeom prst="line">
            <a:avLst/>
          </a:prstGeom>
          <a:ln w="38100" cap="flat">
            <a:solidFill>
              <a:srgbClr val="C7964A"/>
            </a:solidFill>
            <a:prstDash val="solid"/>
            <a:headEnd type="none" w="sm" len="sm"/>
            <a:tailEnd type="arrow" w="med" len="sm"/>
          </a:ln>
        </p:spPr>
      </p:sp>
      <p:grpSp>
        <p:nvGrpSpPr>
          <p:cNvPr id="135" name="Group 64"/>
          <p:cNvGrpSpPr/>
          <p:nvPr/>
        </p:nvGrpSpPr>
        <p:grpSpPr>
          <a:xfrm>
            <a:off x="13922542" y="5143500"/>
            <a:ext cx="1666875" cy="1524000"/>
            <a:chOff x="0" y="0"/>
            <a:chExt cx="2222500" cy="2032000"/>
          </a:xfrm>
        </p:grpSpPr>
        <p:sp>
          <p:nvSpPr>
            <p:cNvPr id="136" name="Freeform 65"/>
            <p:cNvSpPr/>
            <p:nvPr/>
          </p:nvSpPr>
          <p:spPr>
            <a:xfrm>
              <a:off x="0" y="0"/>
              <a:ext cx="2222500" cy="2032000"/>
            </a:xfrm>
            <a:custGeom>
              <a:avLst/>
              <a:gdLst/>
              <a:ahLst/>
              <a:cxnLst/>
              <a:rect l="l" t="t" r="r" b="b"/>
              <a:pathLst>
                <a:path w="2222500" h="2032000">
                  <a:moveTo>
                    <a:pt x="254000" y="0"/>
                  </a:moveTo>
                  <a:lnTo>
                    <a:pt x="1968500" y="0"/>
                  </a:lnTo>
                  <a:cubicBezTo>
                    <a:pt x="2108780" y="0"/>
                    <a:pt x="2222500" y="113720"/>
                    <a:pt x="2222500" y="254000"/>
                  </a:cubicBezTo>
                  <a:lnTo>
                    <a:pt x="2222500" y="1778000"/>
                  </a:lnTo>
                  <a:cubicBezTo>
                    <a:pt x="2222500" y="1918280"/>
                    <a:pt x="2108780" y="2032000"/>
                    <a:pt x="1968500" y="2032000"/>
                  </a:cubicBezTo>
                  <a:lnTo>
                    <a:pt x="254000" y="2032000"/>
                  </a:lnTo>
                  <a:cubicBezTo>
                    <a:pt x="113720" y="2032000"/>
                    <a:pt x="0" y="1918280"/>
                    <a:pt x="0" y="1778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137" name="TextBox 66"/>
            <p:cNvSpPr txBox="1"/>
            <p:nvPr/>
          </p:nvSpPr>
          <p:spPr>
            <a:xfrm>
              <a:off x="0" y="-38100"/>
              <a:ext cx="2222500" cy="2070100"/>
            </a:xfrm>
            <a:prstGeom prst="rect">
              <a:avLst/>
            </a:prstGeom>
          </p:spPr>
          <p:txBody>
            <a:bodyPr lIns="50800" tIns="50800" rIns="50800" bIns="50800" rtlCol="0" anchor="ctr"/>
            <a:lstStyle/>
            <a:p>
              <a:pPr algn="l">
                <a:lnSpc>
                  <a:spcPts val="1679"/>
                </a:lnSpc>
              </a:pPr>
              <a:endParaRPr/>
            </a:p>
          </p:txBody>
        </p:sp>
      </p:grpSp>
      <p:grpSp>
        <p:nvGrpSpPr>
          <p:cNvPr id="138" name="Group 67"/>
          <p:cNvGrpSpPr/>
          <p:nvPr/>
        </p:nvGrpSpPr>
        <p:grpSpPr>
          <a:xfrm>
            <a:off x="14446417" y="5353050"/>
            <a:ext cx="619125" cy="323850"/>
            <a:chOff x="0" y="0"/>
            <a:chExt cx="825500" cy="431800"/>
          </a:xfrm>
        </p:grpSpPr>
        <p:sp>
          <p:nvSpPr>
            <p:cNvPr id="139" name="Freeform 68"/>
            <p:cNvSpPr/>
            <p:nvPr/>
          </p:nvSpPr>
          <p:spPr>
            <a:xfrm>
              <a:off x="0" y="0"/>
              <a:ext cx="825500" cy="431800"/>
            </a:xfrm>
            <a:custGeom>
              <a:avLst/>
              <a:gdLst/>
              <a:ahLst/>
              <a:cxnLst/>
              <a:rect l="l" t="t" r="r" b="b"/>
              <a:pathLst>
                <a:path w="825500" h="431800">
                  <a:moveTo>
                    <a:pt x="215900" y="0"/>
                  </a:moveTo>
                  <a:lnTo>
                    <a:pt x="609600" y="0"/>
                  </a:lnTo>
                  <a:cubicBezTo>
                    <a:pt x="728838" y="0"/>
                    <a:pt x="825500" y="96662"/>
                    <a:pt x="825500" y="215900"/>
                  </a:cubicBezTo>
                  <a:cubicBezTo>
                    <a:pt x="825500" y="335138"/>
                    <a:pt x="728838" y="431800"/>
                    <a:pt x="6096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140" name="TextBox 69"/>
            <p:cNvSpPr txBox="1"/>
            <p:nvPr/>
          </p:nvSpPr>
          <p:spPr>
            <a:xfrm>
              <a:off x="0" y="-47625"/>
              <a:ext cx="8255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07</a:t>
              </a:r>
            </a:p>
          </p:txBody>
        </p:sp>
      </p:grpSp>
      <p:sp>
        <p:nvSpPr>
          <p:cNvPr id="141" name="TextBox 70"/>
          <p:cNvSpPr txBox="1"/>
          <p:nvPr/>
        </p:nvSpPr>
        <p:spPr>
          <a:xfrm>
            <a:off x="14093992" y="5991225"/>
            <a:ext cx="1323975" cy="302895"/>
          </a:xfrm>
          <a:prstGeom prst="rect">
            <a:avLst/>
          </a:prstGeom>
        </p:spPr>
        <p:txBody>
          <a:bodyPr lIns="0" tIns="0" rIns="0" bIns="0" rtlCol="0" anchor="t">
            <a:spAutoFit/>
          </a:bodyPr>
          <a:lstStyle/>
          <a:p>
            <a:pPr algn="ctr">
              <a:lnSpc>
                <a:spcPts val="2250"/>
              </a:lnSpc>
            </a:pPr>
            <a:r>
              <a:rPr lang="en-US" sz="1800" b="1">
                <a:solidFill>
                  <a:srgbClr val="123D2B"/>
                </a:solidFill>
                <a:latin typeface="Poppins Bold"/>
                <a:ea typeface="Poppins Bold"/>
                <a:cs typeface="Poppins Bold"/>
                <a:sym typeface="Poppins Bold"/>
              </a:rPr>
              <a:t>Expenses</a:t>
            </a:r>
          </a:p>
        </p:txBody>
      </p:sp>
      <p:sp>
        <p:nvSpPr>
          <p:cNvPr id="142" name="TextBox 71"/>
          <p:cNvSpPr txBox="1"/>
          <p:nvPr/>
        </p:nvSpPr>
        <p:spPr>
          <a:xfrm>
            <a:off x="14093992" y="6315075"/>
            <a:ext cx="1323975" cy="210820"/>
          </a:xfrm>
          <a:prstGeom prst="rect">
            <a:avLst/>
          </a:prstGeom>
        </p:spPr>
        <p:txBody>
          <a:bodyPr lIns="0" tIns="0" rIns="0" bIns="0" rtlCol="0" anchor="t">
            <a:spAutoFit/>
          </a:bodyPr>
          <a:lstStyle/>
          <a:p>
            <a:pPr algn="ctr">
              <a:lnSpc>
                <a:spcPts val="1624"/>
              </a:lnSpc>
            </a:pPr>
            <a:r>
              <a:rPr lang="en-US" sz="1299">
                <a:solidFill>
                  <a:srgbClr val="5A6B60"/>
                </a:solidFill>
                <a:latin typeface="Poppins"/>
                <a:ea typeface="Poppins"/>
                <a:cs typeface="Poppins"/>
                <a:sym typeface="Poppins"/>
              </a:rPr>
              <a:t>receipt</a:t>
            </a:r>
          </a:p>
        </p:txBody>
      </p:sp>
      <p:sp>
        <p:nvSpPr>
          <p:cNvPr id="143" name="AutoShape 72"/>
          <p:cNvSpPr/>
          <p:nvPr/>
        </p:nvSpPr>
        <p:spPr>
          <a:xfrm>
            <a:off x="15589417" y="5905500"/>
            <a:ext cx="447675" cy="0"/>
          </a:xfrm>
          <a:prstGeom prst="line">
            <a:avLst/>
          </a:prstGeom>
          <a:ln w="38100" cap="flat">
            <a:solidFill>
              <a:srgbClr val="C7964A"/>
            </a:solidFill>
            <a:prstDash val="solid"/>
            <a:headEnd type="none" w="sm" len="sm"/>
            <a:tailEnd type="arrow" w="med" len="sm"/>
          </a:ln>
        </p:spPr>
      </p:sp>
      <p:grpSp>
        <p:nvGrpSpPr>
          <p:cNvPr id="144" name="Group 73"/>
          <p:cNvGrpSpPr/>
          <p:nvPr/>
        </p:nvGrpSpPr>
        <p:grpSpPr>
          <a:xfrm>
            <a:off x="16065667" y="5143500"/>
            <a:ext cx="1666875" cy="1524000"/>
            <a:chOff x="0" y="0"/>
            <a:chExt cx="2222500" cy="2032000"/>
          </a:xfrm>
        </p:grpSpPr>
        <p:sp>
          <p:nvSpPr>
            <p:cNvPr id="145" name="Freeform 74"/>
            <p:cNvSpPr/>
            <p:nvPr/>
          </p:nvSpPr>
          <p:spPr>
            <a:xfrm>
              <a:off x="0" y="0"/>
              <a:ext cx="2222500" cy="2032000"/>
            </a:xfrm>
            <a:custGeom>
              <a:avLst/>
              <a:gdLst/>
              <a:ahLst/>
              <a:cxnLst/>
              <a:rect l="l" t="t" r="r" b="b"/>
              <a:pathLst>
                <a:path w="2222500" h="2032000">
                  <a:moveTo>
                    <a:pt x="254000" y="0"/>
                  </a:moveTo>
                  <a:lnTo>
                    <a:pt x="1968500" y="0"/>
                  </a:lnTo>
                  <a:cubicBezTo>
                    <a:pt x="2108780" y="0"/>
                    <a:pt x="2222500" y="113720"/>
                    <a:pt x="2222500" y="254000"/>
                  </a:cubicBezTo>
                  <a:lnTo>
                    <a:pt x="2222500" y="1778000"/>
                  </a:lnTo>
                  <a:cubicBezTo>
                    <a:pt x="2222500" y="1918280"/>
                    <a:pt x="2108780" y="2032000"/>
                    <a:pt x="1968500" y="2032000"/>
                  </a:cubicBezTo>
                  <a:lnTo>
                    <a:pt x="254000" y="2032000"/>
                  </a:lnTo>
                  <a:cubicBezTo>
                    <a:pt x="113720" y="2032000"/>
                    <a:pt x="0" y="1918280"/>
                    <a:pt x="0" y="1778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146" name="TextBox 75"/>
            <p:cNvSpPr txBox="1"/>
            <p:nvPr/>
          </p:nvSpPr>
          <p:spPr>
            <a:xfrm>
              <a:off x="0" y="-38100"/>
              <a:ext cx="2222500" cy="2070100"/>
            </a:xfrm>
            <a:prstGeom prst="rect">
              <a:avLst/>
            </a:prstGeom>
          </p:spPr>
          <p:txBody>
            <a:bodyPr lIns="50800" tIns="50800" rIns="50800" bIns="50800" rtlCol="0" anchor="ctr"/>
            <a:lstStyle/>
            <a:p>
              <a:pPr algn="l">
                <a:lnSpc>
                  <a:spcPts val="1679"/>
                </a:lnSpc>
              </a:pPr>
              <a:endParaRPr/>
            </a:p>
          </p:txBody>
        </p:sp>
      </p:grpSp>
      <p:grpSp>
        <p:nvGrpSpPr>
          <p:cNvPr id="147" name="Group 76"/>
          <p:cNvGrpSpPr/>
          <p:nvPr/>
        </p:nvGrpSpPr>
        <p:grpSpPr>
          <a:xfrm>
            <a:off x="16589542" y="5353050"/>
            <a:ext cx="619125" cy="323850"/>
            <a:chOff x="0" y="0"/>
            <a:chExt cx="825500" cy="431800"/>
          </a:xfrm>
        </p:grpSpPr>
        <p:sp>
          <p:nvSpPr>
            <p:cNvPr id="148" name="Freeform 77"/>
            <p:cNvSpPr/>
            <p:nvPr/>
          </p:nvSpPr>
          <p:spPr>
            <a:xfrm>
              <a:off x="0" y="0"/>
              <a:ext cx="825500" cy="431800"/>
            </a:xfrm>
            <a:custGeom>
              <a:avLst/>
              <a:gdLst/>
              <a:ahLst/>
              <a:cxnLst/>
              <a:rect l="l" t="t" r="r" b="b"/>
              <a:pathLst>
                <a:path w="825500" h="431800">
                  <a:moveTo>
                    <a:pt x="215900" y="0"/>
                  </a:moveTo>
                  <a:lnTo>
                    <a:pt x="609600" y="0"/>
                  </a:lnTo>
                  <a:cubicBezTo>
                    <a:pt x="728838" y="0"/>
                    <a:pt x="825500" y="96662"/>
                    <a:pt x="825500" y="215900"/>
                  </a:cubicBezTo>
                  <a:cubicBezTo>
                    <a:pt x="825500" y="335138"/>
                    <a:pt x="728838" y="431800"/>
                    <a:pt x="6096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149" name="TextBox 78"/>
            <p:cNvSpPr txBox="1"/>
            <p:nvPr/>
          </p:nvSpPr>
          <p:spPr>
            <a:xfrm>
              <a:off x="0" y="-47625"/>
              <a:ext cx="8255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08</a:t>
              </a:r>
            </a:p>
          </p:txBody>
        </p:sp>
      </p:grpSp>
      <p:sp>
        <p:nvSpPr>
          <p:cNvPr id="150" name="TextBox 79"/>
          <p:cNvSpPr txBox="1"/>
          <p:nvPr/>
        </p:nvSpPr>
        <p:spPr>
          <a:xfrm>
            <a:off x="16237117" y="5991225"/>
            <a:ext cx="1323975" cy="302895"/>
          </a:xfrm>
          <a:prstGeom prst="rect">
            <a:avLst/>
          </a:prstGeom>
        </p:spPr>
        <p:txBody>
          <a:bodyPr lIns="0" tIns="0" rIns="0" bIns="0" rtlCol="0" anchor="t">
            <a:spAutoFit/>
          </a:bodyPr>
          <a:lstStyle/>
          <a:p>
            <a:pPr algn="ctr">
              <a:lnSpc>
                <a:spcPts val="2250"/>
              </a:lnSpc>
            </a:pPr>
            <a:r>
              <a:rPr lang="en-US" sz="1800" b="1">
                <a:solidFill>
                  <a:srgbClr val="123D2B"/>
                </a:solidFill>
                <a:latin typeface="Poppins Bold"/>
                <a:ea typeface="Poppins Bold"/>
                <a:cs typeface="Poppins Bold"/>
                <a:sym typeface="Poppins Bold"/>
              </a:rPr>
              <a:t>AI</a:t>
            </a:r>
          </a:p>
        </p:txBody>
      </p:sp>
      <p:sp>
        <p:nvSpPr>
          <p:cNvPr id="151" name="TextBox 80"/>
          <p:cNvSpPr txBox="1"/>
          <p:nvPr/>
        </p:nvSpPr>
        <p:spPr>
          <a:xfrm>
            <a:off x="16237117" y="6315075"/>
            <a:ext cx="1323975" cy="210820"/>
          </a:xfrm>
          <a:prstGeom prst="rect">
            <a:avLst/>
          </a:prstGeom>
        </p:spPr>
        <p:txBody>
          <a:bodyPr lIns="0" tIns="0" rIns="0" bIns="0" rtlCol="0" anchor="t">
            <a:spAutoFit/>
          </a:bodyPr>
          <a:lstStyle/>
          <a:p>
            <a:pPr algn="ctr">
              <a:lnSpc>
                <a:spcPts val="1624"/>
              </a:lnSpc>
            </a:pPr>
            <a:r>
              <a:rPr lang="en-US" sz="1299">
                <a:solidFill>
                  <a:srgbClr val="5A6B60"/>
                </a:solidFill>
                <a:latin typeface="Poppins"/>
                <a:ea typeface="Poppins"/>
                <a:cs typeface="Poppins"/>
                <a:sym typeface="Poppins"/>
              </a:rPr>
              <a:t>AI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9"/>
        </a:solidFill>
        <a:effectLst/>
      </p:bgPr>
    </p:bg>
    <p:spTree>
      <p:nvGrpSpPr>
        <p:cNvPr id="1" name=""/>
        <p:cNvGrpSpPr/>
        <p:nvPr/>
      </p:nvGrpSpPr>
      <p:grpSpPr>
        <a:xfrm>
          <a:off x="0" y="0"/>
          <a:ext cx="0" cy="0"/>
          <a:chOff x="0" y="0"/>
          <a:chExt cx="0" cy="0"/>
        </a:xfrm>
      </p:grpSpPr>
      <p:sp>
        <p:nvSpPr>
          <p:cNvPr id="5" name="TextBox 5"/>
          <p:cNvSpPr txBox="1"/>
          <p:nvPr/>
        </p:nvSpPr>
        <p:spPr>
          <a:xfrm>
            <a:off x="876300" y="666750"/>
            <a:ext cx="9525000" cy="1009650"/>
          </a:xfrm>
          <a:prstGeom prst="rect">
            <a:avLst/>
          </a:prstGeom>
        </p:spPr>
        <p:txBody>
          <a:bodyPr lIns="0" tIns="0" rIns="0" bIns="0" rtlCol="0" anchor="t">
            <a:spAutoFit/>
          </a:bodyPr>
          <a:lstStyle/>
          <a:p>
            <a:pPr algn="l">
              <a:lnSpc>
                <a:spcPts val="7500"/>
              </a:lnSpc>
            </a:pPr>
            <a:r>
              <a:rPr lang="en-US" sz="6000" b="1">
                <a:solidFill>
                  <a:srgbClr val="123D2B"/>
                </a:solidFill>
                <a:latin typeface="Poppins Bold"/>
                <a:ea typeface="Poppins Bold"/>
                <a:cs typeface="Poppins Bold"/>
                <a:sym typeface="Poppins Bold"/>
              </a:rPr>
              <a:t>System Architecture</a:t>
            </a:r>
          </a:p>
        </p:txBody>
      </p:sp>
      <p:sp>
        <p:nvSpPr>
          <p:cNvPr id="6" name="TextBox 6"/>
          <p:cNvSpPr txBox="1"/>
          <p:nvPr/>
        </p:nvSpPr>
        <p:spPr>
          <a:xfrm>
            <a:off x="1381124" y="1720056"/>
            <a:ext cx="10982325" cy="338619"/>
          </a:xfrm>
          <a:prstGeom prst="rect">
            <a:avLst/>
          </a:prstGeom>
        </p:spPr>
        <p:txBody>
          <a:bodyPr wrap="square" lIns="0" tIns="0" rIns="0" bIns="0" rtlCol="0" anchor="t">
            <a:spAutoFit/>
          </a:bodyPr>
          <a:lstStyle/>
          <a:p>
            <a:pPr algn="l">
              <a:lnSpc>
                <a:spcPts val="2749"/>
              </a:lnSpc>
            </a:pPr>
            <a:r>
              <a:rPr lang="en-US" sz="2199">
                <a:solidFill>
                  <a:srgbClr val="5A6B60"/>
                </a:solidFill>
                <a:latin typeface="Poppins"/>
                <a:ea typeface="Poppins"/>
                <a:cs typeface="Poppins"/>
                <a:sym typeface="Poppins"/>
              </a:rPr>
              <a:t>.</a:t>
            </a:r>
          </a:p>
        </p:txBody>
      </p:sp>
      <p:sp>
        <p:nvSpPr>
          <p:cNvPr id="7" name="TextBox 7"/>
          <p:cNvSpPr txBox="1"/>
          <p:nvPr/>
        </p:nvSpPr>
        <p:spPr>
          <a:xfrm>
            <a:off x="1731641" y="1402164"/>
            <a:ext cx="12382500" cy="412750"/>
          </a:xfrm>
          <a:prstGeom prst="rect">
            <a:avLst/>
          </a:prstGeom>
        </p:spPr>
        <p:txBody>
          <a:bodyPr lIns="0" tIns="0" rIns="0" bIns="0" rtlCol="0" anchor="t">
            <a:spAutoFit/>
          </a:bodyPr>
          <a:lstStyle/>
          <a:p>
            <a:pPr algn="l">
              <a:lnSpc>
                <a:spcPts val="3124"/>
              </a:lnSpc>
            </a:pPr>
            <a:r>
              <a:rPr lang="en-US" sz="2499" b="1">
                <a:solidFill>
                  <a:srgbClr val="2F6B45"/>
                </a:solidFill>
                <a:latin typeface="Poppins Bold"/>
                <a:ea typeface="Poppins Bold"/>
                <a:cs typeface="Poppins Bold"/>
                <a:sym typeface="Poppins Bold"/>
              </a:rPr>
              <a:t>Three-tier Architecture with AI Integration</a:t>
            </a:r>
          </a:p>
        </p:txBody>
      </p:sp>
      <p:grpSp>
        <p:nvGrpSpPr>
          <p:cNvPr id="8" name="Group 8"/>
          <p:cNvGrpSpPr/>
          <p:nvPr/>
        </p:nvGrpSpPr>
        <p:grpSpPr>
          <a:xfrm>
            <a:off x="2133600" y="4529872"/>
            <a:ext cx="2857500" cy="1714500"/>
            <a:chOff x="0" y="0"/>
            <a:chExt cx="3810000" cy="2286000"/>
          </a:xfrm>
        </p:grpSpPr>
        <p:sp>
          <p:nvSpPr>
            <p:cNvPr id="9" name="Freeform 9"/>
            <p:cNvSpPr/>
            <p:nvPr/>
          </p:nvSpPr>
          <p:spPr>
            <a:xfrm>
              <a:off x="0" y="0"/>
              <a:ext cx="3810000" cy="2286000"/>
            </a:xfrm>
            <a:custGeom>
              <a:avLst/>
              <a:gdLst/>
              <a:ahLst/>
              <a:cxnLst/>
              <a:rect l="l" t="t" r="r" b="b"/>
              <a:pathLst>
                <a:path w="3810000" h="2286000">
                  <a:moveTo>
                    <a:pt x="254000" y="0"/>
                  </a:moveTo>
                  <a:lnTo>
                    <a:pt x="3556000" y="0"/>
                  </a:lnTo>
                  <a:cubicBezTo>
                    <a:pt x="3696280" y="0"/>
                    <a:pt x="3810000" y="113720"/>
                    <a:pt x="3810000" y="254000"/>
                  </a:cubicBezTo>
                  <a:lnTo>
                    <a:pt x="3810000" y="2032000"/>
                  </a:lnTo>
                  <a:cubicBezTo>
                    <a:pt x="3810000" y="2172280"/>
                    <a:pt x="3696280" y="2286000"/>
                    <a:pt x="3556000" y="2286000"/>
                  </a:cubicBezTo>
                  <a:lnTo>
                    <a:pt x="254000" y="2286000"/>
                  </a:lnTo>
                  <a:cubicBezTo>
                    <a:pt x="113720" y="2286000"/>
                    <a:pt x="0" y="2172280"/>
                    <a:pt x="0" y="2032000"/>
                  </a:cubicBezTo>
                  <a:lnTo>
                    <a:pt x="0" y="254000"/>
                  </a:lnTo>
                  <a:cubicBezTo>
                    <a:pt x="0" y="113720"/>
                    <a:pt x="113720" y="0"/>
                    <a:pt x="254000" y="0"/>
                  </a:cubicBezTo>
                  <a:close/>
                </a:path>
              </a:pathLst>
            </a:custGeom>
            <a:solidFill>
              <a:srgbClr val="FFFFFF"/>
            </a:solidFill>
            <a:ln w="9525" cap="sq">
              <a:solidFill>
                <a:srgbClr val="2F6B45"/>
              </a:solidFill>
              <a:prstDash val="solid"/>
              <a:miter/>
            </a:ln>
          </p:spPr>
        </p:sp>
        <p:sp>
          <p:nvSpPr>
            <p:cNvPr id="10" name="TextBox 10"/>
            <p:cNvSpPr txBox="1"/>
            <p:nvPr/>
          </p:nvSpPr>
          <p:spPr>
            <a:xfrm>
              <a:off x="0" y="-38100"/>
              <a:ext cx="3810000" cy="2324100"/>
            </a:xfrm>
            <a:prstGeom prst="rect">
              <a:avLst/>
            </a:prstGeom>
          </p:spPr>
          <p:txBody>
            <a:bodyPr lIns="50800" tIns="50800" rIns="50800" bIns="50800" rtlCol="0" anchor="ctr"/>
            <a:lstStyle/>
            <a:p>
              <a:pPr algn="l">
                <a:lnSpc>
                  <a:spcPts val="1679"/>
                </a:lnSpc>
              </a:pPr>
              <a:endParaRPr/>
            </a:p>
          </p:txBody>
        </p:sp>
      </p:grpSp>
      <p:sp>
        <p:nvSpPr>
          <p:cNvPr id="11" name="TextBox 11"/>
          <p:cNvSpPr txBox="1"/>
          <p:nvPr/>
        </p:nvSpPr>
        <p:spPr>
          <a:xfrm>
            <a:off x="2133600" y="5073616"/>
            <a:ext cx="2857500" cy="495300"/>
          </a:xfrm>
          <a:prstGeom prst="rect">
            <a:avLst/>
          </a:prstGeom>
        </p:spPr>
        <p:txBody>
          <a:bodyPr lIns="0" tIns="0" rIns="0" bIns="0" rtlCol="0" anchor="t">
            <a:spAutoFit/>
          </a:bodyPr>
          <a:lstStyle/>
          <a:p>
            <a:pPr algn="ctr">
              <a:lnSpc>
                <a:spcPts val="3750"/>
              </a:lnSpc>
            </a:pPr>
            <a:r>
              <a:rPr lang="en-US" sz="3000" b="1">
                <a:solidFill>
                  <a:srgbClr val="123D2B"/>
                </a:solidFill>
                <a:latin typeface="Poppins Bold"/>
                <a:ea typeface="Poppins Bold"/>
                <a:cs typeface="Poppins Bold"/>
                <a:sym typeface="Poppins Bold"/>
              </a:rPr>
              <a:t>Client</a:t>
            </a:r>
          </a:p>
        </p:txBody>
      </p:sp>
      <p:grpSp>
        <p:nvGrpSpPr>
          <p:cNvPr id="12" name="Group 12"/>
          <p:cNvGrpSpPr/>
          <p:nvPr/>
        </p:nvGrpSpPr>
        <p:grpSpPr>
          <a:xfrm>
            <a:off x="6905625" y="4536990"/>
            <a:ext cx="2857500" cy="1714500"/>
            <a:chOff x="0" y="0"/>
            <a:chExt cx="3810000" cy="2286000"/>
          </a:xfrm>
        </p:grpSpPr>
        <p:sp>
          <p:nvSpPr>
            <p:cNvPr id="13" name="Freeform 13"/>
            <p:cNvSpPr/>
            <p:nvPr/>
          </p:nvSpPr>
          <p:spPr>
            <a:xfrm>
              <a:off x="0" y="0"/>
              <a:ext cx="3810000" cy="2286000"/>
            </a:xfrm>
            <a:custGeom>
              <a:avLst/>
              <a:gdLst/>
              <a:ahLst/>
              <a:cxnLst/>
              <a:rect l="l" t="t" r="r" b="b"/>
              <a:pathLst>
                <a:path w="3810000" h="2286000">
                  <a:moveTo>
                    <a:pt x="254000" y="0"/>
                  </a:moveTo>
                  <a:lnTo>
                    <a:pt x="3556000" y="0"/>
                  </a:lnTo>
                  <a:cubicBezTo>
                    <a:pt x="3696280" y="0"/>
                    <a:pt x="3810000" y="113720"/>
                    <a:pt x="3810000" y="254000"/>
                  </a:cubicBezTo>
                  <a:lnTo>
                    <a:pt x="3810000" y="2032000"/>
                  </a:lnTo>
                  <a:cubicBezTo>
                    <a:pt x="3810000" y="2172280"/>
                    <a:pt x="3696280" y="2286000"/>
                    <a:pt x="3556000" y="2286000"/>
                  </a:cubicBezTo>
                  <a:lnTo>
                    <a:pt x="254000" y="2286000"/>
                  </a:lnTo>
                  <a:cubicBezTo>
                    <a:pt x="113720" y="2286000"/>
                    <a:pt x="0" y="2172280"/>
                    <a:pt x="0" y="2032000"/>
                  </a:cubicBezTo>
                  <a:lnTo>
                    <a:pt x="0" y="254000"/>
                  </a:lnTo>
                  <a:cubicBezTo>
                    <a:pt x="0" y="113720"/>
                    <a:pt x="113720" y="0"/>
                    <a:pt x="254000" y="0"/>
                  </a:cubicBezTo>
                  <a:close/>
                </a:path>
              </a:pathLst>
            </a:custGeom>
            <a:solidFill>
              <a:srgbClr val="FFFFFF"/>
            </a:solidFill>
            <a:ln w="9525" cap="sq">
              <a:solidFill>
                <a:srgbClr val="2F6B45"/>
              </a:solidFill>
              <a:prstDash val="solid"/>
              <a:miter/>
            </a:ln>
          </p:spPr>
        </p:sp>
        <p:sp>
          <p:nvSpPr>
            <p:cNvPr id="14" name="TextBox 14"/>
            <p:cNvSpPr txBox="1"/>
            <p:nvPr/>
          </p:nvSpPr>
          <p:spPr>
            <a:xfrm>
              <a:off x="0" y="-38100"/>
              <a:ext cx="3810000" cy="2324100"/>
            </a:xfrm>
            <a:prstGeom prst="rect">
              <a:avLst/>
            </a:prstGeom>
          </p:spPr>
          <p:txBody>
            <a:bodyPr lIns="50800" tIns="50800" rIns="50800" bIns="50800" rtlCol="0" anchor="ctr"/>
            <a:lstStyle/>
            <a:p>
              <a:pPr algn="l">
                <a:lnSpc>
                  <a:spcPts val="1679"/>
                </a:lnSpc>
              </a:pPr>
              <a:endParaRPr/>
            </a:p>
          </p:txBody>
        </p:sp>
      </p:grpSp>
      <p:sp>
        <p:nvSpPr>
          <p:cNvPr id="15" name="TextBox 15"/>
          <p:cNvSpPr txBox="1"/>
          <p:nvPr/>
        </p:nvSpPr>
        <p:spPr>
          <a:xfrm>
            <a:off x="6972300" y="5073616"/>
            <a:ext cx="2857500" cy="495300"/>
          </a:xfrm>
          <a:prstGeom prst="rect">
            <a:avLst/>
          </a:prstGeom>
        </p:spPr>
        <p:txBody>
          <a:bodyPr lIns="0" tIns="0" rIns="0" bIns="0" rtlCol="0" anchor="t">
            <a:spAutoFit/>
          </a:bodyPr>
          <a:lstStyle/>
          <a:p>
            <a:pPr algn="ctr">
              <a:lnSpc>
                <a:spcPts val="3750"/>
              </a:lnSpc>
            </a:pPr>
            <a:r>
              <a:rPr lang="en-US" sz="3000" b="1">
                <a:solidFill>
                  <a:srgbClr val="123D2B"/>
                </a:solidFill>
                <a:latin typeface="Poppins Bold"/>
                <a:ea typeface="Poppins Bold"/>
                <a:cs typeface="Poppins Bold"/>
                <a:sym typeface="Poppins Bold"/>
              </a:rPr>
              <a:t>Backend</a:t>
            </a:r>
          </a:p>
        </p:txBody>
      </p:sp>
      <p:grpSp>
        <p:nvGrpSpPr>
          <p:cNvPr id="16" name="Group 16"/>
          <p:cNvGrpSpPr/>
          <p:nvPr/>
        </p:nvGrpSpPr>
        <p:grpSpPr>
          <a:xfrm>
            <a:off x="11600949" y="4459100"/>
            <a:ext cx="2857500" cy="1714500"/>
            <a:chOff x="0" y="0"/>
            <a:chExt cx="3810000" cy="2286000"/>
          </a:xfrm>
        </p:grpSpPr>
        <p:sp>
          <p:nvSpPr>
            <p:cNvPr id="17" name="Freeform 17"/>
            <p:cNvSpPr/>
            <p:nvPr/>
          </p:nvSpPr>
          <p:spPr>
            <a:xfrm>
              <a:off x="0" y="0"/>
              <a:ext cx="3810000" cy="2286000"/>
            </a:xfrm>
            <a:custGeom>
              <a:avLst/>
              <a:gdLst/>
              <a:ahLst/>
              <a:cxnLst/>
              <a:rect l="l" t="t" r="r" b="b"/>
              <a:pathLst>
                <a:path w="3810000" h="2286000">
                  <a:moveTo>
                    <a:pt x="254000" y="0"/>
                  </a:moveTo>
                  <a:lnTo>
                    <a:pt x="3556000" y="0"/>
                  </a:lnTo>
                  <a:cubicBezTo>
                    <a:pt x="3696280" y="0"/>
                    <a:pt x="3810000" y="113720"/>
                    <a:pt x="3810000" y="254000"/>
                  </a:cubicBezTo>
                  <a:lnTo>
                    <a:pt x="3810000" y="2032000"/>
                  </a:lnTo>
                  <a:cubicBezTo>
                    <a:pt x="3810000" y="2172280"/>
                    <a:pt x="3696280" y="2286000"/>
                    <a:pt x="3556000" y="2286000"/>
                  </a:cubicBezTo>
                  <a:lnTo>
                    <a:pt x="254000" y="2286000"/>
                  </a:lnTo>
                  <a:cubicBezTo>
                    <a:pt x="113720" y="2286000"/>
                    <a:pt x="0" y="2172280"/>
                    <a:pt x="0" y="2032000"/>
                  </a:cubicBezTo>
                  <a:lnTo>
                    <a:pt x="0" y="254000"/>
                  </a:lnTo>
                  <a:cubicBezTo>
                    <a:pt x="0" y="113720"/>
                    <a:pt x="113720" y="0"/>
                    <a:pt x="254000" y="0"/>
                  </a:cubicBezTo>
                  <a:close/>
                </a:path>
              </a:pathLst>
            </a:custGeom>
            <a:solidFill>
              <a:srgbClr val="FFFFFF"/>
            </a:solidFill>
            <a:ln w="9525" cap="sq">
              <a:solidFill>
                <a:srgbClr val="2F6B45"/>
              </a:solidFill>
              <a:prstDash val="solid"/>
              <a:miter/>
            </a:ln>
          </p:spPr>
        </p:sp>
        <p:sp>
          <p:nvSpPr>
            <p:cNvPr id="18" name="TextBox 18"/>
            <p:cNvSpPr txBox="1"/>
            <p:nvPr/>
          </p:nvSpPr>
          <p:spPr>
            <a:xfrm>
              <a:off x="0" y="-38100"/>
              <a:ext cx="3810000" cy="2324100"/>
            </a:xfrm>
            <a:prstGeom prst="rect">
              <a:avLst/>
            </a:prstGeom>
          </p:spPr>
          <p:txBody>
            <a:bodyPr lIns="50800" tIns="50800" rIns="50800" bIns="50800" rtlCol="0" anchor="ctr"/>
            <a:lstStyle/>
            <a:p>
              <a:pPr algn="l">
                <a:lnSpc>
                  <a:spcPts val="1679"/>
                </a:lnSpc>
              </a:pPr>
              <a:endParaRPr/>
            </a:p>
          </p:txBody>
        </p:sp>
      </p:grpSp>
      <p:sp>
        <p:nvSpPr>
          <p:cNvPr id="19" name="TextBox 19"/>
          <p:cNvSpPr txBox="1"/>
          <p:nvPr/>
        </p:nvSpPr>
        <p:spPr>
          <a:xfrm>
            <a:off x="11577386" y="5073616"/>
            <a:ext cx="2857500" cy="495300"/>
          </a:xfrm>
          <a:prstGeom prst="rect">
            <a:avLst/>
          </a:prstGeom>
        </p:spPr>
        <p:txBody>
          <a:bodyPr lIns="0" tIns="0" rIns="0" bIns="0" rtlCol="0" anchor="t">
            <a:spAutoFit/>
          </a:bodyPr>
          <a:lstStyle/>
          <a:p>
            <a:pPr algn="ctr">
              <a:lnSpc>
                <a:spcPts val="3750"/>
              </a:lnSpc>
            </a:pPr>
            <a:r>
              <a:rPr lang="en-US" sz="3000" b="1">
                <a:solidFill>
                  <a:srgbClr val="123D2B"/>
                </a:solidFill>
                <a:latin typeface="Poppins Bold"/>
                <a:ea typeface="Poppins Bold"/>
                <a:cs typeface="Poppins Bold"/>
                <a:sym typeface="Poppins Bold"/>
              </a:rPr>
              <a:t>DataBase</a:t>
            </a:r>
          </a:p>
        </p:txBody>
      </p:sp>
      <p:sp>
        <p:nvSpPr>
          <p:cNvPr id="20" name="AutoShape 20"/>
          <p:cNvSpPr/>
          <p:nvPr/>
        </p:nvSpPr>
        <p:spPr>
          <a:xfrm>
            <a:off x="4991100" y="5372834"/>
            <a:ext cx="1809750" cy="0"/>
          </a:xfrm>
          <a:prstGeom prst="line">
            <a:avLst/>
          </a:prstGeom>
          <a:ln w="57150" cap="flat">
            <a:solidFill>
              <a:srgbClr val="2F6B45"/>
            </a:solidFill>
            <a:prstDash val="solid"/>
            <a:headEnd type="none" w="sm" len="sm"/>
            <a:tailEnd type="arrow" w="med" len="sm"/>
          </a:ln>
        </p:spPr>
      </p:sp>
      <p:sp>
        <p:nvSpPr>
          <p:cNvPr id="21" name="AutoShape 21"/>
          <p:cNvSpPr/>
          <p:nvPr/>
        </p:nvSpPr>
        <p:spPr>
          <a:xfrm>
            <a:off x="9763125" y="5316350"/>
            <a:ext cx="1809750" cy="0"/>
          </a:xfrm>
          <a:prstGeom prst="line">
            <a:avLst/>
          </a:prstGeom>
          <a:ln w="57150" cap="flat">
            <a:solidFill>
              <a:srgbClr val="2F6B45"/>
            </a:solidFill>
            <a:prstDash val="solid"/>
            <a:headEnd type="none" w="sm" len="sm"/>
            <a:tailEnd type="arrow" w="med" len="sm"/>
          </a:ln>
        </p:spPr>
      </p:sp>
      <p:grpSp>
        <p:nvGrpSpPr>
          <p:cNvPr id="22" name="Group 22"/>
          <p:cNvGrpSpPr/>
          <p:nvPr/>
        </p:nvGrpSpPr>
        <p:grpSpPr>
          <a:xfrm>
            <a:off x="6972300" y="2197735"/>
            <a:ext cx="3048000" cy="1143000"/>
            <a:chOff x="0" y="0"/>
            <a:chExt cx="4064000" cy="1524000"/>
          </a:xfrm>
        </p:grpSpPr>
        <p:sp>
          <p:nvSpPr>
            <p:cNvPr id="23" name="Freeform 23"/>
            <p:cNvSpPr/>
            <p:nvPr/>
          </p:nvSpPr>
          <p:spPr>
            <a:xfrm>
              <a:off x="0" y="0"/>
              <a:ext cx="4064000" cy="1524000"/>
            </a:xfrm>
            <a:custGeom>
              <a:avLst/>
              <a:gdLst/>
              <a:ahLst/>
              <a:cxnLst/>
              <a:rect l="l" t="t" r="r" b="b"/>
              <a:pathLst>
                <a:path w="4064000" h="1524000">
                  <a:moveTo>
                    <a:pt x="228600" y="0"/>
                  </a:moveTo>
                  <a:lnTo>
                    <a:pt x="3835400" y="0"/>
                  </a:lnTo>
                  <a:cubicBezTo>
                    <a:pt x="3961652" y="0"/>
                    <a:pt x="4064000" y="102348"/>
                    <a:pt x="4064000" y="228600"/>
                  </a:cubicBezTo>
                  <a:lnTo>
                    <a:pt x="4064000" y="1295400"/>
                  </a:lnTo>
                  <a:cubicBezTo>
                    <a:pt x="4064000" y="1421652"/>
                    <a:pt x="3961652" y="1524000"/>
                    <a:pt x="3835400" y="1524000"/>
                  </a:cubicBezTo>
                  <a:lnTo>
                    <a:pt x="228600" y="1524000"/>
                  </a:lnTo>
                  <a:cubicBezTo>
                    <a:pt x="102348" y="1524000"/>
                    <a:pt x="0" y="1421652"/>
                    <a:pt x="0" y="1295400"/>
                  </a:cubicBezTo>
                  <a:lnTo>
                    <a:pt x="0" y="228600"/>
                  </a:lnTo>
                  <a:cubicBezTo>
                    <a:pt x="0" y="102348"/>
                    <a:pt x="102348" y="0"/>
                    <a:pt x="228600" y="0"/>
                  </a:cubicBezTo>
                  <a:close/>
                </a:path>
              </a:pathLst>
            </a:custGeom>
            <a:solidFill>
              <a:srgbClr val="DCE8D4"/>
            </a:solidFill>
            <a:ln w="9525" cap="sq">
              <a:solidFill>
                <a:srgbClr val="2F6B45"/>
              </a:solidFill>
              <a:prstDash val="solid"/>
              <a:miter/>
            </a:ln>
          </p:spPr>
        </p:sp>
        <p:sp>
          <p:nvSpPr>
            <p:cNvPr id="24" name="TextBox 24"/>
            <p:cNvSpPr txBox="1"/>
            <p:nvPr/>
          </p:nvSpPr>
          <p:spPr>
            <a:xfrm>
              <a:off x="0" y="-38100"/>
              <a:ext cx="4064000" cy="1562100"/>
            </a:xfrm>
            <a:prstGeom prst="rect">
              <a:avLst/>
            </a:prstGeom>
          </p:spPr>
          <p:txBody>
            <a:bodyPr lIns="50800" tIns="50800" rIns="50800" bIns="50800" rtlCol="0" anchor="ctr"/>
            <a:lstStyle/>
            <a:p>
              <a:pPr algn="l">
                <a:lnSpc>
                  <a:spcPts val="1679"/>
                </a:lnSpc>
              </a:pPr>
              <a:endParaRPr/>
            </a:p>
          </p:txBody>
        </p:sp>
      </p:grpSp>
      <p:sp>
        <p:nvSpPr>
          <p:cNvPr id="25" name="TextBox 25"/>
          <p:cNvSpPr txBox="1"/>
          <p:nvPr/>
        </p:nvSpPr>
        <p:spPr>
          <a:xfrm>
            <a:off x="7024686" y="2556995"/>
            <a:ext cx="3048000" cy="458470"/>
          </a:xfrm>
          <a:prstGeom prst="rect">
            <a:avLst/>
          </a:prstGeom>
        </p:spPr>
        <p:txBody>
          <a:bodyPr lIns="0" tIns="0" rIns="0" bIns="0" rtlCol="0" anchor="t">
            <a:spAutoFit/>
          </a:bodyPr>
          <a:lstStyle/>
          <a:p>
            <a:pPr algn="ctr">
              <a:lnSpc>
                <a:spcPts val="3499"/>
              </a:lnSpc>
            </a:pPr>
            <a:r>
              <a:rPr lang="en-US" sz="2799" b="1">
                <a:solidFill>
                  <a:srgbClr val="123D2B"/>
                </a:solidFill>
                <a:latin typeface="Poppins Bold"/>
                <a:ea typeface="Poppins Bold"/>
                <a:cs typeface="Poppins Bold"/>
                <a:sym typeface="Poppins Bold"/>
              </a:rPr>
              <a:t>AI Integration</a:t>
            </a:r>
          </a:p>
        </p:txBody>
      </p:sp>
      <p:sp>
        <p:nvSpPr>
          <p:cNvPr id="26" name="AutoShape 26"/>
          <p:cNvSpPr/>
          <p:nvPr/>
        </p:nvSpPr>
        <p:spPr>
          <a:xfrm flipV="1">
            <a:off x="8334375" y="3344009"/>
            <a:ext cx="0" cy="1143000"/>
          </a:xfrm>
          <a:prstGeom prst="line">
            <a:avLst/>
          </a:prstGeom>
          <a:ln w="47625" cap="flat">
            <a:solidFill>
              <a:srgbClr val="C7964A"/>
            </a:solidFill>
            <a:prstDash val="solid"/>
            <a:headEnd type="none" w="sm" len="sm"/>
            <a:tailEnd type="arrow" w="med" len="sm"/>
          </a:ln>
        </p:spPr>
      </p:sp>
      <p:grpSp>
        <p:nvGrpSpPr>
          <p:cNvPr id="44" name="Group 3"/>
          <p:cNvGrpSpPr/>
          <p:nvPr/>
        </p:nvGrpSpPr>
        <p:grpSpPr>
          <a:xfrm>
            <a:off x="0" y="7196888"/>
            <a:ext cx="18288000" cy="3090112"/>
            <a:chOff x="0" y="0"/>
            <a:chExt cx="2233405" cy="671070"/>
          </a:xfrm>
        </p:grpSpPr>
        <p:sp>
          <p:nvSpPr>
            <p:cNvPr id="45" name="Freeform 4"/>
            <p:cNvSpPr/>
            <p:nvPr/>
          </p:nvSpPr>
          <p:spPr>
            <a:xfrm>
              <a:off x="0" y="0"/>
              <a:ext cx="2233405" cy="671070"/>
            </a:xfrm>
            <a:custGeom>
              <a:avLst/>
              <a:gdLst/>
              <a:ahLst/>
              <a:cxnLst/>
              <a:rect l="l" t="t" r="r" b="b"/>
              <a:pathLst>
                <a:path w="2233405" h="671070">
                  <a:moveTo>
                    <a:pt x="10971" y="0"/>
                  </a:moveTo>
                  <a:lnTo>
                    <a:pt x="2222434" y="0"/>
                  </a:lnTo>
                  <a:cubicBezTo>
                    <a:pt x="2228493" y="0"/>
                    <a:pt x="2233405" y="4912"/>
                    <a:pt x="2233405" y="10971"/>
                  </a:cubicBezTo>
                  <a:lnTo>
                    <a:pt x="2233405" y="660099"/>
                  </a:lnTo>
                  <a:cubicBezTo>
                    <a:pt x="2233405" y="666158"/>
                    <a:pt x="2228493" y="671070"/>
                    <a:pt x="2222434" y="671070"/>
                  </a:cubicBezTo>
                  <a:lnTo>
                    <a:pt x="10971" y="671070"/>
                  </a:lnTo>
                  <a:cubicBezTo>
                    <a:pt x="4912" y="671070"/>
                    <a:pt x="0" y="666158"/>
                    <a:pt x="0" y="660099"/>
                  </a:cubicBezTo>
                  <a:lnTo>
                    <a:pt x="0" y="10971"/>
                  </a:lnTo>
                  <a:cubicBezTo>
                    <a:pt x="0" y="4912"/>
                    <a:pt x="4912" y="0"/>
                    <a:pt x="10971" y="0"/>
                  </a:cubicBezTo>
                  <a:close/>
                </a:path>
              </a:pathLst>
            </a:custGeom>
            <a:blipFill>
              <a:blip r:embed="rId3"/>
              <a:stretch>
                <a:fillRect t="-96416" b="-52890"/>
              </a:stretch>
            </a:blipFill>
            <a:ln w="57150" cap="rnd">
              <a:solidFill>
                <a:srgbClr val="004D13"/>
              </a:solidFill>
              <a:prstDash val="solid"/>
              <a:round/>
            </a:ln>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2E23"/>
        </a:solidFill>
        <a:effectLst/>
      </p:bgPr>
    </p:bg>
    <p:spTree>
      <p:nvGrpSpPr>
        <p:cNvPr id="1" name=""/>
        <p:cNvGrpSpPr/>
        <p:nvPr/>
      </p:nvGrpSpPr>
      <p:grpSpPr>
        <a:xfrm>
          <a:off x="0" y="0"/>
          <a:ext cx="0" cy="0"/>
          <a:chOff x="0" y="0"/>
          <a:chExt cx="0" cy="0"/>
        </a:xfrm>
      </p:grpSpPr>
      <p:grpSp>
        <p:nvGrpSpPr>
          <p:cNvPr id="2" name="Group 2"/>
          <p:cNvGrpSpPr/>
          <p:nvPr/>
        </p:nvGrpSpPr>
        <p:grpSpPr>
          <a:xfrm>
            <a:off x="16287750" y="333375"/>
            <a:ext cx="1428750" cy="1428750"/>
            <a:chOff x="0" y="0"/>
            <a:chExt cx="1905000" cy="1905000"/>
          </a:xfrm>
        </p:grpSpPr>
        <p:sp>
          <p:nvSpPr>
            <p:cNvPr id="3" name="Freeform 3"/>
            <p:cNvSpPr/>
            <p:nvPr/>
          </p:nvSpPr>
          <p:spPr>
            <a:xfrm>
              <a:off x="0" y="0"/>
              <a:ext cx="1905000" cy="1905000"/>
            </a:xfrm>
            <a:custGeom>
              <a:avLst/>
              <a:gdLst/>
              <a:ahLst/>
              <a:cxnLst/>
              <a:rect l="l" t="t" r="r" b="b"/>
              <a:pathLst>
                <a:path w="1905000" h="1905000">
                  <a:moveTo>
                    <a:pt x="0" y="952500"/>
                  </a:moveTo>
                  <a:cubicBezTo>
                    <a:pt x="0" y="1478551"/>
                    <a:pt x="426449" y="1905000"/>
                    <a:pt x="952500" y="1905000"/>
                  </a:cubicBezTo>
                  <a:cubicBezTo>
                    <a:pt x="1478551" y="1905000"/>
                    <a:pt x="1905000" y="1478551"/>
                    <a:pt x="1905000" y="952500"/>
                  </a:cubicBezTo>
                  <a:cubicBezTo>
                    <a:pt x="1905000" y="426449"/>
                    <a:pt x="1478551" y="0"/>
                    <a:pt x="952500" y="0"/>
                  </a:cubicBezTo>
                  <a:cubicBezTo>
                    <a:pt x="426449" y="0"/>
                    <a:pt x="0" y="426449"/>
                    <a:pt x="0" y="952500"/>
                  </a:cubicBezTo>
                  <a:close/>
                </a:path>
              </a:pathLst>
            </a:custGeom>
            <a:solidFill>
              <a:srgbClr val="2F6B45">
                <a:alpha val="89804"/>
              </a:srgbClr>
            </a:solidFill>
          </p:spPr>
        </p:sp>
        <p:sp>
          <p:nvSpPr>
            <p:cNvPr id="4" name="TextBox 4"/>
            <p:cNvSpPr txBox="1"/>
            <p:nvPr/>
          </p:nvSpPr>
          <p:spPr>
            <a:xfrm>
              <a:off x="0" y="-38100"/>
              <a:ext cx="1905000" cy="1943100"/>
            </a:xfrm>
            <a:prstGeom prst="rect">
              <a:avLst/>
            </a:prstGeom>
          </p:spPr>
          <p:txBody>
            <a:bodyPr lIns="50800" tIns="50800" rIns="50800" bIns="50800" rtlCol="0" anchor="ctr"/>
            <a:lstStyle/>
            <a:p>
              <a:pPr algn="l">
                <a:lnSpc>
                  <a:spcPts val="1679"/>
                </a:lnSpc>
              </a:pPr>
              <a:endParaRPr/>
            </a:p>
          </p:txBody>
        </p:sp>
      </p:grpSp>
      <p:grpSp>
        <p:nvGrpSpPr>
          <p:cNvPr id="5" name="Group 5"/>
          <p:cNvGrpSpPr/>
          <p:nvPr/>
        </p:nvGrpSpPr>
        <p:grpSpPr>
          <a:xfrm>
            <a:off x="16859250" y="857250"/>
            <a:ext cx="857250" cy="857250"/>
            <a:chOff x="0" y="0"/>
            <a:chExt cx="1143000" cy="1143000"/>
          </a:xfrm>
        </p:grpSpPr>
        <p:sp>
          <p:nvSpPr>
            <p:cNvPr id="6" name="Freeform 6"/>
            <p:cNvSpPr/>
            <p:nvPr/>
          </p:nvSpPr>
          <p:spPr>
            <a:xfrm>
              <a:off x="0" y="0"/>
              <a:ext cx="1143000" cy="1143000"/>
            </a:xfrm>
            <a:custGeom>
              <a:avLst/>
              <a:gdLst/>
              <a:ahLst/>
              <a:cxnLst/>
              <a:rect l="l" t="t" r="r" b="b"/>
              <a:pathLst>
                <a:path w="1143000" h="1143000">
                  <a:moveTo>
                    <a:pt x="0" y="571500"/>
                  </a:moveTo>
                  <a:cubicBezTo>
                    <a:pt x="0" y="887131"/>
                    <a:pt x="255869" y="1143000"/>
                    <a:pt x="571500" y="1143000"/>
                  </a:cubicBezTo>
                  <a:cubicBezTo>
                    <a:pt x="887131" y="1143000"/>
                    <a:pt x="1143000" y="887131"/>
                    <a:pt x="1143000" y="571500"/>
                  </a:cubicBezTo>
                  <a:cubicBezTo>
                    <a:pt x="1143000" y="255869"/>
                    <a:pt x="887131" y="0"/>
                    <a:pt x="571500" y="0"/>
                  </a:cubicBezTo>
                  <a:cubicBezTo>
                    <a:pt x="255869" y="0"/>
                    <a:pt x="0" y="255869"/>
                    <a:pt x="0" y="571500"/>
                  </a:cubicBezTo>
                  <a:close/>
                </a:path>
              </a:pathLst>
            </a:custGeom>
            <a:solidFill>
              <a:srgbClr val="DCE8D4">
                <a:alpha val="54902"/>
              </a:srgbClr>
            </a:solidFill>
          </p:spPr>
        </p:sp>
        <p:sp>
          <p:nvSpPr>
            <p:cNvPr id="7" name="TextBox 7"/>
            <p:cNvSpPr txBox="1"/>
            <p:nvPr/>
          </p:nvSpPr>
          <p:spPr>
            <a:xfrm>
              <a:off x="0" y="-38100"/>
              <a:ext cx="1143000" cy="1181100"/>
            </a:xfrm>
            <a:prstGeom prst="rect">
              <a:avLst/>
            </a:prstGeom>
          </p:spPr>
          <p:txBody>
            <a:bodyPr lIns="50800" tIns="50800" rIns="50800" bIns="50800" rtlCol="0" anchor="ctr"/>
            <a:lstStyle/>
            <a:p>
              <a:pPr algn="l">
                <a:lnSpc>
                  <a:spcPts val="1679"/>
                </a:lnSpc>
              </a:pPr>
              <a:endParaRPr/>
            </a:p>
          </p:txBody>
        </p:sp>
      </p:grpSp>
      <p:sp>
        <p:nvSpPr>
          <p:cNvPr id="8" name="TextBox 8"/>
          <p:cNvSpPr txBox="1"/>
          <p:nvPr/>
        </p:nvSpPr>
        <p:spPr>
          <a:xfrm>
            <a:off x="876300" y="666750"/>
            <a:ext cx="9525000" cy="1009650"/>
          </a:xfrm>
          <a:prstGeom prst="rect">
            <a:avLst/>
          </a:prstGeom>
        </p:spPr>
        <p:txBody>
          <a:bodyPr lIns="0" tIns="0" rIns="0" bIns="0" rtlCol="0" anchor="t">
            <a:spAutoFit/>
          </a:bodyPr>
          <a:lstStyle/>
          <a:p>
            <a:pPr algn="l">
              <a:lnSpc>
                <a:spcPts val="7500"/>
              </a:lnSpc>
            </a:pPr>
            <a:r>
              <a:rPr lang="en-US" sz="6000" b="1">
                <a:solidFill>
                  <a:srgbClr val="FFFFFF"/>
                </a:solidFill>
                <a:latin typeface="Poppins Bold"/>
                <a:ea typeface="Poppins Bold"/>
                <a:cs typeface="Poppins Bold"/>
                <a:sym typeface="Poppins Bold"/>
              </a:rPr>
              <a:t>Technology Stack</a:t>
            </a:r>
          </a:p>
        </p:txBody>
      </p:sp>
      <p:sp>
        <p:nvSpPr>
          <p:cNvPr id="9" name="TextBox 9"/>
          <p:cNvSpPr txBox="1"/>
          <p:nvPr/>
        </p:nvSpPr>
        <p:spPr>
          <a:xfrm>
            <a:off x="886132" y="1736315"/>
            <a:ext cx="15240000" cy="681990"/>
          </a:xfrm>
          <a:prstGeom prst="rect">
            <a:avLst/>
          </a:prstGeom>
        </p:spPr>
        <p:txBody>
          <a:bodyPr lIns="0" tIns="0" rIns="0" bIns="0" rtlCol="0" anchor="t">
            <a:spAutoFit/>
          </a:bodyPr>
          <a:lstStyle/>
          <a:p>
            <a:pPr algn="l">
              <a:lnSpc>
                <a:spcPts val="2625"/>
              </a:lnSpc>
            </a:pPr>
            <a:r>
              <a:rPr lang="en-US" sz="2100">
                <a:solidFill>
                  <a:srgbClr val="FFFFFF"/>
                </a:solidFill>
                <a:latin typeface="Poppins"/>
                <a:ea typeface="Poppins"/>
                <a:cs typeface="Poppins"/>
                <a:sym typeface="Poppins"/>
              </a:rPr>
              <a:t>Frontend → Backend → Database form the core flow, while AI enhances the platform with intelligent features and insights throughout the system.</a:t>
            </a:r>
          </a:p>
        </p:txBody>
      </p:sp>
      <p:grpSp>
        <p:nvGrpSpPr>
          <p:cNvPr id="10" name="Group 10"/>
          <p:cNvGrpSpPr/>
          <p:nvPr/>
        </p:nvGrpSpPr>
        <p:grpSpPr>
          <a:xfrm>
            <a:off x="876300" y="3143250"/>
            <a:ext cx="7620000" cy="2095500"/>
            <a:chOff x="0" y="0"/>
            <a:chExt cx="10160000" cy="2794000"/>
          </a:xfrm>
        </p:grpSpPr>
        <p:sp>
          <p:nvSpPr>
            <p:cNvPr id="11" name="Freeform 11"/>
            <p:cNvSpPr/>
            <p:nvPr/>
          </p:nvSpPr>
          <p:spPr>
            <a:xfrm>
              <a:off x="0" y="0"/>
              <a:ext cx="10160000" cy="2794000"/>
            </a:xfrm>
            <a:custGeom>
              <a:avLst/>
              <a:gdLst/>
              <a:ahLst/>
              <a:cxnLst/>
              <a:rect l="l" t="t" r="r" b="b"/>
              <a:pathLst>
                <a:path w="10160000" h="2794000">
                  <a:moveTo>
                    <a:pt x="254000" y="0"/>
                  </a:moveTo>
                  <a:lnTo>
                    <a:pt x="9906000" y="0"/>
                  </a:lnTo>
                  <a:cubicBezTo>
                    <a:pt x="10046281" y="0"/>
                    <a:pt x="10160000" y="113720"/>
                    <a:pt x="10160000" y="254000"/>
                  </a:cubicBezTo>
                  <a:lnTo>
                    <a:pt x="10160000" y="2540000"/>
                  </a:lnTo>
                  <a:cubicBezTo>
                    <a:pt x="10160000" y="2680280"/>
                    <a:pt x="10046281" y="2794000"/>
                    <a:pt x="9906000" y="2794000"/>
                  </a:cubicBezTo>
                  <a:lnTo>
                    <a:pt x="254000" y="2794000"/>
                  </a:lnTo>
                  <a:cubicBezTo>
                    <a:pt x="113720" y="2794000"/>
                    <a:pt x="0" y="2680280"/>
                    <a:pt x="0" y="2540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12" name="TextBox 12"/>
            <p:cNvSpPr txBox="1"/>
            <p:nvPr/>
          </p:nvSpPr>
          <p:spPr>
            <a:xfrm>
              <a:off x="0" y="-38100"/>
              <a:ext cx="10160000" cy="2832100"/>
            </a:xfrm>
            <a:prstGeom prst="rect">
              <a:avLst/>
            </a:prstGeom>
          </p:spPr>
          <p:txBody>
            <a:bodyPr lIns="50800" tIns="50800" rIns="50800" bIns="50800" rtlCol="0" anchor="ctr"/>
            <a:lstStyle/>
            <a:p>
              <a:pPr algn="l">
                <a:lnSpc>
                  <a:spcPts val="1679"/>
                </a:lnSpc>
              </a:pPr>
              <a:endParaRPr/>
            </a:p>
          </p:txBody>
        </p:sp>
      </p:grpSp>
      <p:sp>
        <p:nvSpPr>
          <p:cNvPr id="13" name="TextBox 13"/>
          <p:cNvSpPr txBox="1"/>
          <p:nvPr/>
        </p:nvSpPr>
        <p:spPr>
          <a:xfrm>
            <a:off x="1181100" y="3371850"/>
            <a:ext cx="2857500" cy="458470"/>
          </a:xfrm>
          <a:prstGeom prst="rect">
            <a:avLst/>
          </a:prstGeom>
        </p:spPr>
        <p:txBody>
          <a:bodyPr lIns="0" tIns="0" rIns="0" bIns="0" rtlCol="0" anchor="t">
            <a:spAutoFit/>
          </a:bodyPr>
          <a:lstStyle/>
          <a:p>
            <a:pPr algn="l">
              <a:lnSpc>
                <a:spcPts val="3499"/>
              </a:lnSpc>
            </a:pPr>
            <a:r>
              <a:rPr lang="en-US" sz="2799" b="1">
                <a:solidFill>
                  <a:srgbClr val="2F6B45"/>
                </a:solidFill>
                <a:latin typeface="Poppins Bold"/>
                <a:ea typeface="Poppins Bold"/>
                <a:cs typeface="Poppins Bold"/>
                <a:sym typeface="Poppins Bold"/>
              </a:rPr>
              <a:t>Frontend</a:t>
            </a:r>
          </a:p>
        </p:txBody>
      </p:sp>
      <p:sp>
        <p:nvSpPr>
          <p:cNvPr id="14" name="TextBox 14"/>
          <p:cNvSpPr txBox="1"/>
          <p:nvPr/>
        </p:nvSpPr>
        <p:spPr>
          <a:xfrm>
            <a:off x="1181100" y="4067175"/>
            <a:ext cx="6858000" cy="346075"/>
          </a:xfrm>
          <a:prstGeom prst="rect">
            <a:avLst/>
          </a:prstGeom>
        </p:spPr>
        <p:txBody>
          <a:bodyPr lIns="0" tIns="0" rIns="0" bIns="0" rtlCol="0" anchor="t">
            <a:spAutoFit/>
          </a:bodyPr>
          <a:lstStyle/>
          <a:p>
            <a:pPr algn="l">
              <a:lnSpc>
                <a:spcPts val="2600"/>
              </a:lnSpc>
            </a:pPr>
            <a:r>
              <a:rPr lang="en-US" sz="2000">
                <a:solidFill>
                  <a:srgbClr val="18352A"/>
                </a:solidFill>
                <a:latin typeface="Poppins"/>
                <a:ea typeface="Poppins"/>
                <a:cs typeface="Poppins"/>
                <a:sym typeface="Poppins"/>
              </a:rPr>
              <a:t>React.js requests user interactions to backend.</a:t>
            </a:r>
          </a:p>
        </p:txBody>
      </p:sp>
      <p:grpSp>
        <p:nvGrpSpPr>
          <p:cNvPr id="15" name="Group 15"/>
          <p:cNvGrpSpPr/>
          <p:nvPr/>
        </p:nvGrpSpPr>
        <p:grpSpPr>
          <a:xfrm>
            <a:off x="9448800" y="3143250"/>
            <a:ext cx="7620000" cy="2095500"/>
            <a:chOff x="0" y="0"/>
            <a:chExt cx="10160000" cy="2794000"/>
          </a:xfrm>
        </p:grpSpPr>
        <p:sp>
          <p:nvSpPr>
            <p:cNvPr id="16" name="Freeform 16"/>
            <p:cNvSpPr/>
            <p:nvPr/>
          </p:nvSpPr>
          <p:spPr>
            <a:xfrm>
              <a:off x="0" y="0"/>
              <a:ext cx="10160000" cy="2794000"/>
            </a:xfrm>
            <a:custGeom>
              <a:avLst/>
              <a:gdLst/>
              <a:ahLst/>
              <a:cxnLst/>
              <a:rect l="l" t="t" r="r" b="b"/>
              <a:pathLst>
                <a:path w="10160000" h="2794000">
                  <a:moveTo>
                    <a:pt x="254000" y="0"/>
                  </a:moveTo>
                  <a:lnTo>
                    <a:pt x="9906000" y="0"/>
                  </a:lnTo>
                  <a:cubicBezTo>
                    <a:pt x="10046281" y="0"/>
                    <a:pt x="10160000" y="113720"/>
                    <a:pt x="10160000" y="254000"/>
                  </a:cubicBezTo>
                  <a:lnTo>
                    <a:pt x="10160000" y="2540000"/>
                  </a:lnTo>
                  <a:cubicBezTo>
                    <a:pt x="10160000" y="2680280"/>
                    <a:pt x="10046281" y="2794000"/>
                    <a:pt x="9906000" y="2794000"/>
                  </a:cubicBezTo>
                  <a:lnTo>
                    <a:pt x="254000" y="2794000"/>
                  </a:lnTo>
                  <a:cubicBezTo>
                    <a:pt x="113720" y="2794000"/>
                    <a:pt x="0" y="2680280"/>
                    <a:pt x="0" y="2540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17" name="TextBox 17"/>
            <p:cNvSpPr txBox="1"/>
            <p:nvPr/>
          </p:nvSpPr>
          <p:spPr>
            <a:xfrm>
              <a:off x="0" y="-38100"/>
              <a:ext cx="10160000" cy="2832100"/>
            </a:xfrm>
            <a:prstGeom prst="rect">
              <a:avLst/>
            </a:prstGeom>
          </p:spPr>
          <p:txBody>
            <a:bodyPr lIns="50800" tIns="50800" rIns="50800" bIns="50800" rtlCol="0" anchor="ctr"/>
            <a:lstStyle/>
            <a:p>
              <a:pPr algn="l">
                <a:lnSpc>
                  <a:spcPts val="1679"/>
                </a:lnSpc>
              </a:pPr>
              <a:endParaRPr/>
            </a:p>
          </p:txBody>
        </p:sp>
      </p:grpSp>
      <p:sp>
        <p:nvSpPr>
          <p:cNvPr id="18" name="TextBox 18"/>
          <p:cNvSpPr txBox="1"/>
          <p:nvPr/>
        </p:nvSpPr>
        <p:spPr>
          <a:xfrm>
            <a:off x="9753600" y="3371850"/>
            <a:ext cx="2857500" cy="458470"/>
          </a:xfrm>
          <a:prstGeom prst="rect">
            <a:avLst/>
          </a:prstGeom>
        </p:spPr>
        <p:txBody>
          <a:bodyPr lIns="0" tIns="0" rIns="0" bIns="0" rtlCol="0" anchor="t">
            <a:spAutoFit/>
          </a:bodyPr>
          <a:lstStyle/>
          <a:p>
            <a:pPr algn="l">
              <a:lnSpc>
                <a:spcPts val="3499"/>
              </a:lnSpc>
            </a:pPr>
            <a:r>
              <a:rPr lang="en-US" sz="2799" b="1">
                <a:solidFill>
                  <a:srgbClr val="2F6B45"/>
                </a:solidFill>
                <a:latin typeface="Poppins Bold"/>
                <a:ea typeface="Poppins Bold"/>
                <a:cs typeface="Poppins Bold"/>
                <a:sym typeface="Poppins Bold"/>
              </a:rPr>
              <a:t>Backend</a:t>
            </a:r>
          </a:p>
        </p:txBody>
      </p:sp>
      <p:sp>
        <p:nvSpPr>
          <p:cNvPr id="19" name="TextBox 19"/>
          <p:cNvSpPr txBox="1"/>
          <p:nvPr/>
        </p:nvSpPr>
        <p:spPr>
          <a:xfrm>
            <a:off x="9753600" y="4067175"/>
            <a:ext cx="6858000" cy="669925"/>
          </a:xfrm>
          <a:prstGeom prst="rect">
            <a:avLst/>
          </a:prstGeom>
        </p:spPr>
        <p:txBody>
          <a:bodyPr lIns="0" tIns="0" rIns="0" bIns="0" rtlCol="0" anchor="t">
            <a:spAutoFit/>
          </a:bodyPr>
          <a:lstStyle/>
          <a:p>
            <a:pPr algn="l">
              <a:lnSpc>
                <a:spcPts val="2600"/>
              </a:lnSpc>
            </a:pPr>
            <a:r>
              <a:rPr lang="en-US" sz="2000">
                <a:solidFill>
                  <a:srgbClr val="18352A"/>
                </a:solidFill>
                <a:latin typeface="Poppins"/>
                <a:ea typeface="Poppins"/>
                <a:cs typeface="Poppins"/>
                <a:sym typeface="Poppins"/>
              </a:rPr>
              <a:t>Java Spring Boot processes requests and connects services.</a:t>
            </a:r>
          </a:p>
        </p:txBody>
      </p:sp>
      <p:grpSp>
        <p:nvGrpSpPr>
          <p:cNvPr id="20" name="Group 20"/>
          <p:cNvGrpSpPr/>
          <p:nvPr/>
        </p:nvGrpSpPr>
        <p:grpSpPr>
          <a:xfrm>
            <a:off x="876300" y="6000750"/>
            <a:ext cx="7620000" cy="2095500"/>
            <a:chOff x="0" y="0"/>
            <a:chExt cx="10160000" cy="2794000"/>
          </a:xfrm>
        </p:grpSpPr>
        <p:sp>
          <p:nvSpPr>
            <p:cNvPr id="21" name="Freeform 21"/>
            <p:cNvSpPr/>
            <p:nvPr/>
          </p:nvSpPr>
          <p:spPr>
            <a:xfrm>
              <a:off x="0" y="0"/>
              <a:ext cx="10160000" cy="2794000"/>
            </a:xfrm>
            <a:custGeom>
              <a:avLst/>
              <a:gdLst/>
              <a:ahLst/>
              <a:cxnLst/>
              <a:rect l="l" t="t" r="r" b="b"/>
              <a:pathLst>
                <a:path w="10160000" h="2794000">
                  <a:moveTo>
                    <a:pt x="254000" y="0"/>
                  </a:moveTo>
                  <a:lnTo>
                    <a:pt x="9906000" y="0"/>
                  </a:lnTo>
                  <a:cubicBezTo>
                    <a:pt x="10046281" y="0"/>
                    <a:pt x="10160000" y="113720"/>
                    <a:pt x="10160000" y="254000"/>
                  </a:cubicBezTo>
                  <a:lnTo>
                    <a:pt x="10160000" y="2540000"/>
                  </a:lnTo>
                  <a:cubicBezTo>
                    <a:pt x="10160000" y="2680280"/>
                    <a:pt x="10046281" y="2794000"/>
                    <a:pt x="9906000" y="2794000"/>
                  </a:cubicBezTo>
                  <a:lnTo>
                    <a:pt x="254000" y="2794000"/>
                  </a:lnTo>
                  <a:cubicBezTo>
                    <a:pt x="113720" y="2794000"/>
                    <a:pt x="0" y="2680280"/>
                    <a:pt x="0" y="2540000"/>
                  </a:cubicBezTo>
                  <a:lnTo>
                    <a:pt x="0" y="254000"/>
                  </a:lnTo>
                  <a:cubicBezTo>
                    <a:pt x="0" y="113720"/>
                    <a:pt x="113720" y="0"/>
                    <a:pt x="254000" y="0"/>
                  </a:cubicBezTo>
                  <a:close/>
                </a:path>
              </a:pathLst>
            </a:custGeom>
            <a:solidFill>
              <a:srgbClr val="FFFFFF"/>
            </a:solidFill>
            <a:ln w="9525" cap="sq">
              <a:solidFill>
                <a:srgbClr val="C9D7C5"/>
              </a:solidFill>
              <a:prstDash val="solid"/>
              <a:miter/>
            </a:ln>
          </p:spPr>
        </p:sp>
        <p:sp>
          <p:nvSpPr>
            <p:cNvPr id="22" name="TextBox 22"/>
            <p:cNvSpPr txBox="1"/>
            <p:nvPr/>
          </p:nvSpPr>
          <p:spPr>
            <a:xfrm>
              <a:off x="0" y="-38100"/>
              <a:ext cx="10160000" cy="2832100"/>
            </a:xfrm>
            <a:prstGeom prst="rect">
              <a:avLst/>
            </a:prstGeom>
          </p:spPr>
          <p:txBody>
            <a:bodyPr lIns="50800" tIns="50800" rIns="50800" bIns="50800" rtlCol="0" anchor="ctr"/>
            <a:lstStyle/>
            <a:p>
              <a:pPr algn="l">
                <a:lnSpc>
                  <a:spcPts val="1679"/>
                </a:lnSpc>
              </a:pPr>
              <a:endParaRPr/>
            </a:p>
          </p:txBody>
        </p:sp>
      </p:grpSp>
      <p:sp>
        <p:nvSpPr>
          <p:cNvPr id="23" name="TextBox 23"/>
          <p:cNvSpPr txBox="1"/>
          <p:nvPr/>
        </p:nvSpPr>
        <p:spPr>
          <a:xfrm>
            <a:off x="1181100" y="6229350"/>
            <a:ext cx="2857500" cy="458470"/>
          </a:xfrm>
          <a:prstGeom prst="rect">
            <a:avLst/>
          </a:prstGeom>
        </p:spPr>
        <p:txBody>
          <a:bodyPr lIns="0" tIns="0" rIns="0" bIns="0" rtlCol="0" anchor="t">
            <a:spAutoFit/>
          </a:bodyPr>
          <a:lstStyle/>
          <a:p>
            <a:pPr algn="l">
              <a:lnSpc>
                <a:spcPts val="3499"/>
              </a:lnSpc>
            </a:pPr>
            <a:r>
              <a:rPr lang="en-US" sz="2799" b="1">
                <a:solidFill>
                  <a:srgbClr val="2F6B45"/>
                </a:solidFill>
                <a:latin typeface="Poppins Bold"/>
                <a:ea typeface="Poppins Bold"/>
                <a:cs typeface="Poppins Bold"/>
                <a:sym typeface="Poppins Bold"/>
              </a:rPr>
              <a:t>Database</a:t>
            </a:r>
          </a:p>
        </p:txBody>
      </p:sp>
      <p:sp>
        <p:nvSpPr>
          <p:cNvPr id="24" name="TextBox 24"/>
          <p:cNvSpPr txBox="1"/>
          <p:nvPr/>
        </p:nvSpPr>
        <p:spPr>
          <a:xfrm>
            <a:off x="1181100" y="6924675"/>
            <a:ext cx="6858000" cy="346075"/>
          </a:xfrm>
          <a:prstGeom prst="rect">
            <a:avLst/>
          </a:prstGeom>
        </p:spPr>
        <p:txBody>
          <a:bodyPr lIns="0" tIns="0" rIns="0" bIns="0" rtlCol="0" anchor="t">
            <a:spAutoFit/>
          </a:bodyPr>
          <a:lstStyle/>
          <a:p>
            <a:pPr algn="l">
              <a:lnSpc>
                <a:spcPts val="2600"/>
              </a:lnSpc>
            </a:pPr>
            <a:r>
              <a:rPr lang="en-US" sz="2000">
                <a:solidFill>
                  <a:srgbClr val="18352A"/>
                </a:solidFill>
                <a:latin typeface="Poppins"/>
                <a:ea typeface="Poppins"/>
                <a:cs typeface="Poppins"/>
                <a:sym typeface="Poppins"/>
              </a:rPr>
              <a:t>PostgreSQL stores persistent application data.</a:t>
            </a:r>
          </a:p>
        </p:txBody>
      </p:sp>
      <p:grpSp>
        <p:nvGrpSpPr>
          <p:cNvPr id="25" name="Group 25"/>
          <p:cNvGrpSpPr/>
          <p:nvPr/>
        </p:nvGrpSpPr>
        <p:grpSpPr>
          <a:xfrm>
            <a:off x="9448800" y="6000750"/>
            <a:ext cx="7620000" cy="2095500"/>
            <a:chOff x="0" y="0"/>
            <a:chExt cx="10160000" cy="2794000"/>
          </a:xfrm>
        </p:grpSpPr>
        <p:sp>
          <p:nvSpPr>
            <p:cNvPr id="26" name="Freeform 26"/>
            <p:cNvSpPr/>
            <p:nvPr/>
          </p:nvSpPr>
          <p:spPr>
            <a:xfrm>
              <a:off x="0" y="0"/>
              <a:ext cx="10160000" cy="2794000"/>
            </a:xfrm>
            <a:custGeom>
              <a:avLst/>
              <a:gdLst/>
              <a:ahLst/>
              <a:cxnLst/>
              <a:rect l="l" t="t" r="r" b="b"/>
              <a:pathLst>
                <a:path w="10160000" h="2794000">
                  <a:moveTo>
                    <a:pt x="254000" y="0"/>
                  </a:moveTo>
                  <a:lnTo>
                    <a:pt x="9906000" y="0"/>
                  </a:lnTo>
                  <a:cubicBezTo>
                    <a:pt x="10046281" y="0"/>
                    <a:pt x="10160000" y="113720"/>
                    <a:pt x="10160000" y="254000"/>
                  </a:cubicBezTo>
                  <a:lnTo>
                    <a:pt x="10160000" y="2540000"/>
                  </a:lnTo>
                  <a:cubicBezTo>
                    <a:pt x="10160000" y="2680280"/>
                    <a:pt x="10046281" y="2794000"/>
                    <a:pt x="9906000" y="2794000"/>
                  </a:cubicBezTo>
                  <a:lnTo>
                    <a:pt x="254000" y="2794000"/>
                  </a:lnTo>
                  <a:cubicBezTo>
                    <a:pt x="113720" y="2794000"/>
                    <a:pt x="0" y="2680280"/>
                    <a:pt x="0" y="2540000"/>
                  </a:cubicBezTo>
                  <a:lnTo>
                    <a:pt x="0" y="254000"/>
                  </a:lnTo>
                  <a:cubicBezTo>
                    <a:pt x="0" y="113720"/>
                    <a:pt x="113720" y="0"/>
                    <a:pt x="254000" y="0"/>
                  </a:cubicBezTo>
                  <a:close/>
                </a:path>
              </a:pathLst>
            </a:custGeom>
            <a:solidFill>
              <a:srgbClr val="123D2B"/>
            </a:solidFill>
            <a:ln w="9525" cap="sq">
              <a:solidFill>
                <a:srgbClr val="C7964A"/>
              </a:solidFill>
              <a:prstDash val="solid"/>
              <a:miter/>
            </a:ln>
          </p:spPr>
        </p:sp>
        <p:sp>
          <p:nvSpPr>
            <p:cNvPr id="27" name="TextBox 27"/>
            <p:cNvSpPr txBox="1"/>
            <p:nvPr/>
          </p:nvSpPr>
          <p:spPr>
            <a:xfrm>
              <a:off x="0" y="-38100"/>
              <a:ext cx="10160000" cy="2832100"/>
            </a:xfrm>
            <a:prstGeom prst="rect">
              <a:avLst/>
            </a:prstGeom>
          </p:spPr>
          <p:txBody>
            <a:bodyPr lIns="50800" tIns="50800" rIns="50800" bIns="50800" rtlCol="0" anchor="ctr"/>
            <a:lstStyle/>
            <a:p>
              <a:pPr algn="l">
                <a:lnSpc>
                  <a:spcPts val="1679"/>
                </a:lnSpc>
              </a:pPr>
              <a:endParaRPr/>
            </a:p>
          </p:txBody>
        </p:sp>
      </p:grpSp>
      <p:sp>
        <p:nvSpPr>
          <p:cNvPr id="28" name="TextBox 28"/>
          <p:cNvSpPr txBox="1"/>
          <p:nvPr/>
        </p:nvSpPr>
        <p:spPr>
          <a:xfrm>
            <a:off x="9753600" y="6229350"/>
            <a:ext cx="2857500" cy="458470"/>
          </a:xfrm>
          <a:prstGeom prst="rect">
            <a:avLst/>
          </a:prstGeom>
        </p:spPr>
        <p:txBody>
          <a:bodyPr lIns="0" tIns="0" rIns="0" bIns="0" rtlCol="0" anchor="t">
            <a:spAutoFit/>
          </a:bodyPr>
          <a:lstStyle/>
          <a:p>
            <a:pPr algn="l">
              <a:lnSpc>
                <a:spcPts val="3499"/>
              </a:lnSpc>
            </a:pPr>
            <a:r>
              <a:rPr lang="en-US" sz="2799" b="1">
                <a:solidFill>
                  <a:srgbClr val="FFFFFF"/>
                </a:solidFill>
                <a:latin typeface="Poppins Bold"/>
                <a:ea typeface="Poppins Bold"/>
                <a:cs typeface="Poppins Bold"/>
                <a:sym typeface="Poppins Bold"/>
              </a:rPr>
              <a:t>AI</a:t>
            </a:r>
          </a:p>
        </p:txBody>
      </p:sp>
      <p:sp>
        <p:nvSpPr>
          <p:cNvPr id="29" name="TextBox 29"/>
          <p:cNvSpPr txBox="1"/>
          <p:nvPr/>
        </p:nvSpPr>
        <p:spPr>
          <a:xfrm>
            <a:off x="9753600" y="6924675"/>
            <a:ext cx="6858000" cy="669925"/>
          </a:xfrm>
          <a:prstGeom prst="rect">
            <a:avLst/>
          </a:prstGeom>
        </p:spPr>
        <p:txBody>
          <a:bodyPr lIns="0" tIns="0" rIns="0" bIns="0" rtlCol="0" anchor="t">
            <a:spAutoFit/>
          </a:bodyPr>
          <a:lstStyle/>
          <a:p>
            <a:pPr algn="l">
              <a:lnSpc>
                <a:spcPts val="2600"/>
              </a:lnSpc>
            </a:pPr>
            <a:r>
              <a:rPr lang="en-US" sz="2000">
                <a:solidFill>
                  <a:srgbClr val="FFFFFF"/>
                </a:solidFill>
                <a:latin typeface="Poppins"/>
                <a:ea typeface="Poppins"/>
                <a:cs typeface="Poppins"/>
                <a:sym typeface="Poppins"/>
              </a:rPr>
              <a:t>Hugging Face API with Llama 3.1 8B Instruct provides intelligent features and AI-powered insights.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7069" y="73372"/>
            <a:ext cx="7838135" cy="802928"/>
          </a:xfrm>
          <a:prstGeom prst="rect">
            <a:avLst/>
          </a:prstGeom>
          <a:noFill/>
          <a:ln/>
        </p:spPr>
        <p:txBody>
          <a:bodyPr wrap="none" lIns="0" tIns="0" rIns="0" bIns="0" rtlCol="0" anchor="t"/>
          <a:lstStyle/>
          <a:p>
            <a:pPr marL="685800" indent="-685800">
              <a:lnSpc>
                <a:spcPct val="104000"/>
              </a:lnSpc>
              <a:buFont typeface="Wingdings" panose="05000000000000000000" pitchFamily="2" charset="2"/>
              <a:buChar char="Ø"/>
            </a:pPr>
            <a:r>
              <a:rPr lang="en-US" sz="5025">
                <a:solidFill>
                  <a:srgbClr val="403011"/>
                </a:solidFill>
                <a:latin typeface="Brygada 1918 SemiBold" pitchFamily="34" charset="0"/>
                <a:ea typeface="Brygada 1918 SemiBold" pitchFamily="34" charset="-122"/>
                <a:cs typeface="Brygada 1918 SemiBold" pitchFamily="34" charset="-120"/>
              </a:rPr>
              <a:t>Farm Management</a:t>
            </a:r>
            <a:endParaRPr lang="en-US" sz="5025"/>
          </a:p>
          <a:p>
            <a:pPr marL="685800" indent="-685800">
              <a:lnSpc>
                <a:spcPct val="104000"/>
              </a:lnSpc>
              <a:buFont typeface="Wingdings" panose="05000000000000000000" pitchFamily="2" charset="2"/>
              <a:buChar char="Ø"/>
            </a:pPr>
            <a:endParaRPr lang="en-US" sz="5025"/>
          </a:p>
        </p:txBody>
      </p:sp>
      <p:sp>
        <p:nvSpPr>
          <p:cNvPr id="3" name="Text 1"/>
          <p:cNvSpPr/>
          <p:nvPr/>
        </p:nvSpPr>
        <p:spPr>
          <a:xfrm>
            <a:off x="835385" y="806127"/>
            <a:ext cx="8151788" cy="1746201"/>
          </a:xfrm>
          <a:prstGeom prst="rect">
            <a:avLst/>
          </a:prstGeom>
          <a:noFill/>
          <a:ln/>
        </p:spPr>
        <p:txBody>
          <a:bodyPr wrap="square" lIns="0" tIns="102779" rIns="0" bIns="0" rtlCol="0" anchor="t">
            <a:normAutofit/>
          </a:bodyPr>
          <a:lstStyle/>
          <a:p>
            <a:pPr marL="428625" indent="-428625">
              <a:lnSpc>
                <a:spcPct val="127000"/>
              </a:lnSpc>
              <a:buSzPct val="100000"/>
              <a:buFont typeface="Wingdings" panose="05000000000000000000" pitchFamily="2" charset="2"/>
              <a:buChar char="v"/>
            </a:pPr>
            <a:r>
              <a:rPr lang="en-US" sz="1950">
                <a:solidFill>
                  <a:srgbClr val="403011"/>
                </a:solidFill>
                <a:latin typeface="Brygada 1918" pitchFamily="34" charset="0"/>
                <a:ea typeface="Brygada 1918" pitchFamily="34" charset="-122"/>
                <a:cs typeface="Brygada 1918" pitchFamily="34" charset="-120"/>
              </a:rPr>
              <a:t>Register farm details</a:t>
            </a:r>
            <a:endParaRPr lang="en-US" sz="1950"/>
          </a:p>
          <a:p>
            <a:pPr marL="428625" indent="-428625">
              <a:lnSpc>
                <a:spcPct val="127000"/>
              </a:lnSpc>
              <a:buSzPct val="100000"/>
              <a:buFont typeface="Wingdings" panose="05000000000000000000" pitchFamily="2" charset="2"/>
              <a:buChar char="v"/>
            </a:pPr>
            <a:r>
              <a:rPr lang="en-US" sz="1950">
                <a:solidFill>
                  <a:srgbClr val="403011"/>
                </a:solidFill>
                <a:latin typeface="Brygada 1918" pitchFamily="34" charset="0"/>
                <a:ea typeface="Brygada 1918" pitchFamily="34" charset="-122"/>
                <a:cs typeface="Brygada 1918" pitchFamily="34" charset="-120"/>
              </a:rPr>
              <a:t>View registered farms</a:t>
            </a:r>
            <a:endParaRPr lang="en-US" sz="1950"/>
          </a:p>
          <a:p>
            <a:pPr marL="428625" indent="-428625">
              <a:lnSpc>
                <a:spcPct val="127000"/>
              </a:lnSpc>
              <a:buSzPct val="100000"/>
              <a:buFont typeface="Wingdings" panose="05000000000000000000" pitchFamily="2" charset="2"/>
              <a:buChar char="v"/>
            </a:pPr>
            <a:r>
              <a:rPr lang="en-US" sz="1950">
                <a:solidFill>
                  <a:srgbClr val="403011"/>
                </a:solidFill>
                <a:latin typeface="Brygada 1918" pitchFamily="34" charset="0"/>
                <a:ea typeface="Brygada 1918" pitchFamily="34" charset="-122"/>
                <a:cs typeface="Brygada 1918" pitchFamily="34" charset="-120"/>
              </a:rPr>
              <a:t>Manage farm information</a:t>
            </a:r>
            <a:endParaRPr lang="en-US" sz="1950"/>
          </a:p>
        </p:txBody>
      </p:sp>
      <p:sp>
        <p:nvSpPr>
          <p:cNvPr id="4" name="Text 2"/>
          <p:cNvSpPr/>
          <p:nvPr/>
        </p:nvSpPr>
        <p:spPr>
          <a:xfrm>
            <a:off x="477068" y="2150864"/>
            <a:ext cx="7838135" cy="802928"/>
          </a:xfrm>
          <a:prstGeom prst="rect">
            <a:avLst/>
          </a:prstGeom>
          <a:noFill/>
          <a:ln/>
        </p:spPr>
        <p:txBody>
          <a:bodyPr wrap="none" lIns="0" tIns="0" rIns="0" bIns="0" rtlCol="0" anchor="t"/>
          <a:lstStyle/>
          <a:p>
            <a:pPr marL="685800" indent="-685800">
              <a:lnSpc>
                <a:spcPct val="104000"/>
              </a:lnSpc>
              <a:buFont typeface="Wingdings" panose="05000000000000000000" pitchFamily="2" charset="2"/>
              <a:buChar char="Ø"/>
            </a:pPr>
            <a:r>
              <a:rPr lang="en-US" sz="5025">
                <a:solidFill>
                  <a:srgbClr val="403011"/>
                </a:solidFill>
                <a:latin typeface="Brygada 1918 SemiBold" pitchFamily="34" charset="0"/>
                <a:ea typeface="Brygada 1918 SemiBold" pitchFamily="34" charset="-122"/>
                <a:cs typeface="Brygada 1918 SemiBold" pitchFamily="34" charset="-120"/>
              </a:rPr>
              <a:t>Crop Management</a:t>
            </a:r>
            <a:endParaRPr lang="en-US" sz="5025"/>
          </a:p>
        </p:txBody>
      </p:sp>
      <p:sp>
        <p:nvSpPr>
          <p:cNvPr id="5" name="Text 3"/>
          <p:cNvSpPr/>
          <p:nvPr/>
        </p:nvSpPr>
        <p:spPr>
          <a:xfrm>
            <a:off x="813053" y="2849240"/>
            <a:ext cx="7838135" cy="2758232"/>
          </a:xfrm>
          <a:prstGeom prst="rect">
            <a:avLst/>
          </a:prstGeom>
          <a:noFill/>
          <a:ln/>
        </p:spPr>
        <p:txBody>
          <a:bodyPr wrap="square" lIns="0" tIns="102779" rIns="0" bIns="0" rtlCol="0" anchor="t">
            <a:normAutofit/>
          </a:bodyPr>
          <a:lstStyle/>
          <a:p>
            <a:pPr marL="428625" indent="-428625">
              <a:lnSpc>
                <a:spcPct val="127000"/>
              </a:lnSpc>
              <a:buSzPct val="100000"/>
              <a:buFont typeface="Wingdings" panose="05000000000000000000" pitchFamily="2" charset="2"/>
              <a:buChar char="v"/>
            </a:pPr>
            <a:r>
              <a:rPr lang="en-US" sz="1950">
                <a:solidFill>
                  <a:srgbClr val="403011"/>
                </a:solidFill>
                <a:latin typeface="Brygada 1918" pitchFamily="34" charset="0"/>
                <a:ea typeface="Brygada 1918" pitchFamily="34" charset="-122"/>
                <a:cs typeface="Brygada 1918" pitchFamily="34" charset="-120"/>
              </a:rPr>
              <a:t>Add crops to farms</a:t>
            </a:r>
            <a:endParaRPr lang="en-US" sz="1950"/>
          </a:p>
          <a:p>
            <a:pPr marL="428625" indent="-428625">
              <a:lnSpc>
                <a:spcPct val="127000"/>
              </a:lnSpc>
              <a:buSzPct val="100000"/>
              <a:buFont typeface="Wingdings" panose="05000000000000000000" pitchFamily="2" charset="2"/>
              <a:buChar char="v"/>
            </a:pPr>
            <a:r>
              <a:rPr lang="en-US" sz="1950">
                <a:solidFill>
                  <a:srgbClr val="403011"/>
                </a:solidFill>
                <a:latin typeface="Brygada 1918" pitchFamily="34" charset="0"/>
                <a:ea typeface="Brygada 1918" pitchFamily="34" charset="-122"/>
                <a:cs typeface="Brygada 1918" pitchFamily="34" charset="-120"/>
              </a:rPr>
              <a:t>Track crop area</a:t>
            </a:r>
            <a:endParaRPr lang="en-US" sz="1950"/>
          </a:p>
          <a:p>
            <a:pPr marL="428625" indent="-428625">
              <a:lnSpc>
                <a:spcPct val="127000"/>
              </a:lnSpc>
              <a:buSzPct val="100000"/>
              <a:buFont typeface="Wingdings" panose="05000000000000000000" pitchFamily="2" charset="2"/>
              <a:buChar char="v"/>
            </a:pPr>
            <a:r>
              <a:rPr lang="en-US" sz="1950">
                <a:solidFill>
                  <a:srgbClr val="403011"/>
                </a:solidFill>
                <a:latin typeface="Brygada 1918" pitchFamily="34" charset="0"/>
                <a:ea typeface="Brygada 1918" pitchFamily="34" charset="-122"/>
                <a:cs typeface="Brygada 1918" pitchFamily="34" charset="-120"/>
              </a:rPr>
              <a:t>Store soil information</a:t>
            </a:r>
            <a:endParaRPr lang="en-US" sz="1950"/>
          </a:p>
          <a:p>
            <a:pPr marL="428625" indent="-428625">
              <a:lnSpc>
                <a:spcPct val="127000"/>
              </a:lnSpc>
              <a:buSzPct val="100000"/>
              <a:buFont typeface="Wingdings" panose="05000000000000000000" pitchFamily="2" charset="2"/>
              <a:buChar char="v"/>
            </a:pPr>
            <a:r>
              <a:rPr lang="en-US" sz="1950">
                <a:solidFill>
                  <a:srgbClr val="403011"/>
                </a:solidFill>
                <a:latin typeface="Brygada 1918" pitchFamily="34" charset="0"/>
                <a:ea typeface="Brygada 1918" pitchFamily="34" charset="-122"/>
                <a:cs typeface="Brygada 1918" pitchFamily="34" charset="-120"/>
              </a:rPr>
              <a:t>Record sowing month/year</a:t>
            </a:r>
            <a:endParaRPr lang="en-US" sz="1950"/>
          </a:p>
          <a:p>
            <a:pPr marL="428625" indent="-428625">
              <a:lnSpc>
                <a:spcPct val="127000"/>
              </a:lnSpc>
              <a:buSzPct val="100000"/>
              <a:buFont typeface="Wingdings" panose="05000000000000000000" pitchFamily="2" charset="2"/>
              <a:buChar char="v"/>
            </a:pPr>
            <a:r>
              <a:rPr lang="en-US" sz="1950">
                <a:solidFill>
                  <a:srgbClr val="403011"/>
                </a:solidFill>
                <a:latin typeface="Brygada 1918" pitchFamily="34" charset="0"/>
                <a:ea typeface="Brygada 1918" pitchFamily="34" charset="-122"/>
                <a:cs typeface="Brygada 1918" pitchFamily="34" charset="-120"/>
              </a:rPr>
              <a:t>Record harvest month/year</a:t>
            </a:r>
            <a:endParaRPr lang="en-US" sz="1950"/>
          </a:p>
          <a:p>
            <a:pPr marL="428625" indent="-428625">
              <a:lnSpc>
                <a:spcPct val="127000"/>
              </a:lnSpc>
              <a:buSzPct val="100000"/>
              <a:buFont typeface="Wingdings" panose="05000000000000000000" pitchFamily="2" charset="2"/>
              <a:buChar char="v"/>
            </a:pPr>
            <a:r>
              <a:rPr lang="en-US" sz="1950">
                <a:solidFill>
                  <a:srgbClr val="403011"/>
                </a:solidFill>
                <a:latin typeface="Brygada 1918" pitchFamily="34" charset="0"/>
                <a:ea typeface="Brygada 1918" pitchFamily="34" charset="-122"/>
                <a:cs typeface="Brygada 1918" pitchFamily="34" charset="-120"/>
              </a:rPr>
              <a:t>Track yield information</a:t>
            </a:r>
            <a:endParaRPr lang="en-US" sz="1950"/>
          </a:p>
        </p:txBody>
      </p:sp>
      <p:sp>
        <p:nvSpPr>
          <p:cNvPr id="7" name="Text 4"/>
          <p:cNvSpPr/>
          <p:nvPr/>
        </p:nvSpPr>
        <p:spPr>
          <a:xfrm>
            <a:off x="835385" y="6712051"/>
            <a:ext cx="7838135" cy="783729"/>
          </a:xfrm>
          <a:prstGeom prst="rect">
            <a:avLst/>
          </a:prstGeom>
          <a:noFill/>
          <a:ln/>
        </p:spPr>
        <p:txBody>
          <a:bodyPr wrap="square" lIns="0" tIns="0" rIns="0" bIns="0" rtlCol="0" anchor="t">
            <a:normAutofit/>
          </a:bodyPr>
          <a:lstStyle/>
          <a:p>
            <a:pPr marL="342900" indent="-342900">
              <a:lnSpc>
                <a:spcPct val="104000"/>
              </a:lnSpc>
              <a:buFont typeface="Wingdings" panose="05000000000000000000" pitchFamily="2" charset="2"/>
              <a:buChar char="v"/>
            </a:pPr>
            <a:r>
              <a:rPr lang="en-US" sz="2000">
                <a:solidFill>
                  <a:srgbClr val="403011"/>
                </a:solidFill>
                <a:latin typeface="Brygada 1918 SemiBold" pitchFamily="34" charset="0"/>
                <a:ea typeface="Brygada 1918 SemiBold" pitchFamily="34" charset="-122"/>
                <a:cs typeface="Brygada 1918 SemiBold" pitchFamily="34" charset="-120"/>
              </a:rPr>
              <a:t>Cost Analysis</a:t>
            </a:r>
            <a:endParaRPr lang="en-US" sz="2000"/>
          </a:p>
        </p:txBody>
      </p:sp>
      <p:grpSp>
        <p:nvGrpSpPr>
          <p:cNvPr id="10" name="Group 2">
            <a:extLst>
              <a:ext uri="{FF2B5EF4-FFF2-40B4-BE49-F238E27FC236}">
                <a16:creationId xmlns:a16="http://schemas.microsoft.com/office/drawing/2014/main" id="{A56D625A-FE3C-49A4-BF23-E70D71CC1482}"/>
              </a:ext>
            </a:extLst>
          </p:cNvPr>
          <p:cNvGrpSpPr/>
          <p:nvPr/>
        </p:nvGrpSpPr>
        <p:grpSpPr>
          <a:xfrm>
            <a:off x="9925098" y="139996"/>
            <a:ext cx="8199431" cy="5029200"/>
            <a:chOff x="0" y="0"/>
            <a:chExt cx="939286" cy="671070"/>
          </a:xfrm>
        </p:grpSpPr>
        <p:sp>
          <p:nvSpPr>
            <p:cNvPr id="11" name="Freeform 3">
              <a:extLst>
                <a:ext uri="{FF2B5EF4-FFF2-40B4-BE49-F238E27FC236}">
                  <a16:creationId xmlns:a16="http://schemas.microsoft.com/office/drawing/2014/main" id="{E5F3AEDC-16A4-BFB2-C789-A368C0F800FA}"/>
                </a:ext>
              </a:extLst>
            </p:cNvPr>
            <p:cNvSpPr/>
            <p:nvPr/>
          </p:nvSpPr>
          <p:spPr>
            <a:xfrm>
              <a:off x="0" y="0"/>
              <a:ext cx="939286" cy="671070"/>
            </a:xfrm>
            <a:custGeom>
              <a:avLst/>
              <a:gdLst/>
              <a:ahLst/>
              <a:cxnLst/>
              <a:rect l="l" t="t" r="r" b="b"/>
              <a:pathLst>
                <a:path w="939286" h="671070">
                  <a:moveTo>
                    <a:pt x="26086" y="0"/>
                  </a:moveTo>
                  <a:lnTo>
                    <a:pt x="913200" y="0"/>
                  </a:lnTo>
                  <a:cubicBezTo>
                    <a:pt x="920118" y="0"/>
                    <a:pt x="926754" y="2748"/>
                    <a:pt x="931646" y="7640"/>
                  </a:cubicBezTo>
                  <a:cubicBezTo>
                    <a:pt x="936538" y="12533"/>
                    <a:pt x="939286" y="19168"/>
                    <a:pt x="939286" y="26086"/>
                  </a:cubicBezTo>
                  <a:lnTo>
                    <a:pt x="939286" y="644984"/>
                  </a:lnTo>
                  <a:cubicBezTo>
                    <a:pt x="939286" y="651902"/>
                    <a:pt x="936538" y="658537"/>
                    <a:pt x="931646" y="663429"/>
                  </a:cubicBezTo>
                  <a:cubicBezTo>
                    <a:pt x="926754" y="668322"/>
                    <a:pt x="920118" y="671070"/>
                    <a:pt x="913200" y="671070"/>
                  </a:cubicBezTo>
                  <a:lnTo>
                    <a:pt x="26086" y="671070"/>
                  </a:lnTo>
                  <a:cubicBezTo>
                    <a:pt x="19168" y="671070"/>
                    <a:pt x="12533" y="668322"/>
                    <a:pt x="7640" y="663429"/>
                  </a:cubicBezTo>
                  <a:cubicBezTo>
                    <a:pt x="2748" y="658537"/>
                    <a:pt x="0" y="651902"/>
                    <a:pt x="0" y="644984"/>
                  </a:cubicBezTo>
                  <a:lnTo>
                    <a:pt x="0" y="26086"/>
                  </a:lnTo>
                  <a:cubicBezTo>
                    <a:pt x="0" y="19168"/>
                    <a:pt x="2748" y="12533"/>
                    <a:pt x="7640" y="7640"/>
                  </a:cubicBezTo>
                  <a:cubicBezTo>
                    <a:pt x="12533" y="2748"/>
                    <a:pt x="19168" y="0"/>
                    <a:pt x="26086" y="0"/>
                  </a:cubicBezTo>
                  <a:close/>
                </a:path>
              </a:pathLst>
            </a:custGeom>
            <a:blipFill>
              <a:blip r:embed="rId3"/>
              <a:stretch>
                <a:fillRect l="-3534" r="-3534"/>
              </a:stretch>
            </a:blipFill>
            <a:ln w="57150" cap="rnd">
              <a:solidFill>
                <a:srgbClr val="004D13"/>
              </a:solidFill>
              <a:prstDash val="solid"/>
              <a:round/>
            </a:ln>
          </p:spPr>
        </p:sp>
      </p:grpSp>
      <p:sp>
        <p:nvSpPr>
          <p:cNvPr id="13" name="TextBox 12">
            <a:extLst>
              <a:ext uri="{FF2B5EF4-FFF2-40B4-BE49-F238E27FC236}">
                <a16:creationId xmlns:a16="http://schemas.microsoft.com/office/drawing/2014/main" id="{A2C07E4D-AE66-499D-7CE6-CE4A9B0B7F96}"/>
              </a:ext>
            </a:extLst>
          </p:cNvPr>
          <p:cNvSpPr txBox="1"/>
          <p:nvPr/>
        </p:nvSpPr>
        <p:spPr>
          <a:xfrm>
            <a:off x="528909" y="5424067"/>
            <a:ext cx="9144000" cy="826252"/>
          </a:xfrm>
          <a:prstGeom prst="rect">
            <a:avLst/>
          </a:prstGeom>
          <a:noFill/>
        </p:spPr>
        <p:txBody>
          <a:bodyPr wrap="square">
            <a:spAutoFit/>
          </a:bodyPr>
          <a:lstStyle/>
          <a:p>
            <a:pPr marL="571500" indent="-571500" algn="l">
              <a:lnSpc>
                <a:spcPct val="104000"/>
              </a:lnSpc>
              <a:buFont typeface="Wingdings" panose="05000000000000000000" pitchFamily="2" charset="2"/>
              <a:buChar char="Ø"/>
            </a:pPr>
            <a:r>
              <a:rPr lang="en-US" sz="4800">
                <a:solidFill>
                  <a:srgbClr val="403011"/>
                </a:solidFill>
                <a:latin typeface="Brygada 1918 SemiBold" pitchFamily="34" charset="0"/>
                <a:ea typeface="Brygada 1918 SemiBold" pitchFamily="34" charset="-122"/>
                <a:cs typeface="Brygada 1918 SemiBold" pitchFamily="34" charset="-120"/>
              </a:rPr>
              <a:t> Expense Management</a:t>
            </a:r>
            <a:endParaRPr lang="en-US" sz="4800"/>
          </a:p>
        </p:txBody>
      </p:sp>
      <p:sp>
        <p:nvSpPr>
          <p:cNvPr id="15" name="Text 2">
            <a:extLst>
              <a:ext uri="{FF2B5EF4-FFF2-40B4-BE49-F238E27FC236}">
                <a16:creationId xmlns:a16="http://schemas.microsoft.com/office/drawing/2014/main" id="{B960D703-920B-3B43-1B39-4979D129436F}"/>
              </a:ext>
            </a:extLst>
          </p:cNvPr>
          <p:cNvSpPr/>
          <p:nvPr/>
        </p:nvSpPr>
        <p:spPr>
          <a:xfrm>
            <a:off x="813053" y="6237069"/>
            <a:ext cx="2203494" cy="295275"/>
          </a:xfrm>
          <a:prstGeom prst="rect">
            <a:avLst/>
          </a:prstGeom>
          <a:noFill/>
          <a:ln/>
        </p:spPr>
        <p:txBody>
          <a:bodyPr wrap="none" lIns="0" tIns="0" rIns="0" bIns="0" rtlCol="0" anchor="t"/>
          <a:lstStyle/>
          <a:p>
            <a:pPr marL="342900" indent="-342900" algn="l">
              <a:lnSpc>
                <a:spcPct val="104000"/>
              </a:lnSpc>
              <a:buFont typeface="Wingdings" panose="05000000000000000000" pitchFamily="2" charset="2"/>
              <a:buChar char="v"/>
            </a:pPr>
            <a:r>
              <a:rPr lang="en-US" sz="2000">
                <a:solidFill>
                  <a:srgbClr val="403011"/>
                </a:solidFill>
                <a:latin typeface="Brygada 1918 SemiBold" pitchFamily="34" charset="0"/>
                <a:ea typeface="Brygada 1918 SemiBold" pitchFamily="34" charset="-122"/>
                <a:cs typeface="Brygada 1918 SemiBold" pitchFamily="34" charset="-120"/>
              </a:rPr>
              <a:t> Real-time Tracking</a:t>
            </a:r>
            <a:endParaRPr lang="en-US" sz="2000"/>
          </a:p>
        </p:txBody>
      </p:sp>
      <p:sp>
        <p:nvSpPr>
          <p:cNvPr id="17" name="TextBox 16">
            <a:extLst>
              <a:ext uri="{FF2B5EF4-FFF2-40B4-BE49-F238E27FC236}">
                <a16:creationId xmlns:a16="http://schemas.microsoft.com/office/drawing/2014/main" id="{98E848B3-80D9-CE7D-5490-CDEDDB991A2E}"/>
              </a:ext>
            </a:extLst>
          </p:cNvPr>
          <p:cNvSpPr txBox="1"/>
          <p:nvPr/>
        </p:nvSpPr>
        <p:spPr>
          <a:xfrm>
            <a:off x="781098" y="7136207"/>
            <a:ext cx="9144000" cy="398122"/>
          </a:xfrm>
          <a:prstGeom prst="rect">
            <a:avLst/>
          </a:prstGeom>
          <a:noFill/>
        </p:spPr>
        <p:txBody>
          <a:bodyPr wrap="square">
            <a:spAutoFit/>
          </a:bodyPr>
          <a:lstStyle/>
          <a:p>
            <a:pPr marL="342900" indent="-342900" algn="l">
              <a:lnSpc>
                <a:spcPct val="104000"/>
              </a:lnSpc>
              <a:buFont typeface="Wingdings" panose="05000000000000000000" pitchFamily="2" charset="2"/>
              <a:buChar char="v"/>
            </a:pPr>
            <a:r>
              <a:rPr lang="en-US" sz="2000">
                <a:solidFill>
                  <a:srgbClr val="403011"/>
                </a:solidFill>
                <a:latin typeface="Brygada 1918 SemiBold" pitchFamily="34" charset="0"/>
                <a:ea typeface="Brygada 1918 SemiBold" pitchFamily="34" charset="-122"/>
                <a:cs typeface="Brygada 1918 SemiBold" pitchFamily="34" charset="-120"/>
              </a:rPr>
              <a:t>Budget Alerts</a:t>
            </a:r>
            <a:endParaRPr lang="en-US" sz="2000"/>
          </a:p>
        </p:txBody>
      </p:sp>
      <p:sp>
        <p:nvSpPr>
          <p:cNvPr id="19" name="TextBox 18">
            <a:extLst>
              <a:ext uri="{FF2B5EF4-FFF2-40B4-BE49-F238E27FC236}">
                <a16:creationId xmlns:a16="http://schemas.microsoft.com/office/drawing/2014/main" id="{7EBBB0F0-CAF6-0FD4-086C-8F92E4F8DAAE}"/>
              </a:ext>
            </a:extLst>
          </p:cNvPr>
          <p:cNvSpPr txBox="1"/>
          <p:nvPr/>
        </p:nvSpPr>
        <p:spPr>
          <a:xfrm>
            <a:off x="781098" y="7675487"/>
            <a:ext cx="9144000" cy="398122"/>
          </a:xfrm>
          <a:prstGeom prst="rect">
            <a:avLst/>
          </a:prstGeom>
          <a:noFill/>
        </p:spPr>
        <p:txBody>
          <a:bodyPr wrap="square">
            <a:spAutoFit/>
          </a:bodyPr>
          <a:lstStyle/>
          <a:p>
            <a:pPr marL="342900" indent="-342900" algn="l">
              <a:lnSpc>
                <a:spcPct val="104000"/>
              </a:lnSpc>
              <a:buFont typeface="Wingdings" panose="05000000000000000000" pitchFamily="2" charset="2"/>
              <a:buChar char="v"/>
            </a:pPr>
            <a:r>
              <a:rPr lang="en-US" sz="2000">
                <a:solidFill>
                  <a:srgbClr val="403011"/>
                </a:solidFill>
                <a:latin typeface="Brygada 1918 SemiBold" pitchFamily="34" charset="0"/>
                <a:ea typeface="Brygada 1918 SemiBold" pitchFamily="34" charset="-122"/>
                <a:cs typeface="Brygada 1918 SemiBold" pitchFamily="34" charset="-120"/>
              </a:rPr>
              <a:t>Expense Reports</a:t>
            </a:r>
            <a:endParaRPr lang="en-US" sz="2000"/>
          </a:p>
        </p:txBody>
      </p:sp>
      <p:sp>
        <p:nvSpPr>
          <p:cNvPr id="21" name="Freeform 11">
            <a:extLst>
              <a:ext uri="{FF2B5EF4-FFF2-40B4-BE49-F238E27FC236}">
                <a16:creationId xmlns:a16="http://schemas.microsoft.com/office/drawing/2014/main" id="{95A1C3B0-15F9-FCE9-16A8-039BD3B3B5A7}"/>
              </a:ext>
            </a:extLst>
          </p:cNvPr>
          <p:cNvSpPr/>
          <p:nvPr/>
        </p:nvSpPr>
        <p:spPr>
          <a:xfrm rot="18210808">
            <a:off x="13735643" y="6167893"/>
            <a:ext cx="4778616" cy="5173062"/>
          </a:xfrm>
          <a:custGeom>
            <a:avLst/>
            <a:gdLst/>
            <a:ahLst/>
            <a:cxnLst/>
            <a:rect l="l" t="t" r="r" b="b"/>
            <a:pathLst>
              <a:path w="4778616" h="5173062">
                <a:moveTo>
                  <a:pt x="0" y="0"/>
                </a:moveTo>
                <a:lnTo>
                  <a:pt x="4778616" y="0"/>
                </a:lnTo>
                <a:lnTo>
                  <a:pt x="4778616" y="5173062"/>
                </a:lnTo>
                <a:lnTo>
                  <a:pt x="0" y="5173062"/>
                </a:lnTo>
                <a:lnTo>
                  <a:pt x="0" y="0"/>
                </a:lnTo>
                <a:close/>
              </a:path>
            </a:pathLst>
          </a:custGeom>
          <a:blipFill>
            <a:blip r:embed="rId4"/>
            <a:stretch>
              <a:fillRect/>
            </a:stretch>
          </a:blipFill>
        </p:spPr>
      </p:sp>
      <p:grpSp>
        <p:nvGrpSpPr>
          <p:cNvPr id="31" name="Group 27"/>
          <p:cNvGrpSpPr/>
          <p:nvPr/>
        </p:nvGrpSpPr>
        <p:grpSpPr>
          <a:xfrm>
            <a:off x="4416078" y="7915941"/>
            <a:ext cx="6951504" cy="1607808"/>
            <a:chOff x="5088275" y="7141713"/>
            <a:chExt cx="4351139" cy="829741"/>
          </a:xfrm>
        </p:grpSpPr>
        <p:sp>
          <p:nvSpPr>
            <p:cNvPr id="32" name="Freeform 28"/>
            <p:cNvSpPr/>
            <p:nvPr/>
          </p:nvSpPr>
          <p:spPr>
            <a:xfrm>
              <a:off x="5293083" y="7285149"/>
              <a:ext cx="3810000" cy="482600"/>
            </a:xfrm>
            <a:custGeom>
              <a:avLst/>
              <a:gdLst/>
              <a:ahLst/>
              <a:cxnLst/>
              <a:rect l="l" t="t" r="r" b="b"/>
              <a:pathLst>
                <a:path w="3810000" h="482600">
                  <a:moveTo>
                    <a:pt x="241300" y="0"/>
                  </a:moveTo>
                  <a:lnTo>
                    <a:pt x="3568700" y="0"/>
                  </a:lnTo>
                  <a:cubicBezTo>
                    <a:pt x="3701966" y="0"/>
                    <a:pt x="3810000" y="108034"/>
                    <a:pt x="3810000" y="241300"/>
                  </a:cubicBezTo>
                  <a:cubicBezTo>
                    <a:pt x="3810000" y="374566"/>
                    <a:pt x="3701966" y="482600"/>
                    <a:pt x="3568700" y="482600"/>
                  </a:cubicBezTo>
                  <a:lnTo>
                    <a:pt x="241300" y="482600"/>
                  </a:lnTo>
                  <a:cubicBezTo>
                    <a:pt x="108034" y="482600"/>
                    <a:pt x="0" y="374566"/>
                    <a:pt x="0" y="241300"/>
                  </a:cubicBezTo>
                  <a:cubicBezTo>
                    <a:pt x="0" y="108034"/>
                    <a:pt x="108034" y="0"/>
                    <a:pt x="241300" y="0"/>
                  </a:cubicBezTo>
                  <a:close/>
                </a:path>
              </a:pathLst>
            </a:custGeom>
            <a:solidFill>
              <a:srgbClr val="2F6B45"/>
            </a:solidFill>
          </p:spPr>
        </p:sp>
        <p:sp>
          <p:nvSpPr>
            <p:cNvPr id="33" name="TextBox 29"/>
            <p:cNvSpPr txBox="1"/>
            <p:nvPr/>
          </p:nvSpPr>
          <p:spPr>
            <a:xfrm>
              <a:off x="5088275" y="7141713"/>
              <a:ext cx="4351139" cy="829741"/>
            </a:xfrm>
            <a:prstGeom prst="rect">
              <a:avLst/>
            </a:prstGeom>
          </p:spPr>
          <p:txBody>
            <a:bodyPr lIns="50800" tIns="50800" rIns="50800" bIns="50800" rtlCol="0" anchor="ctr"/>
            <a:lstStyle/>
            <a:p>
              <a:pPr algn="ctr">
                <a:lnSpc>
                  <a:spcPts val="1540"/>
                </a:lnSpc>
              </a:pPr>
              <a:r>
                <a:rPr lang="en-US" sz="2800" b="1">
                  <a:solidFill>
                    <a:srgbClr val="FFFFFF"/>
                  </a:solidFill>
                  <a:latin typeface="Arimo Bold"/>
                  <a:ea typeface="Arimo Bold"/>
                  <a:cs typeface="Arimo Bold"/>
                  <a:sym typeface="Arimo Bold"/>
                </a:rPr>
                <a:t>OPERATIONS DATA MODEL</a:t>
              </a:r>
            </a:p>
          </p:txBody>
        </p:sp>
      </p:grpSp>
      <p:sp>
        <p:nvSpPr>
          <p:cNvPr id="42" name="Freeform 13">
            <a:extLst>
              <a:ext uri="{FF2B5EF4-FFF2-40B4-BE49-F238E27FC236}">
                <a16:creationId xmlns:a16="http://schemas.microsoft.com/office/drawing/2014/main" id="{40D59B01-3833-1C19-A049-A7D5D3188E28}"/>
              </a:ext>
            </a:extLst>
          </p:cNvPr>
          <p:cNvSpPr/>
          <p:nvPr/>
        </p:nvSpPr>
        <p:spPr>
          <a:xfrm>
            <a:off x="6288052" y="763251"/>
            <a:ext cx="2224051" cy="2617413"/>
          </a:xfrm>
          <a:custGeom>
            <a:avLst/>
            <a:gdLst/>
            <a:ahLst/>
            <a:cxnLst/>
            <a:rect l="l" t="t" r="r" b="b"/>
            <a:pathLst>
              <a:path w="3331879" h="3458924">
                <a:moveTo>
                  <a:pt x="0" y="0"/>
                </a:moveTo>
                <a:lnTo>
                  <a:pt x="3331879" y="0"/>
                </a:lnTo>
                <a:lnTo>
                  <a:pt x="3331879" y="3458923"/>
                </a:lnTo>
                <a:lnTo>
                  <a:pt x="0" y="3458923"/>
                </a:lnTo>
                <a:lnTo>
                  <a:pt x="0" y="0"/>
                </a:lnTo>
                <a:close/>
              </a:path>
            </a:pathLst>
          </a:custGeom>
          <a:blipFill>
            <a:blip r:embed="rId5"/>
            <a:stretch>
              <a:fillRect b="-7328"/>
            </a:stretch>
          </a:blipFill>
        </p:spPr>
      </p:sp>
      <p:sp>
        <p:nvSpPr>
          <p:cNvPr id="44" name="Freeform 14">
            <a:extLst>
              <a:ext uri="{FF2B5EF4-FFF2-40B4-BE49-F238E27FC236}">
                <a16:creationId xmlns:a16="http://schemas.microsoft.com/office/drawing/2014/main" id="{D0FFB20B-EB11-3668-E535-206A9CF42766}"/>
              </a:ext>
            </a:extLst>
          </p:cNvPr>
          <p:cNvSpPr/>
          <p:nvPr/>
        </p:nvSpPr>
        <p:spPr>
          <a:xfrm rot="20259154" flipH="1">
            <a:off x="7278715" y="5410257"/>
            <a:ext cx="2832828" cy="1731566"/>
          </a:xfrm>
          <a:custGeom>
            <a:avLst/>
            <a:gdLst/>
            <a:ahLst/>
            <a:cxnLst/>
            <a:rect l="l" t="t" r="r" b="b"/>
            <a:pathLst>
              <a:path w="2832828" h="1731566">
                <a:moveTo>
                  <a:pt x="2832828" y="0"/>
                </a:moveTo>
                <a:lnTo>
                  <a:pt x="0" y="0"/>
                </a:lnTo>
                <a:lnTo>
                  <a:pt x="0" y="1731566"/>
                </a:lnTo>
                <a:lnTo>
                  <a:pt x="2832828" y="1731566"/>
                </a:lnTo>
                <a:lnTo>
                  <a:pt x="2832828" y="0"/>
                </a:lnTo>
                <a:close/>
              </a:path>
            </a:pathLst>
          </a:custGeom>
          <a:blipFill>
            <a:blip r:embed="rId6"/>
            <a:stretch>
              <a:fillRect/>
            </a:stretch>
          </a:blipFill>
        </p:spPr>
      </p:sp>
      <p:sp>
        <p:nvSpPr>
          <p:cNvPr id="46" name="Freeform 11">
            <a:extLst>
              <a:ext uri="{FF2B5EF4-FFF2-40B4-BE49-F238E27FC236}">
                <a16:creationId xmlns:a16="http://schemas.microsoft.com/office/drawing/2014/main" id="{8F0F1197-EC69-A97F-A37B-7CFC66BAF523}"/>
              </a:ext>
            </a:extLst>
          </p:cNvPr>
          <p:cNvSpPr/>
          <p:nvPr/>
        </p:nvSpPr>
        <p:spPr>
          <a:xfrm rot="20259154" flipH="1">
            <a:off x="1521486" y="8731209"/>
            <a:ext cx="2522118" cy="1118304"/>
          </a:xfrm>
          <a:custGeom>
            <a:avLst/>
            <a:gdLst/>
            <a:ahLst/>
            <a:cxnLst/>
            <a:rect l="l" t="t" r="r" b="b"/>
            <a:pathLst>
              <a:path w="2832828" h="1731566">
                <a:moveTo>
                  <a:pt x="2832828" y="0"/>
                </a:moveTo>
                <a:lnTo>
                  <a:pt x="0" y="0"/>
                </a:lnTo>
                <a:lnTo>
                  <a:pt x="0" y="1731566"/>
                </a:lnTo>
                <a:lnTo>
                  <a:pt x="2832828" y="1731566"/>
                </a:lnTo>
                <a:lnTo>
                  <a:pt x="2832828" y="0"/>
                </a:lnTo>
                <a:close/>
              </a:path>
            </a:pathLst>
          </a:custGeom>
          <a:blipFill>
            <a:blip r:embed="rId6"/>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E23"/>
        </a:solidFill>
        <a:effectLst/>
      </p:bgPr>
    </p:bg>
    <p:spTree>
      <p:nvGrpSpPr>
        <p:cNvPr id="1" name=""/>
        <p:cNvGrpSpPr/>
        <p:nvPr/>
      </p:nvGrpSpPr>
      <p:grpSpPr>
        <a:xfrm>
          <a:off x="0" y="0"/>
          <a:ext cx="0" cy="0"/>
          <a:chOff x="0" y="0"/>
          <a:chExt cx="0" cy="0"/>
        </a:xfrm>
      </p:grpSpPr>
      <p:grpSp>
        <p:nvGrpSpPr>
          <p:cNvPr id="2" name="Group 2"/>
          <p:cNvGrpSpPr/>
          <p:nvPr/>
        </p:nvGrpSpPr>
        <p:grpSpPr>
          <a:xfrm>
            <a:off x="16287750" y="333375"/>
            <a:ext cx="1428750" cy="1428750"/>
            <a:chOff x="0" y="0"/>
            <a:chExt cx="1905000" cy="1905000"/>
          </a:xfrm>
        </p:grpSpPr>
        <p:sp>
          <p:nvSpPr>
            <p:cNvPr id="3" name="Freeform 3"/>
            <p:cNvSpPr/>
            <p:nvPr/>
          </p:nvSpPr>
          <p:spPr>
            <a:xfrm>
              <a:off x="0" y="0"/>
              <a:ext cx="1905000" cy="1905000"/>
            </a:xfrm>
            <a:custGeom>
              <a:avLst/>
              <a:gdLst/>
              <a:ahLst/>
              <a:cxnLst/>
              <a:rect l="l" t="t" r="r" b="b"/>
              <a:pathLst>
                <a:path w="1905000" h="1905000">
                  <a:moveTo>
                    <a:pt x="0" y="952500"/>
                  </a:moveTo>
                  <a:cubicBezTo>
                    <a:pt x="0" y="1478551"/>
                    <a:pt x="426449" y="1905000"/>
                    <a:pt x="952500" y="1905000"/>
                  </a:cubicBezTo>
                  <a:cubicBezTo>
                    <a:pt x="1478551" y="1905000"/>
                    <a:pt x="1905000" y="1478551"/>
                    <a:pt x="1905000" y="952500"/>
                  </a:cubicBezTo>
                  <a:cubicBezTo>
                    <a:pt x="1905000" y="426449"/>
                    <a:pt x="1478551" y="0"/>
                    <a:pt x="952500" y="0"/>
                  </a:cubicBezTo>
                  <a:cubicBezTo>
                    <a:pt x="426449" y="0"/>
                    <a:pt x="0" y="426449"/>
                    <a:pt x="0" y="952500"/>
                  </a:cubicBezTo>
                  <a:close/>
                </a:path>
              </a:pathLst>
            </a:custGeom>
            <a:solidFill>
              <a:srgbClr val="2F6B45">
                <a:alpha val="89804"/>
              </a:srgbClr>
            </a:solidFill>
          </p:spPr>
        </p:sp>
        <p:sp>
          <p:nvSpPr>
            <p:cNvPr id="4" name="TextBox 4"/>
            <p:cNvSpPr txBox="1"/>
            <p:nvPr/>
          </p:nvSpPr>
          <p:spPr>
            <a:xfrm>
              <a:off x="0" y="-38100"/>
              <a:ext cx="1905000" cy="1943100"/>
            </a:xfrm>
            <a:prstGeom prst="rect">
              <a:avLst/>
            </a:prstGeom>
          </p:spPr>
          <p:txBody>
            <a:bodyPr lIns="50800" tIns="50800" rIns="50800" bIns="50800" rtlCol="0" anchor="ctr"/>
            <a:lstStyle/>
            <a:p>
              <a:pPr algn="l">
                <a:lnSpc>
                  <a:spcPts val="1679"/>
                </a:lnSpc>
              </a:pPr>
              <a:endParaRPr/>
            </a:p>
          </p:txBody>
        </p:sp>
      </p:grpSp>
      <p:grpSp>
        <p:nvGrpSpPr>
          <p:cNvPr id="5" name="Group 5"/>
          <p:cNvGrpSpPr/>
          <p:nvPr/>
        </p:nvGrpSpPr>
        <p:grpSpPr>
          <a:xfrm>
            <a:off x="16859250" y="857250"/>
            <a:ext cx="857250" cy="857250"/>
            <a:chOff x="0" y="0"/>
            <a:chExt cx="1143000" cy="1143000"/>
          </a:xfrm>
        </p:grpSpPr>
        <p:sp>
          <p:nvSpPr>
            <p:cNvPr id="6" name="Freeform 6"/>
            <p:cNvSpPr/>
            <p:nvPr/>
          </p:nvSpPr>
          <p:spPr>
            <a:xfrm>
              <a:off x="0" y="0"/>
              <a:ext cx="1143000" cy="1143000"/>
            </a:xfrm>
            <a:custGeom>
              <a:avLst/>
              <a:gdLst/>
              <a:ahLst/>
              <a:cxnLst/>
              <a:rect l="l" t="t" r="r" b="b"/>
              <a:pathLst>
                <a:path w="1143000" h="1143000">
                  <a:moveTo>
                    <a:pt x="0" y="571500"/>
                  </a:moveTo>
                  <a:cubicBezTo>
                    <a:pt x="0" y="887131"/>
                    <a:pt x="255869" y="1143000"/>
                    <a:pt x="571500" y="1143000"/>
                  </a:cubicBezTo>
                  <a:cubicBezTo>
                    <a:pt x="887131" y="1143000"/>
                    <a:pt x="1143000" y="887131"/>
                    <a:pt x="1143000" y="571500"/>
                  </a:cubicBezTo>
                  <a:cubicBezTo>
                    <a:pt x="1143000" y="255869"/>
                    <a:pt x="887131" y="0"/>
                    <a:pt x="571500" y="0"/>
                  </a:cubicBezTo>
                  <a:cubicBezTo>
                    <a:pt x="255869" y="0"/>
                    <a:pt x="0" y="255869"/>
                    <a:pt x="0" y="571500"/>
                  </a:cubicBezTo>
                  <a:close/>
                </a:path>
              </a:pathLst>
            </a:custGeom>
            <a:solidFill>
              <a:srgbClr val="DCE8D4">
                <a:alpha val="54902"/>
              </a:srgbClr>
            </a:solidFill>
          </p:spPr>
        </p:sp>
        <p:sp>
          <p:nvSpPr>
            <p:cNvPr id="7" name="TextBox 7"/>
            <p:cNvSpPr txBox="1"/>
            <p:nvPr/>
          </p:nvSpPr>
          <p:spPr>
            <a:xfrm>
              <a:off x="0" y="-38100"/>
              <a:ext cx="1143000" cy="1181100"/>
            </a:xfrm>
            <a:prstGeom prst="rect">
              <a:avLst/>
            </a:prstGeom>
          </p:spPr>
          <p:txBody>
            <a:bodyPr lIns="50800" tIns="50800" rIns="50800" bIns="50800" rtlCol="0" anchor="ctr"/>
            <a:lstStyle/>
            <a:p>
              <a:pPr algn="l">
                <a:lnSpc>
                  <a:spcPts val="1679"/>
                </a:lnSpc>
              </a:pPr>
              <a:endParaRPr/>
            </a:p>
          </p:txBody>
        </p:sp>
      </p:grpSp>
      <p:sp>
        <p:nvSpPr>
          <p:cNvPr id="8" name="TextBox 8"/>
          <p:cNvSpPr txBox="1"/>
          <p:nvPr/>
        </p:nvSpPr>
        <p:spPr>
          <a:xfrm>
            <a:off x="876300" y="676275"/>
            <a:ext cx="14287500" cy="963295"/>
          </a:xfrm>
          <a:prstGeom prst="rect">
            <a:avLst/>
          </a:prstGeom>
        </p:spPr>
        <p:txBody>
          <a:bodyPr lIns="0" tIns="0" rIns="0" bIns="0" rtlCol="0" anchor="t">
            <a:spAutoFit/>
          </a:bodyPr>
          <a:lstStyle/>
          <a:p>
            <a:pPr algn="l">
              <a:lnSpc>
                <a:spcPts val="7249"/>
              </a:lnSpc>
            </a:pPr>
            <a:r>
              <a:rPr lang="en-US" sz="5799" b="1">
                <a:solidFill>
                  <a:srgbClr val="FFFFFF"/>
                </a:solidFill>
                <a:latin typeface="Poppins Bold"/>
                <a:ea typeface="Poppins Bold"/>
                <a:cs typeface="Poppins Bold"/>
                <a:sym typeface="Poppins Bold"/>
              </a:rPr>
              <a:t>Expected Benefits &amp; Impact</a:t>
            </a:r>
          </a:p>
        </p:txBody>
      </p:sp>
      <p:grpSp>
        <p:nvGrpSpPr>
          <p:cNvPr id="9" name="Group 9"/>
          <p:cNvGrpSpPr/>
          <p:nvPr/>
        </p:nvGrpSpPr>
        <p:grpSpPr>
          <a:xfrm>
            <a:off x="876300" y="2286000"/>
            <a:ext cx="7620000" cy="2000250"/>
            <a:chOff x="0" y="0"/>
            <a:chExt cx="10160000" cy="2667000"/>
          </a:xfrm>
        </p:grpSpPr>
        <p:sp>
          <p:nvSpPr>
            <p:cNvPr id="10" name="Freeform 10"/>
            <p:cNvSpPr/>
            <p:nvPr/>
          </p:nvSpPr>
          <p:spPr>
            <a:xfrm>
              <a:off x="0" y="0"/>
              <a:ext cx="10160000" cy="2667000"/>
            </a:xfrm>
            <a:custGeom>
              <a:avLst/>
              <a:gdLst/>
              <a:ahLst/>
              <a:cxnLst/>
              <a:rect l="l" t="t" r="r" b="b"/>
              <a:pathLst>
                <a:path w="10160000" h="2667000">
                  <a:moveTo>
                    <a:pt x="228600" y="0"/>
                  </a:moveTo>
                  <a:lnTo>
                    <a:pt x="9931400" y="0"/>
                  </a:lnTo>
                  <a:cubicBezTo>
                    <a:pt x="10057652" y="0"/>
                    <a:pt x="10160000" y="102348"/>
                    <a:pt x="10160000" y="228600"/>
                  </a:cubicBezTo>
                  <a:lnTo>
                    <a:pt x="10160000" y="2438400"/>
                  </a:lnTo>
                  <a:cubicBezTo>
                    <a:pt x="10160000" y="2564652"/>
                    <a:pt x="10057652" y="2667000"/>
                    <a:pt x="9931400" y="2667000"/>
                  </a:cubicBezTo>
                  <a:lnTo>
                    <a:pt x="228600" y="2667000"/>
                  </a:lnTo>
                  <a:cubicBezTo>
                    <a:pt x="102348" y="2667000"/>
                    <a:pt x="0" y="2564652"/>
                    <a:pt x="0" y="2438400"/>
                  </a:cubicBezTo>
                  <a:lnTo>
                    <a:pt x="0" y="228600"/>
                  </a:lnTo>
                  <a:cubicBezTo>
                    <a:pt x="0" y="102348"/>
                    <a:pt x="102348" y="0"/>
                    <a:pt x="228600" y="0"/>
                  </a:cubicBezTo>
                  <a:close/>
                </a:path>
              </a:pathLst>
            </a:custGeom>
            <a:solidFill>
              <a:srgbClr val="FFFFFF"/>
            </a:solidFill>
            <a:ln w="9525" cap="sq">
              <a:solidFill>
                <a:srgbClr val="C9D7C5"/>
              </a:solidFill>
              <a:prstDash val="solid"/>
              <a:miter/>
            </a:ln>
          </p:spPr>
        </p:sp>
        <p:sp>
          <p:nvSpPr>
            <p:cNvPr id="11" name="TextBox 11"/>
            <p:cNvSpPr txBox="1"/>
            <p:nvPr/>
          </p:nvSpPr>
          <p:spPr>
            <a:xfrm>
              <a:off x="0" y="-38100"/>
              <a:ext cx="10160000" cy="2705100"/>
            </a:xfrm>
            <a:prstGeom prst="rect">
              <a:avLst/>
            </a:prstGeom>
          </p:spPr>
          <p:txBody>
            <a:bodyPr lIns="50800" tIns="50800" rIns="50800" bIns="50800" rtlCol="0" anchor="ctr"/>
            <a:lstStyle/>
            <a:p>
              <a:pPr algn="l">
                <a:lnSpc>
                  <a:spcPts val="1679"/>
                </a:lnSpc>
              </a:pPr>
              <a:endParaRPr/>
            </a:p>
          </p:txBody>
        </p:sp>
      </p:grpSp>
      <p:sp>
        <p:nvSpPr>
          <p:cNvPr id="12" name="TextBox 12"/>
          <p:cNvSpPr txBox="1"/>
          <p:nvPr/>
        </p:nvSpPr>
        <p:spPr>
          <a:xfrm>
            <a:off x="1162050" y="2495550"/>
            <a:ext cx="476250" cy="294005"/>
          </a:xfrm>
          <a:prstGeom prst="rect">
            <a:avLst/>
          </a:prstGeom>
        </p:spPr>
        <p:txBody>
          <a:bodyPr lIns="0" tIns="0" rIns="0" bIns="0" rtlCol="0" anchor="t">
            <a:spAutoFit/>
          </a:bodyPr>
          <a:lstStyle/>
          <a:p>
            <a:pPr algn="l">
              <a:lnSpc>
                <a:spcPts val="2125"/>
              </a:lnSpc>
            </a:pPr>
            <a:r>
              <a:rPr lang="en-US" sz="1700" b="1">
                <a:solidFill>
                  <a:srgbClr val="C7964A"/>
                </a:solidFill>
                <a:latin typeface="Poppins Bold"/>
                <a:ea typeface="Poppins Bold"/>
                <a:cs typeface="Poppins Bold"/>
                <a:sym typeface="Poppins Bold"/>
              </a:rPr>
              <a:t>01</a:t>
            </a:r>
          </a:p>
        </p:txBody>
      </p:sp>
      <p:sp>
        <p:nvSpPr>
          <p:cNvPr id="13" name="TextBox 13"/>
          <p:cNvSpPr txBox="1"/>
          <p:nvPr/>
        </p:nvSpPr>
        <p:spPr>
          <a:xfrm>
            <a:off x="1162050" y="2943225"/>
            <a:ext cx="6667500" cy="348615"/>
          </a:xfrm>
          <a:prstGeom prst="rect">
            <a:avLst/>
          </a:prstGeom>
        </p:spPr>
        <p:txBody>
          <a:bodyPr lIns="0" tIns="0" rIns="0" bIns="0" rtlCol="0" anchor="t">
            <a:spAutoFit/>
          </a:bodyPr>
          <a:lstStyle/>
          <a:p>
            <a:pPr algn="l">
              <a:lnSpc>
                <a:spcPts val="2625"/>
              </a:lnSpc>
            </a:pPr>
            <a:r>
              <a:rPr lang="en-US" sz="2100" b="1">
                <a:solidFill>
                  <a:srgbClr val="123D2B"/>
                </a:solidFill>
                <a:latin typeface="Poppins Bold"/>
                <a:ea typeface="Poppins Bold"/>
                <a:cs typeface="Poppins Bold"/>
                <a:sym typeface="Poppins Bold"/>
              </a:rPr>
              <a:t>CENTRALIZED FARM MANAGEMENT</a:t>
            </a:r>
          </a:p>
        </p:txBody>
      </p:sp>
      <p:sp>
        <p:nvSpPr>
          <p:cNvPr id="14" name="TextBox 14"/>
          <p:cNvSpPr txBox="1"/>
          <p:nvPr/>
        </p:nvSpPr>
        <p:spPr>
          <a:xfrm>
            <a:off x="1162050" y="3533775"/>
            <a:ext cx="6667500" cy="560705"/>
          </a:xfrm>
          <a:prstGeom prst="rect">
            <a:avLst/>
          </a:prstGeom>
        </p:spPr>
        <p:txBody>
          <a:bodyPr lIns="0" tIns="0" rIns="0" bIns="0" rtlCol="0" anchor="t">
            <a:spAutoFit/>
          </a:bodyPr>
          <a:lstStyle/>
          <a:p>
            <a:pPr algn="l">
              <a:lnSpc>
                <a:spcPts val="2125"/>
              </a:lnSpc>
            </a:pPr>
            <a:r>
              <a:rPr lang="en-US" sz="1700">
                <a:solidFill>
                  <a:srgbClr val="5A6B60"/>
                </a:solidFill>
                <a:latin typeface="Poppins"/>
                <a:ea typeface="Poppins"/>
                <a:cs typeface="Poppins"/>
                <a:sym typeface="Poppins"/>
              </a:rPr>
              <a:t>Bring important farm, crop and agricultural records together within one digital platform.</a:t>
            </a:r>
          </a:p>
        </p:txBody>
      </p:sp>
      <p:grpSp>
        <p:nvGrpSpPr>
          <p:cNvPr id="15" name="Group 15"/>
          <p:cNvGrpSpPr/>
          <p:nvPr/>
        </p:nvGrpSpPr>
        <p:grpSpPr>
          <a:xfrm>
            <a:off x="9448800" y="2286000"/>
            <a:ext cx="7620000" cy="2000250"/>
            <a:chOff x="0" y="0"/>
            <a:chExt cx="10160000" cy="2667000"/>
          </a:xfrm>
        </p:grpSpPr>
        <p:sp>
          <p:nvSpPr>
            <p:cNvPr id="16" name="Freeform 16"/>
            <p:cNvSpPr/>
            <p:nvPr/>
          </p:nvSpPr>
          <p:spPr>
            <a:xfrm>
              <a:off x="0" y="0"/>
              <a:ext cx="10160000" cy="2667000"/>
            </a:xfrm>
            <a:custGeom>
              <a:avLst/>
              <a:gdLst/>
              <a:ahLst/>
              <a:cxnLst/>
              <a:rect l="l" t="t" r="r" b="b"/>
              <a:pathLst>
                <a:path w="10160000" h="2667000">
                  <a:moveTo>
                    <a:pt x="228600" y="0"/>
                  </a:moveTo>
                  <a:lnTo>
                    <a:pt x="9931400" y="0"/>
                  </a:lnTo>
                  <a:cubicBezTo>
                    <a:pt x="10057652" y="0"/>
                    <a:pt x="10160000" y="102348"/>
                    <a:pt x="10160000" y="228600"/>
                  </a:cubicBezTo>
                  <a:lnTo>
                    <a:pt x="10160000" y="2438400"/>
                  </a:lnTo>
                  <a:cubicBezTo>
                    <a:pt x="10160000" y="2564652"/>
                    <a:pt x="10057652" y="2667000"/>
                    <a:pt x="9931400" y="2667000"/>
                  </a:cubicBezTo>
                  <a:lnTo>
                    <a:pt x="228600" y="2667000"/>
                  </a:lnTo>
                  <a:cubicBezTo>
                    <a:pt x="102348" y="2667000"/>
                    <a:pt x="0" y="2564652"/>
                    <a:pt x="0" y="2438400"/>
                  </a:cubicBezTo>
                  <a:lnTo>
                    <a:pt x="0" y="228600"/>
                  </a:lnTo>
                  <a:cubicBezTo>
                    <a:pt x="0" y="102348"/>
                    <a:pt x="102348" y="0"/>
                    <a:pt x="228600" y="0"/>
                  </a:cubicBezTo>
                  <a:close/>
                </a:path>
              </a:pathLst>
            </a:custGeom>
            <a:solidFill>
              <a:srgbClr val="FFFFFF"/>
            </a:solidFill>
            <a:ln w="9525" cap="sq">
              <a:solidFill>
                <a:srgbClr val="C9D7C5"/>
              </a:solidFill>
              <a:prstDash val="solid"/>
              <a:miter/>
            </a:ln>
          </p:spPr>
        </p:sp>
        <p:sp>
          <p:nvSpPr>
            <p:cNvPr id="17" name="TextBox 17"/>
            <p:cNvSpPr txBox="1"/>
            <p:nvPr/>
          </p:nvSpPr>
          <p:spPr>
            <a:xfrm>
              <a:off x="0" y="-38100"/>
              <a:ext cx="10160000" cy="2705100"/>
            </a:xfrm>
            <a:prstGeom prst="rect">
              <a:avLst/>
            </a:prstGeom>
          </p:spPr>
          <p:txBody>
            <a:bodyPr lIns="50800" tIns="50800" rIns="50800" bIns="50800" rtlCol="0" anchor="ctr"/>
            <a:lstStyle/>
            <a:p>
              <a:pPr algn="l">
                <a:lnSpc>
                  <a:spcPts val="1679"/>
                </a:lnSpc>
              </a:pPr>
              <a:endParaRPr/>
            </a:p>
          </p:txBody>
        </p:sp>
      </p:grpSp>
      <p:sp>
        <p:nvSpPr>
          <p:cNvPr id="18" name="TextBox 18"/>
          <p:cNvSpPr txBox="1"/>
          <p:nvPr/>
        </p:nvSpPr>
        <p:spPr>
          <a:xfrm>
            <a:off x="9734550" y="2495550"/>
            <a:ext cx="476250" cy="294005"/>
          </a:xfrm>
          <a:prstGeom prst="rect">
            <a:avLst/>
          </a:prstGeom>
        </p:spPr>
        <p:txBody>
          <a:bodyPr lIns="0" tIns="0" rIns="0" bIns="0" rtlCol="0" anchor="t">
            <a:spAutoFit/>
          </a:bodyPr>
          <a:lstStyle/>
          <a:p>
            <a:pPr algn="l">
              <a:lnSpc>
                <a:spcPts val="2125"/>
              </a:lnSpc>
            </a:pPr>
            <a:r>
              <a:rPr lang="en-US" sz="1700" b="1">
                <a:solidFill>
                  <a:srgbClr val="C7964A"/>
                </a:solidFill>
                <a:latin typeface="Poppins Bold"/>
                <a:ea typeface="Poppins Bold"/>
                <a:cs typeface="Poppins Bold"/>
                <a:sym typeface="Poppins Bold"/>
              </a:rPr>
              <a:t>02</a:t>
            </a:r>
          </a:p>
        </p:txBody>
      </p:sp>
      <p:sp>
        <p:nvSpPr>
          <p:cNvPr id="19" name="TextBox 19"/>
          <p:cNvSpPr txBox="1"/>
          <p:nvPr/>
        </p:nvSpPr>
        <p:spPr>
          <a:xfrm>
            <a:off x="9734550" y="2943225"/>
            <a:ext cx="6667500" cy="348615"/>
          </a:xfrm>
          <a:prstGeom prst="rect">
            <a:avLst/>
          </a:prstGeom>
        </p:spPr>
        <p:txBody>
          <a:bodyPr lIns="0" tIns="0" rIns="0" bIns="0" rtlCol="0" anchor="t">
            <a:spAutoFit/>
          </a:bodyPr>
          <a:lstStyle/>
          <a:p>
            <a:pPr algn="l">
              <a:lnSpc>
                <a:spcPts val="2625"/>
              </a:lnSpc>
            </a:pPr>
            <a:r>
              <a:rPr lang="en-US" sz="2100" b="1">
                <a:solidFill>
                  <a:srgbClr val="123D2B"/>
                </a:solidFill>
                <a:latin typeface="Poppins Bold"/>
                <a:ea typeface="Poppins Bold"/>
                <a:cs typeface="Poppins Bold"/>
                <a:sym typeface="Poppins Bold"/>
              </a:rPr>
              <a:t>BETTER RECORD ORGANIZATION</a:t>
            </a:r>
          </a:p>
        </p:txBody>
      </p:sp>
      <p:sp>
        <p:nvSpPr>
          <p:cNvPr id="20" name="TextBox 20"/>
          <p:cNvSpPr txBox="1"/>
          <p:nvPr/>
        </p:nvSpPr>
        <p:spPr>
          <a:xfrm>
            <a:off x="9734550" y="3533775"/>
            <a:ext cx="6667500" cy="560705"/>
          </a:xfrm>
          <a:prstGeom prst="rect">
            <a:avLst/>
          </a:prstGeom>
        </p:spPr>
        <p:txBody>
          <a:bodyPr lIns="0" tIns="0" rIns="0" bIns="0" rtlCol="0" anchor="t">
            <a:spAutoFit/>
          </a:bodyPr>
          <a:lstStyle/>
          <a:p>
            <a:pPr algn="l">
              <a:lnSpc>
                <a:spcPts val="2125"/>
              </a:lnSpc>
            </a:pPr>
            <a:r>
              <a:rPr lang="en-US" sz="1700">
                <a:solidFill>
                  <a:srgbClr val="5A6B60"/>
                </a:solidFill>
                <a:latin typeface="Poppins"/>
                <a:ea typeface="Poppins"/>
                <a:cs typeface="Poppins"/>
                <a:sym typeface="Poppins"/>
              </a:rPr>
              <a:t>Provide structured information for farms, crops, soil, timelines and yield.</a:t>
            </a:r>
          </a:p>
        </p:txBody>
      </p:sp>
      <p:grpSp>
        <p:nvGrpSpPr>
          <p:cNvPr id="21" name="Group 21"/>
          <p:cNvGrpSpPr/>
          <p:nvPr/>
        </p:nvGrpSpPr>
        <p:grpSpPr>
          <a:xfrm>
            <a:off x="876300" y="4953000"/>
            <a:ext cx="7620000" cy="2000250"/>
            <a:chOff x="0" y="0"/>
            <a:chExt cx="10160000" cy="2667000"/>
          </a:xfrm>
        </p:grpSpPr>
        <p:sp>
          <p:nvSpPr>
            <p:cNvPr id="22" name="Freeform 22"/>
            <p:cNvSpPr/>
            <p:nvPr/>
          </p:nvSpPr>
          <p:spPr>
            <a:xfrm>
              <a:off x="0" y="0"/>
              <a:ext cx="10160000" cy="2667000"/>
            </a:xfrm>
            <a:custGeom>
              <a:avLst/>
              <a:gdLst/>
              <a:ahLst/>
              <a:cxnLst/>
              <a:rect l="l" t="t" r="r" b="b"/>
              <a:pathLst>
                <a:path w="10160000" h="2667000">
                  <a:moveTo>
                    <a:pt x="228600" y="0"/>
                  </a:moveTo>
                  <a:lnTo>
                    <a:pt x="9931400" y="0"/>
                  </a:lnTo>
                  <a:cubicBezTo>
                    <a:pt x="10057652" y="0"/>
                    <a:pt x="10160000" y="102348"/>
                    <a:pt x="10160000" y="228600"/>
                  </a:cubicBezTo>
                  <a:lnTo>
                    <a:pt x="10160000" y="2438400"/>
                  </a:lnTo>
                  <a:cubicBezTo>
                    <a:pt x="10160000" y="2564652"/>
                    <a:pt x="10057652" y="2667000"/>
                    <a:pt x="9931400" y="2667000"/>
                  </a:cubicBezTo>
                  <a:lnTo>
                    <a:pt x="228600" y="2667000"/>
                  </a:lnTo>
                  <a:cubicBezTo>
                    <a:pt x="102348" y="2667000"/>
                    <a:pt x="0" y="2564652"/>
                    <a:pt x="0" y="2438400"/>
                  </a:cubicBezTo>
                  <a:lnTo>
                    <a:pt x="0" y="228600"/>
                  </a:lnTo>
                  <a:cubicBezTo>
                    <a:pt x="0" y="102348"/>
                    <a:pt x="102348" y="0"/>
                    <a:pt x="228600" y="0"/>
                  </a:cubicBezTo>
                  <a:close/>
                </a:path>
              </a:pathLst>
            </a:custGeom>
            <a:solidFill>
              <a:srgbClr val="FFFFFF"/>
            </a:solidFill>
            <a:ln w="9525" cap="sq">
              <a:solidFill>
                <a:srgbClr val="C9D7C5"/>
              </a:solidFill>
              <a:prstDash val="solid"/>
              <a:miter/>
            </a:ln>
          </p:spPr>
        </p:sp>
        <p:sp>
          <p:nvSpPr>
            <p:cNvPr id="23" name="TextBox 23"/>
            <p:cNvSpPr txBox="1"/>
            <p:nvPr/>
          </p:nvSpPr>
          <p:spPr>
            <a:xfrm>
              <a:off x="0" y="-38100"/>
              <a:ext cx="10160000" cy="2705100"/>
            </a:xfrm>
            <a:prstGeom prst="rect">
              <a:avLst/>
            </a:prstGeom>
          </p:spPr>
          <p:txBody>
            <a:bodyPr lIns="50800" tIns="50800" rIns="50800" bIns="50800" rtlCol="0" anchor="ctr"/>
            <a:lstStyle/>
            <a:p>
              <a:pPr algn="l">
                <a:lnSpc>
                  <a:spcPts val="1679"/>
                </a:lnSpc>
              </a:pPr>
              <a:endParaRPr/>
            </a:p>
          </p:txBody>
        </p:sp>
      </p:grpSp>
      <p:sp>
        <p:nvSpPr>
          <p:cNvPr id="24" name="TextBox 24"/>
          <p:cNvSpPr txBox="1"/>
          <p:nvPr/>
        </p:nvSpPr>
        <p:spPr>
          <a:xfrm>
            <a:off x="1162050" y="5162550"/>
            <a:ext cx="476250" cy="294005"/>
          </a:xfrm>
          <a:prstGeom prst="rect">
            <a:avLst/>
          </a:prstGeom>
        </p:spPr>
        <p:txBody>
          <a:bodyPr lIns="0" tIns="0" rIns="0" bIns="0" rtlCol="0" anchor="t">
            <a:spAutoFit/>
          </a:bodyPr>
          <a:lstStyle/>
          <a:p>
            <a:pPr algn="l">
              <a:lnSpc>
                <a:spcPts val="2125"/>
              </a:lnSpc>
            </a:pPr>
            <a:r>
              <a:rPr lang="en-US" sz="1700" b="1">
                <a:solidFill>
                  <a:srgbClr val="C7964A"/>
                </a:solidFill>
                <a:latin typeface="Poppins Bold"/>
                <a:ea typeface="Poppins Bold"/>
                <a:cs typeface="Poppins Bold"/>
                <a:sym typeface="Poppins Bold"/>
              </a:rPr>
              <a:t>03</a:t>
            </a:r>
          </a:p>
        </p:txBody>
      </p:sp>
      <p:sp>
        <p:nvSpPr>
          <p:cNvPr id="25" name="TextBox 25"/>
          <p:cNvSpPr txBox="1"/>
          <p:nvPr/>
        </p:nvSpPr>
        <p:spPr>
          <a:xfrm>
            <a:off x="1162050" y="5610225"/>
            <a:ext cx="6667500" cy="348615"/>
          </a:xfrm>
          <a:prstGeom prst="rect">
            <a:avLst/>
          </a:prstGeom>
        </p:spPr>
        <p:txBody>
          <a:bodyPr lIns="0" tIns="0" rIns="0" bIns="0" rtlCol="0" anchor="t">
            <a:spAutoFit/>
          </a:bodyPr>
          <a:lstStyle/>
          <a:p>
            <a:pPr algn="l">
              <a:lnSpc>
                <a:spcPts val="2625"/>
              </a:lnSpc>
            </a:pPr>
            <a:r>
              <a:rPr lang="en-US" sz="2100" b="1">
                <a:solidFill>
                  <a:srgbClr val="123D2B"/>
                </a:solidFill>
                <a:latin typeface="Poppins Bold"/>
                <a:ea typeface="Poppins Bold"/>
                <a:cs typeface="Poppins Bold"/>
                <a:sym typeface="Poppins Bold"/>
              </a:rPr>
              <a:t>IMPROVED EXPENSE VISIBILITY</a:t>
            </a:r>
          </a:p>
        </p:txBody>
      </p:sp>
      <p:sp>
        <p:nvSpPr>
          <p:cNvPr id="26" name="TextBox 26"/>
          <p:cNvSpPr txBox="1"/>
          <p:nvPr/>
        </p:nvSpPr>
        <p:spPr>
          <a:xfrm>
            <a:off x="1162050" y="6200775"/>
            <a:ext cx="6667500" cy="560705"/>
          </a:xfrm>
          <a:prstGeom prst="rect">
            <a:avLst/>
          </a:prstGeom>
        </p:spPr>
        <p:txBody>
          <a:bodyPr lIns="0" tIns="0" rIns="0" bIns="0" rtlCol="0" anchor="t">
            <a:spAutoFit/>
          </a:bodyPr>
          <a:lstStyle/>
          <a:p>
            <a:pPr algn="l">
              <a:lnSpc>
                <a:spcPts val="2125"/>
              </a:lnSpc>
            </a:pPr>
            <a:r>
              <a:rPr lang="en-US" sz="1700">
                <a:solidFill>
                  <a:srgbClr val="5A6B60"/>
                </a:solidFill>
                <a:latin typeface="Poppins"/>
                <a:ea typeface="Poppins"/>
                <a:cs typeface="Poppins"/>
                <a:sym typeface="Poppins"/>
              </a:rPr>
              <a:t>Help organize agricultural expense and crop-input information for easier monitoring and management.</a:t>
            </a:r>
          </a:p>
        </p:txBody>
      </p:sp>
      <p:grpSp>
        <p:nvGrpSpPr>
          <p:cNvPr id="27" name="Group 27"/>
          <p:cNvGrpSpPr/>
          <p:nvPr/>
        </p:nvGrpSpPr>
        <p:grpSpPr>
          <a:xfrm>
            <a:off x="9448800" y="4953000"/>
            <a:ext cx="7620000" cy="2000250"/>
            <a:chOff x="0" y="0"/>
            <a:chExt cx="10160000" cy="2667000"/>
          </a:xfrm>
        </p:grpSpPr>
        <p:sp>
          <p:nvSpPr>
            <p:cNvPr id="28" name="Freeform 28"/>
            <p:cNvSpPr/>
            <p:nvPr/>
          </p:nvSpPr>
          <p:spPr>
            <a:xfrm>
              <a:off x="0" y="0"/>
              <a:ext cx="10160000" cy="2667000"/>
            </a:xfrm>
            <a:custGeom>
              <a:avLst/>
              <a:gdLst/>
              <a:ahLst/>
              <a:cxnLst/>
              <a:rect l="l" t="t" r="r" b="b"/>
              <a:pathLst>
                <a:path w="10160000" h="2667000">
                  <a:moveTo>
                    <a:pt x="228600" y="0"/>
                  </a:moveTo>
                  <a:lnTo>
                    <a:pt x="9931400" y="0"/>
                  </a:lnTo>
                  <a:cubicBezTo>
                    <a:pt x="10057652" y="0"/>
                    <a:pt x="10160000" y="102348"/>
                    <a:pt x="10160000" y="228600"/>
                  </a:cubicBezTo>
                  <a:lnTo>
                    <a:pt x="10160000" y="2438400"/>
                  </a:lnTo>
                  <a:cubicBezTo>
                    <a:pt x="10160000" y="2564652"/>
                    <a:pt x="10057652" y="2667000"/>
                    <a:pt x="9931400" y="2667000"/>
                  </a:cubicBezTo>
                  <a:lnTo>
                    <a:pt x="228600" y="2667000"/>
                  </a:lnTo>
                  <a:cubicBezTo>
                    <a:pt x="102348" y="2667000"/>
                    <a:pt x="0" y="2564652"/>
                    <a:pt x="0" y="2438400"/>
                  </a:cubicBezTo>
                  <a:lnTo>
                    <a:pt x="0" y="228600"/>
                  </a:lnTo>
                  <a:cubicBezTo>
                    <a:pt x="0" y="102348"/>
                    <a:pt x="102348" y="0"/>
                    <a:pt x="228600" y="0"/>
                  </a:cubicBezTo>
                  <a:close/>
                </a:path>
              </a:pathLst>
            </a:custGeom>
            <a:solidFill>
              <a:srgbClr val="FFFFFF"/>
            </a:solidFill>
            <a:ln w="9525" cap="sq">
              <a:solidFill>
                <a:srgbClr val="2F6B45"/>
              </a:solidFill>
              <a:prstDash val="solid"/>
              <a:miter/>
            </a:ln>
          </p:spPr>
        </p:sp>
        <p:sp>
          <p:nvSpPr>
            <p:cNvPr id="29" name="TextBox 29"/>
            <p:cNvSpPr txBox="1"/>
            <p:nvPr/>
          </p:nvSpPr>
          <p:spPr>
            <a:xfrm>
              <a:off x="0" y="-38100"/>
              <a:ext cx="10160000" cy="2705100"/>
            </a:xfrm>
            <a:prstGeom prst="rect">
              <a:avLst/>
            </a:prstGeom>
          </p:spPr>
          <p:txBody>
            <a:bodyPr lIns="50800" tIns="50800" rIns="50800" bIns="50800" rtlCol="0" anchor="ctr"/>
            <a:lstStyle/>
            <a:p>
              <a:pPr algn="l">
                <a:lnSpc>
                  <a:spcPts val="1679"/>
                </a:lnSpc>
              </a:pPr>
              <a:endParaRPr/>
            </a:p>
          </p:txBody>
        </p:sp>
      </p:grpSp>
      <p:sp>
        <p:nvSpPr>
          <p:cNvPr id="30" name="TextBox 30"/>
          <p:cNvSpPr txBox="1"/>
          <p:nvPr/>
        </p:nvSpPr>
        <p:spPr>
          <a:xfrm>
            <a:off x="9734550" y="5162550"/>
            <a:ext cx="476250" cy="294005"/>
          </a:xfrm>
          <a:prstGeom prst="rect">
            <a:avLst/>
          </a:prstGeom>
        </p:spPr>
        <p:txBody>
          <a:bodyPr lIns="0" tIns="0" rIns="0" bIns="0" rtlCol="0" anchor="t">
            <a:spAutoFit/>
          </a:bodyPr>
          <a:lstStyle/>
          <a:p>
            <a:pPr algn="l">
              <a:lnSpc>
                <a:spcPts val="2125"/>
              </a:lnSpc>
            </a:pPr>
            <a:r>
              <a:rPr lang="en-US" sz="1700" b="1">
                <a:solidFill>
                  <a:srgbClr val="C7964A"/>
                </a:solidFill>
                <a:latin typeface="Poppins Bold"/>
                <a:ea typeface="Poppins Bold"/>
                <a:cs typeface="Poppins Bold"/>
                <a:sym typeface="Poppins Bold"/>
              </a:rPr>
              <a:t>04</a:t>
            </a:r>
          </a:p>
        </p:txBody>
      </p:sp>
      <p:sp>
        <p:nvSpPr>
          <p:cNvPr id="31" name="TextBox 31"/>
          <p:cNvSpPr txBox="1"/>
          <p:nvPr/>
        </p:nvSpPr>
        <p:spPr>
          <a:xfrm>
            <a:off x="9734550" y="5610225"/>
            <a:ext cx="6667500" cy="348615"/>
          </a:xfrm>
          <a:prstGeom prst="rect">
            <a:avLst/>
          </a:prstGeom>
        </p:spPr>
        <p:txBody>
          <a:bodyPr lIns="0" tIns="0" rIns="0" bIns="0" rtlCol="0" anchor="t">
            <a:spAutoFit/>
          </a:bodyPr>
          <a:lstStyle/>
          <a:p>
            <a:pPr algn="l">
              <a:lnSpc>
                <a:spcPts val="2625"/>
              </a:lnSpc>
            </a:pPr>
            <a:r>
              <a:rPr lang="en-US" sz="2100" b="1">
                <a:solidFill>
                  <a:srgbClr val="123D2B"/>
                </a:solidFill>
                <a:latin typeface="Poppins Bold"/>
                <a:ea typeface="Poppins Bold"/>
                <a:cs typeface="Poppins Bold"/>
                <a:sym typeface="Poppins Bold"/>
              </a:rPr>
              <a:t>DIGITAL &amp; AI-ENABLED OPERATIONS</a:t>
            </a:r>
          </a:p>
        </p:txBody>
      </p:sp>
      <p:sp>
        <p:nvSpPr>
          <p:cNvPr id="32" name="TextBox 32"/>
          <p:cNvSpPr txBox="1"/>
          <p:nvPr/>
        </p:nvSpPr>
        <p:spPr>
          <a:xfrm>
            <a:off x="9734550" y="6200775"/>
            <a:ext cx="6667500" cy="560705"/>
          </a:xfrm>
          <a:prstGeom prst="rect">
            <a:avLst/>
          </a:prstGeom>
        </p:spPr>
        <p:txBody>
          <a:bodyPr lIns="0" tIns="0" rIns="0" bIns="0" rtlCol="0" anchor="t">
            <a:spAutoFit/>
          </a:bodyPr>
          <a:lstStyle/>
          <a:p>
            <a:pPr algn="l">
              <a:lnSpc>
                <a:spcPts val="2125"/>
              </a:lnSpc>
            </a:pPr>
            <a:r>
              <a:rPr lang="en-US" sz="1700">
                <a:solidFill>
                  <a:srgbClr val="5A6B60"/>
                </a:solidFill>
                <a:latin typeface="Poppins"/>
                <a:ea typeface="Poppins"/>
                <a:cs typeface="Poppins"/>
                <a:sym typeface="Poppins"/>
              </a:rPr>
              <a:t>Combine a modern web-based farm management platform with AI capabilities through Hugging Face.</a:t>
            </a:r>
          </a:p>
        </p:txBody>
      </p:sp>
      <p:sp>
        <p:nvSpPr>
          <p:cNvPr id="33" name="TextBox 33"/>
          <p:cNvSpPr txBox="1"/>
          <p:nvPr/>
        </p:nvSpPr>
        <p:spPr>
          <a:xfrm>
            <a:off x="525104" y="8724900"/>
            <a:ext cx="17191396" cy="733406"/>
          </a:xfrm>
          <a:prstGeom prst="rect">
            <a:avLst/>
          </a:prstGeom>
        </p:spPr>
        <p:txBody>
          <a:bodyPr wrap="square" lIns="0" tIns="0" rIns="0" bIns="0" rtlCol="0" anchor="t">
            <a:spAutoFit/>
          </a:bodyPr>
          <a:lstStyle/>
          <a:p>
            <a:pPr algn="ctr">
              <a:lnSpc>
                <a:spcPts val="2875"/>
              </a:lnSpc>
            </a:pPr>
            <a:r>
              <a:rPr lang="en-IN" sz="2800" b="1">
                <a:solidFill>
                  <a:srgbClr val="33CC33"/>
                </a:solidFill>
              </a:rPr>
              <a:t>Intelligent Farm Operations Platform </a:t>
            </a:r>
            <a:r>
              <a:rPr lang="en-US" sz="2300" b="1">
                <a:solidFill>
                  <a:srgbClr val="33CC33"/>
                </a:solidFill>
                <a:latin typeface="Poppins Bold"/>
                <a:ea typeface="Poppins Bold"/>
                <a:cs typeface="Poppins Bold"/>
                <a:sym typeface="Poppins Bold"/>
              </a:rPr>
              <a:t>is designed to make farm operations more organized, accessible and technology-driven.</a:t>
            </a:r>
          </a:p>
        </p:txBody>
      </p:sp>
      <p:grpSp>
        <p:nvGrpSpPr>
          <p:cNvPr id="36" name="Group 36"/>
          <p:cNvGrpSpPr/>
          <p:nvPr/>
        </p:nvGrpSpPr>
        <p:grpSpPr>
          <a:xfrm>
            <a:off x="876300" y="1952625"/>
            <a:ext cx="2667000" cy="361950"/>
            <a:chOff x="0" y="0"/>
            <a:chExt cx="3556000" cy="482600"/>
          </a:xfrm>
        </p:grpSpPr>
        <p:sp>
          <p:nvSpPr>
            <p:cNvPr id="37" name="Freeform 37"/>
            <p:cNvSpPr/>
            <p:nvPr/>
          </p:nvSpPr>
          <p:spPr>
            <a:xfrm>
              <a:off x="0" y="0"/>
              <a:ext cx="3556000" cy="482600"/>
            </a:xfrm>
            <a:custGeom>
              <a:avLst/>
              <a:gdLst/>
              <a:ahLst/>
              <a:cxnLst/>
              <a:rect l="l" t="t" r="r" b="b"/>
              <a:pathLst>
                <a:path w="3556000" h="482600">
                  <a:moveTo>
                    <a:pt x="241300" y="0"/>
                  </a:moveTo>
                  <a:lnTo>
                    <a:pt x="3314700" y="0"/>
                  </a:lnTo>
                  <a:cubicBezTo>
                    <a:pt x="3447966" y="0"/>
                    <a:pt x="3556000" y="108034"/>
                    <a:pt x="3556000" y="241300"/>
                  </a:cubicBezTo>
                  <a:cubicBezTo>
                    <a:pt x="3556000" y="374566"/>
                    <a:pt x="3447966" y="482600"/>
                    <a:pt x="3314700" y="482600"/>
                  </a:cubicBezTo>
                  <a:lnTo>
                    <a:pt x="241300" y="482600"/>
                  </a:lnTo>
                  <a:cubicBezTo>
                    <a:pt x="108034" y="482600"/>
                    <a:pt x="0" y="374566"/>
                    <a:pt x="0" y="241300"/>
                  </a:cubicBezTo>
                  <a:cubicBezTo>
                    <a:pt x="0" y="108034"/>
                    <a:pt x="108034" y="0"/>
                    <a:pt x="241300" y="0"/>
                  </a:cubicBezTo>
                  <a:close/>
                </a:path>
              </a:pathLst>
            </a:custGeom>
            <a:solidFill>
              <a:srgbClr val="2F6B45"/>
            </a:solidFill>
          </p:spPr>
        </p:sp>
        <p:sp>
          <p:nvSpPr>
            <p:cNvPr id="38" name="TextBox 38"/>
            <p:cNvSpPr txBox="1"/>
            <p:nvPr/>
          </p:nvSpPr>
          <p:spPr>
            <a:xfrm>
              <a:off x="0" y="-38100"/>
              <a:ext cx="3556000" cy="520700"/>
            </a:xfrm>
            <a:prstGeom prst="rect">
              <a:avLst/>
            </a:prstGeom>
          </p:spPr>
          <p:txBody>
            <a:bodyPr lIns="50800" tIns="50800" rIns="50800" bIns="50800" rtlCol="0" anchor="ctr"/>
            <a:lstStyle/>
            <a:p>
              <a:pPr algn="ctr">
                <a:lnSpc>
                  <a:spcPts val="1540"/>
                </a:lnSpc>
              </a:pPr>
              <a:r>
                <a:rPr lang="en-US" sz="1100" b="1">
                  <a:solidFill>
                    <a:srgbClr val="FFFFFF"/>
                  </a:solidFill>
                  <a:latin typeface="Arimo Bold"/>
                  <a:ea typeface="Arimo Bold"/>
                  <a:cs typeface="Arimo Bold"/>
                  <a:sym typeface="Arimo Bold"/>
                </a:rPr>
                <a:t>MEASURABLE OUTCOMES</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9"/>
        </a:solidFill>
        <a:effectLst/>
      </p:bgPr>
    </p:bg>
    <p:spTree>
      <p:nvGrpSpPr>
        <p:cNvPr id="1" name=""/>
        <p:cNvGrpSpPr/>
        <p:nvPr/>
      </p:nvGrpSpPr>
      <p:grpSpPr>
        <a:xfrm>
          <a:off x="0" y="0"/>
          <a:ext cx="0" cy="0"/>
          <a:chOff x="0" y="0"/>
          <a:chExt cx="0" cy="0"/>
        </a:xfrm>
      </p:grpSpPr>
      <p:grpSp>
        <p:nvGrpSpPr>
          <p:cNvPr id="8" name="Group 8"/>
          <p:cNvGrpSpPr/>
          <p:nvPr/>
        </p:nvGrpSpPr>
        <p:grpSpPr>
          <a:xfrm>
            <a:off x="34413" y="8762543"/>
            <a:ext cx="1047750" cy="1047750"/>
            <a:chOff x="0" y="0"/>
            <a:chExt cx="1397000" cy="1397000"/>
          </a:xfrm>
        </p:grpSpPr>
        <p:sp>
          <p:nvSpPr>
            <p:cNvPr id="9" name="Freeform 9"/>
            <p:cNvSpPr/>
            <p:nvPr/>
          </p:nvSpPr>
          <p:spPr>
            <a:xfrm>
              <a:off x="0" y="0"/>
              <a:ext cx="1397000" cy="1397000"/>
            </a:xfrm>
            <a:custGeom>
              <a:avLst/>
              <a:gdLst/>
              <a:ahLst/>
              <a:cxnLst/>
              <a:rect l="l" t="t" r="r" b="b"/>
              <a:pathLst>
                <a:path w="1397000" h="1397000">
                  <a:moveTo>
                    <a:pt x="0" y="698500"/>
                  </a:moveTo>
                  <a:cubicBezTo>
                    <a:pt x="0" y="1084271"/>
                    <a:pt x="312729" y="1397000"/>
                    <a:pt x="698500" y="1397000"/>
                  </a:cubicBezTo>
                  <a:cubicBezTo>
                    <a:pt x="1084271" y="1397000"/>
                    <a:pt x="1397000" y="1084271"/>
                    <a:pt x="1397000" y="698500"/>
                  </a:cubicBezTo>
                  <a:cubicBezTo>
                    <a:pt x="1397000" y="312729"/>
                    <a:pt x="1084271" y="0"/>
                    <a:pt x="698500" y="0"/>
                  </a:cubicBezTo>
                  <a:cubicBezTo>
                    <a:pt x="312729" y="0"/>
                    <a:pt x="0" y="312729"/>
                    <a:pt x="0" y="698500"/>
                  </a:cubicBezTo>
                  <a:close/>
                </a:path>
              </a:pathLst>
            </a:custGeom>
            <a:solidFill>
              <a:srgbClr val="2F6B45">
                <a:alpha val="84706"/>
              </a:srgbClr>
            </a:solidFill>
          </p:spPr>
        </p:sp>
        <p:sp>
          <p:nvSpPr>
            <p:cNvPr id="10" name="TextBox 10"/>
            <p:cNvSpPr txBox="1"/>
            <p:nvPr/>
          </p:nvSpPr>
          <p:spPr>
            <a:xfrm>
              <a:off x="0" y="-38100"/>
              <a:ext cx="1397000" cy="1435100"/>
            </a:xfrm>
            <a:prstGeom prst="rect">
              <a:avLst/>
            </a:prstGeom>
          </p:spPr>
          <p:txBody>
            <a:bodyPr lIns="50800" tIns="50800" rIns="50800" bIns="50800" rtlCol="0" anchor="ctr"/>
            <a:lstStyle/>
            <a:p>
              <a:pPr algn="l">
                <a:lnSpc>
                  <a:spcPts val="1679"/>
                </a:lnSpc>
              </a:pPr>
              <a:endParaRPr/>
            </a:p>
          </p:txBody>
        </p:sp>
      </p:grpSp>
      <p:sp>
        <p:nvSpPr>
          <p:cNvPr id="11" name="TextBox 11"/>
          <p:cNvSpPr txBox="1"/>
          <p:nvPr/>
        </p:nvSpPr>
        <p:spPr>
          <a:xfrm>
            <a:off x="876300" y="628650"/>
            <a:ext cx="14287500" cy="963295"/>
          </a:xfrm>
          <a:prstGeom prst="rect">
            <a:avLst/>
          </a:prstGeom>
        </p:spPr>
        <p:txBody>
          <a:bodyPr lIns="0" tIns="0" rIns="0" bIns="0" rtlCol="0" anchor="t">
            <a:spAutoFit/>
          </a:bodyPr>
          <a:lstStyle/>
          <a:p>
            <a:pPr algn="l">
              <a:lnSpc>
                <a:spcPts val="7249"/>
              </a:lnSpc>
            </a:pPr>
            <a:r>
              <a:rPr lang="en-US" sz="5799" b="1">
                <a:solidFill>
                  <a:srgbClr val="123D2B"/>
                </a:solidFill>
                <a:latin typeface="Poppins Bold"/>
                <a:ea typeface="Poppins Bold"/>
                <a:cs typeface="Poppins Bold"/>
                <a:sym typeface="Poppins Bold"/>
              </a:rPr>
              <a:t>Future Scope &amp; Enhancements</a:t>
            </a:r>
          </a:p>
        </p:txBody>
      </p:sp>
      <p:sp>
        <p:nvSpPr>
          <p:cNvPr id="12" name="TextBox 12"/>
          <p:cNvSpPr txBox="1"/>
          <p:nvPr/>
        </p:nvSpPr>
        <p:spPr>
          <a:xfrm>
            <a:off x="876300" y="1447800"/>
            <a:ext cx="15716250" cy="325474"/>
          </a:xfrm>
          <a:prstGeom prst="rect">
            <a:avLst/>
          </a:prstGeom>
        </p:spPr>
        <p:txBody>
          <a:bodyPr lIns="0" tIns="0" rIns="0" bIns="0" rtlCol="0" anchor="t">
            <a:spAutoFit/>
          </a:bodyPr>
          <a:lstStyle/>
          <a:p>
            <a:pPr algn="l">
              <a:lnSpc>
                <a:spcPts val="2625"/>
              </a:lnSpc>
            </a:pPr>
            <a:r>
              <a:rPr lang="en-US" sz="2100">
                <a:solidFill>
                  <a:srgbClr val="5A6B60"/>
                </a:solidFill>
                <a:latin typeface="Poppins"/>
                <a:ea typeface="Poppins"/>
                <a:cs typeface="Poppins"/>
                <a:sym typeface="Poppins"/>
              </a:rPr>
              <a:t>This is committed to continuous innovation, with a strategic roadmap for future development that includes:</a:t>
            </a:r>
          </a:p>
        </p:txBody>
      </p:sp>
      <p:grpSp>
        <p:nvGrpSpPr>
          <p:cNvPr id="13" name="Group 13"/>
          <p:cNvGrpSpPr/>
          <p:nvPr/>
        </p:nvGrpSpPr>
        <p:grpSpPr>
          <a:xfrm>
            <a:off x="1047750" y="2571750"/>
            <a:ext cx="609600" cy="323850"/>
            <a:chOff x="0" y="0"/>
            <a:chExt cx="812800" cy="431800"/>
          </a:xfrm>
        </p:grpSpPr>
        <p:sp>
          <p:nvSpPr>
            <p:cNvPr id="14" name="Freeform 14"/>
            <p:cNvSpPr/>
            <p:nvPr/>
          </p:nvSpPr>
          <p:spPr>
            <a:xfrm>
              <a:off x="0" y="0"/>
              <a:ext cx="812800" cy="431800"/>
            </a:xfrm>
            <a:custGeom>
              <a:avLst/>
              <a:gdLst/>
              <a:ahLst/>
              <a:cxnLst/>
              <a:rect l="l" t="t" r="r" b="b"/>
              <a:pathLst>
                <a:path w="812800" h="431800">
                  <a:moveTo>
                    <a:pt x="215900" y="0"/>
                  </a:moveTo>
                  <a:lnTo>
                    <a:pt x="596900" y="0"/>
                  </a:lnTo>
                  <a:cubicBezTo>
                    <a:pt x="716138" y="0"/>
                    <a:pt x="812800" y="96662"/>
                    <a:pt x="812800" y="215900"/>
                  </a:cubicBezTo>
                  <a:cubicBezTo>
                    <a:pt x="812800" y="335138"/>
                    <a:pt x="716138" y="431800"/>
                    <a:pt x="5969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15" name="TextBox 15"/>
            <p:cNvSpPr txBox="1"/>
            <p:nvPr/>
          </p:nvSpPr>
          <p:spPr>
            <a:xfrm>
              <a:off x="0" y="-47625"/>
              <a:ext cx="8128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01</a:t>
              </a:r>
            </a:p>
          </p:txBody>
        </p:sp>
      </p:grpSp>
      <p:grpSp>
        <p:nvGrpSpPr>
          <p:cNvPr id="16" name="Group 16"/>
          <p:cNvGrpSpPr/>
          <p:nvPr/>
        </p:nvGrpSpPr>
        <p:grpSpPr>
          <a:xfrm>
            <a:off x="2000250" y="2333625"/>
            <a:ext cx="14954250" cy="952500"/>
            <a:chOff x="0" y="0"/>
            <a:chExt cx="19939000" cy="1270000"/>
          </a:xfrm>
        </p:grpSpPr>
        <p:sp>
          <p:nvSpPr>
            <p:cNvPr id="17" name="Freeform 17"/>
            <p:cNvSpPr/>
            <p:nvPr/>
          </p:nvSpPr>
          <p:spPr>
            <a:xfrm>
              <a:off x="0" y="0"/>
              <a:ext cx="19939000" cy="1270000"/>
            </a:xfrm>
            <a:custGeom>
              <a:avLst/>
              <a:gdLst/>
              <a:ahLst/>
              <a:cxnLst/>
              <a:rect l="l" t="t" r="r" b="b"/>
              <a:pathLst>
                <a:path w="19939000" h="1270000">
                  <a:moveTo>
                    <a:pt x="203200" y="0"/>
                  </a:moveTo>
                  <a:lnTo>
                    <a:pt x="19735800" y="0"/>
                  </a:lnTo>
                  <a:cubicBezTo>
                    <a:pt x="19848024" y="0"/>
                    <a:pt x="19939000" y="90976"/>
                    <a:pt x="19939000" y="203200"/>
                  </a:cubicBezTo>
                  <a:lnTo>
                    <a:pt x="19939000" y="1066800"/>
                  </a:lnTo>
                  <a:cubicBezTo>
                    <a:pt x="19939000" y="1179024"/>
                    <a:pt x="19848024" y="1270000"/>
                    <a:pt x="19735800" y="1270000"/>
                  </a:cubicBezTo>
                  <a:lnTo>
                    <a:pt x="203200" y="1270000"/>
                  </a:lnTo>
                  <a:cubicBezTo>
                    <a:pt x="90976" y="1270000"/>
                    <a:pt x="0" y="1179024"/>
                    <a:pt x="0" y="1066800"/>
                  </a:cubicBezTo>
                  <a:lnTo>
                    <a:pt x="0" y="203200"/>
                  </a:lnTo>
                  <a:cubicBezTo>
                    <a:pt x="0" y="90976"/>
                    <a:pt x="90976" y="0"/>
                    <a:pt x="203200" y="0"/>
                  </a:cubicBezTo>
                  <a:close/>
                </a:path>
              </a:pathLst>
            </a:custGeom>
            <a:solidFill>
              <a:srgbClr val="FFFFFF"/>
            </a:solidFill>
            <a:ln w="9525" cap="sq">
              <a:solidFill>
                <a:srgbClr val="C9D7C5"/>
              </a:solidFill>
              <a:prstDash val="solid"/>
              <a:miter/>
            </a:ln>
          </p:spPr>
        </p:sp>
        <p:sp>
          <p:nvSpPr>
            <p:cNvPr id="18" name="TextBox 18"/>
            <p:cNvSpPr txBox="1"/>
            <p:nvPr/>
          </p:nvSpPr>
          <p:spPr>
            <a:xfrm>
              <a:off x="0" y="-38100"/>
              <a:ext cx="19939000" cy="1308100"/>
            </a:xfrm>
            <a:prstGeom prst="rect">
              <a:avLst/>
            </a:prstGeom>
          </p:spPr>
          <p:txBody>
            <a:bodyPr lIns="50800" tIns="50800" rIns="50800" bIns="50800" rtlCol="0" anchor="ctr"/>
            <a:lstStyle/>
            <a:p>
              <a:pPr algn="l">
                <a:lnSpc>
                  <a:spcPts val="1679"/>
                </a:lnSpc>
              </a:pPr>
              <a:endParaRPr/>
            </a:p>
          </p:txBody>
        </p:sp>
      </p:grpSp>
      <p:sp>
        <p:nvSpPr>
          <p:cNvPr id="19" name="TextBox 19"/>
          <p:cNvSpPr txBox="1"/>
          <p:nvPr/>
        </p:nvSpPr>
        <p:spPr>
          <a:xfrm>
            <a:off x="2333625" y="2495550"/>
            <a:ext cx="4953000" cy="311785"/>
          </a:xfrm>
          <a:prstGeom prst="rect">
            <a:avLst/>
          </a:prstGeom>
        </p:spPr>
        <p:txBody>
          <a:bodyPr lIns="0" tIns="0" rIns="0" bIns="0" rtlCol="0" anchor="t">
            <a:spAutoFit/>
          </a:bodyPr>
          <a:lstStyle/>
          <a:p>
            <a:pPr algn="l">
              <a:lnSpc>
                <a:spcPts val="2374"/>
              </a:lnSpc>
            </a:pPr>
            <a:r>
              <a:rPr lang="en-US" sz="1899" b="1">
                <a:solidFill>
                  <a:srgbClr val="123D2B"/>
                </a:solidFill>
                <a:latin typeface="Poppins Bold"/>
                <a:ea typeface="Poppins Bold"/>
                <a:cs typeface="Poppins Bold"/>
                <a:sym typeface="Poppins Bold"/>
              </a:rPr>
              <a:t>SMART FARM MONITORING</a:t>
            </a:r>
          </a:p>
        </p:txBody>
      </p:sp>
      <p:sp>
        <p:nvSpPr>
          <p:cNvPr id="20" name="TextBox 20"/>
          <p:cNvSpPr txBox="1"/>
          <p:nvPr/>
        </p:nvSpPr>
        <p:spPr>
          <a:xfrm>
            <a:off x="2333625" y="2828925"/>
            <a:ext cx="13906500" cy="256540"/>
          </a:xfrm>
          <a:prstGeom prst="rect">
            <a:avLst/>
          </a:prstGeom>
        </p:spPr>
        <p:txBody>
          <a:bodyPr lIns="0" tIns="0" rIns="0" bIns="0" rtlCol="0" anchor="t">
            <a:spAutoFit/>
          </a:bodyPr>
          <a:lstStyle/>
          <a:p>
            <a:pPr algn="l">
              <a:lnSpc>
                <a:spcPts val="1999"/>
              </a:lnSpc>
            </a:pPr>
            <a:r>
              <a:rPr lang="en-US" sz="1599">
                <a:solidFill>
                  <a:srgbClr val="5A6B60"/>
                </a:solidFill>
                <a:latin typeface="Poppins"/>
                <a:ea typeface="Poppins"/>
                <a:cs typeface="Poppins"/>
                <a:sym typeface="Poppins"/>
              </a:rPr>
              <a:t>Potential integration with IoT sensors to collect soil and environmental information.</a:t>
            </a:r>
          </a:p>
        </p:txBody>
      </p:sp>
      <p:grpSp>
        <p:nvGrpSpPr>
          <p:cNvPr id="21" name="Group 21"/>
          <p:cNvGrpSpPr/>
          <p:nvPr/>
        </p:nvGrpSpPr>
        <p:grpSpPr>
          <a:xfrm>
            <a:off x="1047750" y="3762375"/>
            <a:ext cx="609600" cy="323850"/>
            <a:chOff x="0" y="0"/>
            <a:chExt cx="812800" cy="431800"/>
          </a:xfrm>
        </p:grpSpPr>
        <p:sp>
          <p:nvSpPr>
            <p:cNvPr id="22" name="Freeform 22"/>
            <p:cNvSpPr/>
            <p:nvPr/>
          </p:nvSpPr>
          <p:spPr>
            <a:xfrm>
              <a:off x="0" y="0"/>
              <a:ext cx="812800" cy="431800"/>
            </a:xfrm>
            <a:custGeom>
              <a:avLst/>
              <a:gdLst/>
              <a:ahLst/>
              <a:cxnLst/>
              <a:rect l="l" t="t" r="r" b="b"/>
              <a:pathLst>
                <a:path w="812800" h="431800">
                  <a:moveTo>
                    <a:pt x="215900" y="0"/>
                  </a:moveTo>
                  <a:lnTo>
                    <a:pt x="596900" y="0"/>
                  </a:lnTo>
                  <a:cubicBezTo>
                    <a:pt x="716138" y="0"/>
                    <a:pt x="812800" y="96662"/>
                    <a:pt x="812800" y="215900"/>
                  </a:cubicBezTo>
                  <a:cubicBezTo>
                    <a:pt x="812800" y="335138"/>
                    <a:pt x="716138" y="431800"/>
                    <a:pt x="5969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23" name="TextBox 23"/>
            <p:cNvSpPr txBox="1"/>
            <p:nvPr/>
          </p:nvSpPr>
          <p:spPr>
            <a:xfrm>
              <a:off x="0" y="-47625"/>
              <a:ext cx="8128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02</a:t>
              </a:r>
            </a:p>
          </p:txBody>
        </p:sp>
      </p:grpSp>
      <p:grpSp>
        <p:nvGrpSpPr>
          <p:cNvPr id="24" name="Group 24"/>
          <p:cNvGrpSpPr/>
          <p:nvPr/>
        </p:nvGrpSpPr>
        <p:grpSpPr>
          <a:xfrm>
            <a:off x="2000250" y="3524250"/>
            <a:ext cx="14954250" cy="952500"/>
            <a:chOff x="0" y="0"/>
            <a:chExt cx="19939000" cy="1270000"/>
          </a:xfrm>
        </p:grpSpPr>
        <p:sp>
          <p:nvSpPr>
            <p:cNvPr id="25" name="Freeform 25"/>
            <p:cNvSpPr/>
            <p:nvPr/>
          </p:nvSpPr>
          <p:spPr>
            <a:xfrm>
              <a:off x="0" y="0"/>
              <a:ext cx="19939000" cy="1270000"/>
            </a:xfrm>
            <a:custGeom>
              <a:avLst/>
              <a:gdLst/>
              <a:ahLst/>
              <a:cxnLst/>
              <a:rect l="l" t="t" r="r" b="b"/>
              <a:pathLst>
                <a:path w="19939000" h="1270000">
                  <a:moveTo>
                    <a:pt x="203200" y="0"/>
                  </a:moveTo>
                  <a:lnTo>
                    <a:pt x="19735800" y="0"/>
                  </a:lnTo>
                  <a:cubicBezTo>
                    <a:pt x="19848024" y="0"/>
                    <a:pt x="19939000" y="90976"/>
                    <a:pt x="19939000" y="203200"/>
                  </a:cubicBezTo>
                  <a:lnTo>
                    <a:pt x="19939000" y="1066800"/>
                  </a:lnTo>
                  <a:cubicBezTo>
                    <a:pt x="19939000" y="1179024"/>
                    <a:pt x="19848024" y="1270000"/>
                    <a:pt x="19735800" y="1270000"/>
                  </a:cubicBezTo>
                  <a:lnTo>
                    <a:pt x="203200" y="1270000"/>
                  </a:lnTo>
                  <a:cubicBezTo>
                    <a:pt x="90976" y="1270000"/>
                    <a:pt x="0" y="1179024"/>
                    <a:pt x="0" y="1066800"/>
                  </a:cubicBezTo>
                  <a:lnTo>
                    <a:pt x="0" y="203200"/>
                  </a:lnTo>
                  <a:cubicBezTo>
                    <a:pt x="0" y="90976"/>
                    <a:pt x="90976" y="0"/>
                    <a:pt x="203200" y="0"/>
                  </a:cubicBezTo>
                  <a:close/>
                </a:path>
              </a:pathLst>
            </a:custGeom>
            <a:solidFill>
              <a:srgbClr val="FFFFFF"/>
            </a:solidFill>
            <a:ln w="9525" cap="sq">
              <a:solidFill>
                <a:srgbClr val="C9D7C5"/>
              </a:solidFill>
              <a:prstDash val="solid"/>
              <a:miter/>
            </a:ln>
          </p:spPr>
        </p:sp>
        <p:sp>
          <p:nvSpPr>
            <p:cNvPr id="26" name="TextBox 26"/>
            <p:cNvSpPr txBox="1"/>
            <p:nvPr/>
          </p:nvSpPr>
          <p:spPr>
            <a:xfrm>
              <a:off x="0" y="-38100"/>
              <a:ext cx="19939000" cy="1308100"/>
            </a:xfrm>
            <a:prstGeom prst="rect">
              <a:avLst/>
            </a:prstGeom>
          </p:spPr>
          <p:txBody>
            <a:bodyPr lIns="50800" tIns="50800" rIns="50800" bIns="50800" rtlCol="0" anchor="ctr"/>
            <a:lstStyle/>
            <a:p>
              <a:pPr algn="l">
                <a:lnSpc>
                  <a:spcPts val="1679"/>
                </a:lnSpc>
              </a:pPr>
              <a:endParaRPr/>
            </a:p>
          </p:txBody>
        </p:sp>
      </p:grpSp>
      <p:sp>
        <p:nvSpPr>
          <p:cNvPr id="27" name="TextBox 27"/>
          <p:cNvSpPr txBox="1"/>
          <p:nvPr/>
        </p:nvSpPr>
        <p:spPr>
          <a:xfrm>
            <a:off x="2333625" y="3686175"/>
            <a:ext cx="4953000" cy="311785"/>
          </a:xfrm>
          <a:prstGeom prst="rect">
            <a:avLst/>
          </a:prstGeom>
        </p:spPr>
        <p:txBody>
          <a:bodyPr lIns="0" tIns="0" rIns="0" bIns="0" rtlCol="0" anchor="t">
            <a:spAutoFit/>
          </a:bodyPr>
          <a:lstStyle/>
          <a:p>
            <a:pPr algn="l">
              <a:lnSpc>
                <a:spcPts val="2374"/>
              </a:lnSpc>
            </a:pPr>
            <a:r>
              <a:rPr lang="en-US" sz="1899" b="1">
                <a:solidFill>
                  <a:srgbClr val="123D2B"/>
                </a:solidFill>
                <a:latin typeface="Poppins Bold"/>
                <a:ea typeface="Poppins Bold"/>
                <a:cs typeface="Poppins Bold"/>
                <a:sym typeface="Poppins Bold"/>
              </a:rPr>
              <a:t>WEATHER &amp; CLIMATE INSIGHTS</a:t>
            </a:r>
          </a:p>
        </p:txBody>
      </p:sp>
      <p:sp>
        <p:nvSpPr>
          <p:cNvPr id="28" name="TextBox 28"/>
          <p:cNvSpPr txBox="1"/>
          <p:nvPr/>
        </p:nvSpPr>
        <p:spPr>
          <a:xfrm>
            <a:off x="2333625" y="4019550"/>
            <a:ext cx="13906500" cy="256540"/>
          </a:xfrm>
          <a:prstGeom prst="rect">
            <a:avLst/>
          </a:prstGeom>
        </p:spPr>
        <p:txBody>
          <a:bodyPr lIns="0" tIns="0" rIns="0" bIns="0" rtlCol="0" anchor="t">
            <a:spAutoFit/>
          </a:bodyPr>
          <a:lstStyle/>
          <a:p>
            <a:pPr algn="l">
              <a:lnSpc>
                <a:spcPts val="1999"/>
              </a:lnSpc>
            </a:pPr>
            <a:r>
              <a:rPr lang="en-US" sz="1599">
                <a:solidFill>
                  <a:srgbClr val="5A6B60"/>
                </a:solidFill>
                <a:latin typeface="Poppins"/>
                <a:ea typeface="Poppins"/>
                <a:cs typeface="Poppins"/>
                <a:sym typeface="Poppins"/>
              </a:rPr>
              <a:t>Future integration with reliable weather APIs to support weather-aware farm planning.</a:t>
            </a:r>
          </a:p>
        </p:txBody>
      </p:sp>
      <p:grpSp>
        <p:nvGrpSpPr>
          <p:cNvPr id="29" name="Group 29"/>
          <p:cNvGrpSpPr/>
          <p:nvPr/>
        </p:nvGrpSpPr>
        <p:grpSpPr>
          <a:xfrm>
            <a:off x="1047750" y="4953000"/>
            <a:ext cx="609600" cy="323850"/>
            <a:chOff x="0" y="0"/>
            <a:chExt cx="812800" cy="431800"/>
          </a:xfrm>
        </p:grpSpPr>
        <p:sp>
          <p:nvSpPr>
            <p:cNvPr id="30" name="Freeform 30"/>
            <p:cNvSpPr/>
            <p:nvPr/>
          </p:nvSpPr>
          <p:spPr>
            <a:xfrm>
              <a:off x="0" y="0"/>
              <a:ext cx="812800" cy="431800"/>
            </a:xfrm>
            <a:custGeom>
              <a:avLst/>
              <a:gdLst/>
              <a:ahLst/>
              <a:cxnLst/>
              <a:rect l="l" t="t" r="r" b="b"/>
              <a:pathLst>
                <a:path w="812800" h="431800">
                  <a:moveTo>
                    <a:pt x="215900" y="0"/>
                  </a:moveTo>
                  <a:lnTo>
                    <a:pt x="596900" y="0"/>
                  </a:lnTo>
                  <a:cubicBezTo>
                    <a:pt x="716138" y="0"/>
                    <a:pt x="812800" y="96662"/>
                    <a:pt x="812800" y="215900"/>
                  </a:cubicBezTo>
                  <a:cubicBezTo>
                    <a:pt x="812800" y="335138"/>
                    <a:pt x="716138" y="431800"/>
                    <a:pt x="5969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31" name="TextBox 31"/>
            <p:cNvSpPr txBox="1"/>
            <p:nvPr/>
          </p:nvSpPr>
          <p:spPr>
            <a:xfrm>
              <a:off x="0" y="-47625"/>
              <a:ext cx="8128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03</a:t>
              </a:r>
            </a:p>
          </p:txBody>
        </p:sp>
      </p:grpSp>
      <p:grpSp>
        <p:nvGrpSpPr>
          <p:cNvPr id="32" name="Group 32"/>
          <p:cNvGrpSpPr/>
          <p:nvPr/>
        </p:nvGrpSpPr>
        <p:grpSpPr>
          <a:xfrm>
            <a:off x="2000250" y="4714875"/>
            <a:ext cx="14954250" cy="952500"/>
            <a:chOff x="0" y="0"/>
            <a:chExt cx="19939000" cy="1270000"/>
          </a:xfrm>
        </p:grpSpPr>
        <p:sp>
          <p:nvSpPr>
            <p:cNvPr id="33" name="Freeform 33"/>
            <p:cNvSpPr/>
            <p:nvPr/>
          </p:nvSpPr>
          <p:spPr>
            <a:xfrm>
              <a:off x="0" y="0"/>
              <a:ext cx="19939000" cy="1270000"/>
            </a:xfrm>
            <a:custGeom>
              <a:avLst/>
              <a:gdLst/>
              <a:ahLst/>
              <a:cxnLst/>
              <a:rect l="l" t="t" r="r" b="b"/>
              <a:pathLst>
                <a:path w="19939000" h="1270000">
                  <a:moveTo>
                    <a:pt x="203200" y="0"/>
                  </a:moveTo>
                  <a:lnTo>
                    <a:pt x="19735800" y="0"/>
                  </a:lnTo>
                  <a:cubicBezTo>
                    <a:pt x="19848024" y="0"/>
                    <a:pt x="19939000" y="90976"/>
                    <a:pt x="19939000" y="203200"/>
                  </a:cubicBezTo>
                  <a:lnTo>
                    <a:pt x="19939000" y="1066800"/>
                  </a:lnTo>
                  <a:cubicBezTo>
                    <a:pt x="19939000" y="1179024"/>
                    <a:pt x="19848024" y="1270000"/>
                    <a:pt x="19735800" y="1270000"/>
                  </a:cubicBezTo>
                  <a:lnTo>
                    <a:pt x="203200" y="1270000"/>
                  </a:lnTo>
                  <a:cubicBezTo>
                    <a:pt x="90976" y="1270000"/>
                    <a:pt x="0" y="1179024"/>
                    <a:pt x="0" y="1066800"/>
                  </a:cubicBezTo>
                  <a:lnTo>
                    <a:pt x="0" y="203200"/>
                  </a:lnTo>
                  <a:cubicBezTo>
                    <a:pt x="0" y="90976"/>
                    <a:pt x="90976" y="0"/>
                    <a:pt x="203200" y="0"/>
                  </a:cubicBezTo>
                  <a:close/>
                </a:path>
              </a:pathLst>
            </a:custGeom>
            <a:solidFill>
              <a:srgbClr val="FFFFFF"/>
            </a:solidFill>
            <a:ln w="9525" cap="sq">
              <a:solidFill>
                <a:srgbClr val="C9D7C5"/>
              </a:solidFill>
              <a:prstDash val="solid"/>
              <a:miter/>
            </a:ln>
          </p:spPr>
        </p:sp>
        <p:sp>
          <p:nvSpPr>
            <p:cNvPr id="34" name="TextBox 34"/>
            <p:cNvSpPr txBox="1"/>
            <p:nvPr/>
          </p:nvSpPr>
          <p:spPr>
            <a:xfrm>
              <a:off x="0" y="-38100"/>
              <a:ext cx="19939000" cy="1308100"/>
            </a:xfrm>
            <a:prstGeom prst="rect">
              <a:avLst/>
            </a:prstGeom>
          </p:spPr>
          <p:txBody>
            <a:bodyPr lIns="50800" tIns="50800" rIns="50800" bIns="50800" rtlCol="0" anchor="ctr"/>
            <a:lstStyle/>
            <a:p>
              <a:pPr algn="l">
                <a:lnSpc>
                  <a:spcPts val="1679"/>
                </a:lnSpc>
              </a:pPr>
              <a:endParaRPr/>
            </a:p>
          </p:txBody>
        </p:sp>
      </p:grpSp>
      <p:sp>
        <p:nvSpPr>
          <p:cNvPr id="35" name="TextBox 35"/>
          <p:cNvSpPr txBox="1"/>
          <p:nvPr/>
        </p:nvSpPr>
        <p:spPr>
          <a:xfrm>
            <a:off x="2333625" y="4876800"/>
            <a:ext cx="4953000" cy="311785"/>
          </a:xfrm>
          <a:prstGeom prst="rect">
            <a:avLst/>
          </a:prstGeom>
        </p:spPr>
        <p:txBody>
          <a:bodyPr lIns="0" tIns="0" rIns="0" bIns="0" rtlCol="0" anchor="t">
            <a:spAutoFit/>
          </a:bodyPr>
          <a:lstStyle/>
          <a:p>
            <a:pPr algn="l">
              <a:lnSpc>
                <a:spcPts val="2374"/>
              </a:lnSpc>
            </a:pPr>
            <a:r>
              <a:rPr lang="en-US" sz="1899" b="1">
                <a:solidFill>
                  <a:srgbClr val="123D2B"/>
                </a:solidFill>
                <a:latin typeface="Poppins Bold"/>
                <a:ea typeface="Poppins Bold"/>
                <a:cs typeface="Poppins Bold"/>
                <a:sym typeface="Poppins Bold"/>
              </a:rPr>
              <a:t>ADVANCED AI ASSISTANCE</a:t>
            </a:r>
          </a:p>
        </p:txBody>
      </p:sp>
      <p:sp>
        <p:nvSpPr>
          <p:cNvPr id="36" name="TextBox 36"/>
          <p:cNvSpPr txBox="1"/>
          <p:nvPr/>
        </p:nvSpPr>
        <p:spPr>
          <a:xfrm>
            <a:off x="2333625" y="5210175"/>
            <a:ext cx="13906500" cy="256540"/>
          </a:xfrm>
          <a:prstGeom prst="rect">
            <a:avLst/>
          </a:prstGeom>
        </p:spPr>
        <p:txBody>
          <a:bodyPr lIns="0" tIns="0" rIns="0" bIns="0" rtlCol="0" anchor="t">
            <a:spAutoFit/>
          </a:bodyPr>
          <a:lstStyle/>
          <a:p>
            <a:pPr algn="l">
              <a:lnSpc>
                <a:spcPts val="1999"/>
              </a:lnSpc>
            </a:pPr>
            <a:r>
              <a:rPr lang="en-US" sz="1599">
                <a:solidFill>
                  <a:srgbClr val="5A6B60"/>
                </a:solidFill>
                <a:latin typeface="Poppins"/>
                <a:ea typeface="Poppins"/>
                <a:cs typeface="Poppins"/>
                <a:sym typeface="Poppins"/>
              </a:rPr>
              <a:t>Expand AI capabilities to provide more personalized and context-aware agricultural assistance.</a:t>
            </a:r>
          </a:p>
        </p:txBody>
      </p:sp>
      <p:grpSp>
        <p:nvGrpSpPr>
          <p:cNvPr id="37" name="Group 37"/>
          <p:cNvGrpSpPr/>
          <p:nvPr/>
        </p:nvGrpSpPr>
        <p:grpSpPr>
          <a:xfrm>
            <a:off x="1047750" y="6143625"/>
            <a:ext cx="609600" cy="323850"/>
            <a:chOff x="0" y="0"/>
            <a:chExt cx="812800" cy="431800"/>
          </a:xfrm>
        </p:grpSpPr>
        <p:sp>
          <p:nvSpPr>
            <p:cNvPr id="38" name="Freeform 38"/>
            <p:cNvSpPr/>
            <p:nvPr/>
          </p:nvSpPr>
          <p:spPr>
            <a:xfrm>
              <a:off x="0" y="0"/>
              <a:ext cx="812800" cy="431800"/>
            </a:xfrm>
            <a:custGeom>
              <a:avLst/>
              <a:gdLst/>
              <a:ahLst/>
              <a:cxnLst/>
              <a:rect l="l" t="t" r="r" b="b"/>
              <a:pathLst>
                <a:path w="812800" h="431800">
                  <a:moveTo>
                    <a:pt x="215900" y="0"/>
                  </a:moveTo>
                  <a:lnTo>
                    <a:pt x="596900" y="0"/>
                  </a:lnTo>
                  <a:cubicBezTo>
                    <a:pt x="716138" y="0"/>
                    <a:pt x="812800" y="96662"/>
                    <a:pt x="812800" y="215900"/>
                  </a:cubicBezTo>
                  <a:cubicBezTo>
                    <a:pt x="812800" y="335138"/>
                    <a:pt x="716138" y="431800"/>
                    <a:pt x="5969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39" name="TextBox 39"/>
            <p:cNvSpPr txBox="1"/>
            <p:nvPr/>
          </p:nvSpPr>
          <p:spPr>
            <a:xfrm>
              <a:off x="0" y="-47625"/>
              <a:ext cx="8128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04</a:t>
              </a:r>
            </a:p>
          </p:txBody>
        </p:sp>
      </p:grpSp>
      <p:grpSp>
        <p:nvGrpSpPr>
          <p:cNvPr id="40" name="Group 40"/>
          <p:cNvGrpSpPr/>
          <p:nvPr/>
        </p:nvGrpSpPr>
        <p:grpSpPr>
          <a:xfrm>
            <a:off x="2000250" y="5905500"/>
            <a:ext cx="14954250" cy="952500"/>
            <a:chOff x="0" y="0"/>
            <a:chExt cx="19939000" cy="1270000"/>
          </a:xfrm>
        </p:grpSpPr>
        <p:sp>
          <p:nvSpPr>
            <p:cNvPr id="41" name="Freeform 41"/>
            <p:cNvSpPr/>
            <p:nvPr/>
          </p:nvSpPr>
          <p:spPr>
            <a:xfrm>
              <a:off x="0" y="0"/>
              <a:ext cx="19939000" cy="1270000"/>
            </a:xfrm>
            <a:custGeom>
              <a:avLst/>
              <a:gdLst/>
              <a:ahLst/>
              <a:cxnLst/>
              <a:rect l="l" t="t" r="r" b="b"/>
              <a:pathLst>
                <a:path w="19939000" h="1270000">
                  <a:moveTo>
                    <a:pt x="203200" y="0"/>
                  </a:moveTo>
                  <a:lnTo>
                    <a:pt x="19735800" y="0"/>
                  </a:lnTo>
                  <a:cubicBezTo>
                    <a:pt x="19848024" y="0"/>
                    <a:pt x="19939000" y="90976"/>
                    <a:pt x="19939000" y="203200"/>
                  </a:cubicBezTo>
                  <a:lnTo>
                    <a:pt x="19939000" y="1066800"/>
                  </a:lnTo>
                  <a:cubicBezTo>
                    <a:pt x="19939000" y="1179024"/>
                    <a:pt x="19848024" y="1270000"/>
                    <a:pt x="19735800" y="1270000"/>
                  </a:cubicBezTo>
                  <a:lnTo>
                    <a:pt x="203200" y="1270000"/>
                  </a:lnTo>
                  <a:cubicBezTo>
                    <a:pt x="90976" y="1270000"/>
                    <a:pt x="0" y="1179024"/>
                    <a:pt x="0" y="1066800"/>
                  </a:cubicBezTo>
                  <a:lnTo>
                    <a:pt x="0" y="203200"/>
                  </a:lnTo>
                  <a:cubicBezTo>
                    <a:pt x="0" y="90976"/>
                    <a:pt x="90976" y="0"/>
                    <a:pt x="203200" y="0"/>
                  </a:cubicBezTo>
                  <a:close/>
                </a:path>
              </a:pathLst>
            </a:custGeom>
            <a:solidFill>
              <a:srgbClr val="FFFFFF"/>
            </a:solidFill>
            <a:ln w="9525" cap="sq">
              <a:solidFill>
                <a:srgbClr val="C9D7C5"/>
              </a:solidFill>
              <a:prstDash val="solid"/>
              <a:miter/>
            </a:ln>
          </p:spPr>
        </p:sp>
        <p:sp>
          <p:nvSpPr>
            <p:cNvPr id="42" name="TextBox 42"/>
            <p:cNvSpPr txBox="1"/>
            <p:nvPr/>
          </p:nvSpPr>
          <p:spPr>
            <a:xfrm>
              <a:off x="0" y="-38100"/>
              <a:ext cx="19939000" cy="1308100"/>
            </a:xfrm>
            <a:prstGeom prst="rect">
              <a:avLst/>
            </a:prstGeom>
          </p:spPr>
          <p:txBody>
            <a:bodyPr lIns="50800" tIns="50800" rIns="50800" bIns="50800" rtlCol="0" anchor="ctr"/>
            <a:lstStyle/>
            <a:p>
              <a:pPr algn="l">
                <a:lnSpc>
                  <a:spcPts val="1679"/>
                </a:lnSpc>
              </a:pPr>
              <a:endParaRPr/>
            </a:p>
          </p:txBody>
        </p:sp>
      </p:grpSp>
      <p:sp>
        <p:nvSpPr>
          <p:cNvPr id="43" name="TextBox 43"/>
          <p:cNvSpPr txBox="1"/>
          <p:nvPr/>
        </p:nvSpPr>
        <p:spPr>
          <a:xfrm>
            <a:off x="2333625" y="6067425"/>
            <a:ext cx="4953000" cy="311785"/>
          </a:xfrm>
          <a:prstGeom prst="rect">
            <a:avLst/>
          </a:prstGeom>
        </p:spPr>
        <p:txBody>
          <a:bodyPr lIns="0" tIns="0" rIns="0" bIns="0" rtlCol="0" anchor="t">
            <a:spAutoFit/>
          </a:bodyPr>
          <a:lstStyle/>
          <a:p>
            <a:pPr algn="l">
              <a:lnSpc>
                <a:spcPts val="2374"/>
              </a:lnSpc>
            </a:pPr>
            <a:r>
              <a:rPr lang="en-US" sz="1899" b="1">
                <a:solidFill>
                  <a:srgbClr val="123D2B"/>
                </a:solidFill>
                <a:latin typeface="Poppins Bold"/>
                <a:ea typeface="Poppins Bold"/>
                <a:cs typeface="Poppins Bold"/>
                <a:sym typeface="Poppins Bold"/>
              </a:rPr>
              <a:t>MOBILE APPLICATION</a:t>
            </a:r>
          </a:p>
        </p:txBody>
      </p:sp>
      <p:sp>
        <p:nvSpPr>
          <p:cNvPr id="44" name="TextBox 44"/>
          <p:cNvSpPr txBox="1"/>
          <p:nvPr/>
        </p:nvSpPr>
        <p:spPr>
          <a:xfrm>
            <a:off x="2333625" y="6400800"/>
            <a:ext cx="13906500" cy="256540"/>
          </a:xfrm>
          <a:prstGeom prst="rect">
            <a:avLst/>
          </a:prstGeom>
        </p:spPr>
        <p:txBody>
          <a:bodyPr lIns="0" tIns="0" rIns="0" bIns="0" rtlCol="0" anchor="t">
            <a:spAutoFit/>
          </a:bodyPr>
          <a:lstStyle/>
          <a:p>
            <a:pPr algn="l">
              <a:lnSpc>
                <a:spcPts val="1999"/>
              </a:lnSpc>
            </a:pPr>
            <a:r>
              <a:rPr lang="en-US" sz="1599">
                <a:solidFill>
                  <a:srgbClr val="5A6B60"/>
                </a:solidFill>
                <a:latin typeface="Poppins"/>
                <a:ea typeface="Poppins"/>
                <a:cs typeface="Poppins"/>
                <a:sym typeface="Poppins"/>
              </a:rPr>
              <a:t>Develop a dedicated mobile application for convenient access to farm operations from the field.</a:t>
            </a:r>
          </a:p>
        </p:txBody>
      </p:sp>
      <p:grpSp>
        <p:nvGrpSpPr>
          <p:cNvPr id="45" name="Group 45"/>
          <p:cNvGrpSpPr/>
          <p:nvPr/>
        </p:nvGrpSpPr>
        <p:grpSpPr>
          <a:xfrm>
            <a:off x="1028700" y="7298531"/>
            <a:ext cx="628650" cy="388144"/>
            <a:chOff x="-25400" y="-47625"/>
            <a:chExt cx="838200" cy="517525"/>
          </a:xfrm>
        </p:grpSpPr>
        <p:sp>
          <p:nvSpPr>
            <p:cNvPr id="46" name="Freeform 46"/>
            <p:cNvSpPr/>
            <p:nvPr/>
          </p:nvSpPr>
          <p:spPr>
            <a:xfrm>
              <a:off x="-25400" y="38100"/>
              <a:ext cx="812800" cy="431800"/>
            </a:xfrm>
            <a:custGeom>
              <a:avLst/>
              <a:gdLst/>
              <a:ahLst/>
              <a:cxnLst/>
              <a:rect l="l" t="t" r="r" b="b"/>
              <a:pathLst>
                <a:path w="812800" h="431800">
                  <a:moveTo>
                    <a:pt x="215900" y="0"/>
                  </a:moveTo>
                  <a:lnTo>
                    <a:pt x="596900" y="0"/>
                  </a:lnTo>
                  <a:cubicBezTo>
                    <a:pt x="716138" y="0"/>
                    <a:pt x="812800" y="96662"/>
                    <a:pt x="812800" y="215900"/>
                  </a:cubicBezTo>
                  <a:cubicBezTo>
                    <a:pt x="812800" y="335138"/>
                    <a:pt x="716138" y="431800"/>
                    <a:pt x="5969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47" name="TextBox 47"/>
            <p:cNvSpPr txBox="1"/>
            <p:nvPr/>
          </p:nvSpPr>
          <p:spPr>
            <a:xfrm>
              <a:off x="0" y="-47625"/>
              <a:ext cx="8128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05</a:t>
              </a:r>
            </a:p>
          </p:txBody>
        </p:sp>
      </p:grpSp>
      <p:grpSp>
        <p:nvGrpSpPr>
          <p:cNvPr id="48" name="Group 48"/>
          <p:cNvGrpSpPr/>
          <p:nvPr/>
        </p:nvGrpSpPr>
        <p:grpSpPr>
          <a:xfrm>
            <a:off x="2000250" y="7096125"/>
            <a:ext cx="14954250" cy="952500"/>
            <a:chOff x="0" y="0"/>
            <a:chExt cx="19939000" cy="1270000"/>
          </a:xfrm>
        </p:grpSpPr>
        <p:sp>
          <p:nvSpPr>
            <p:cNvPr id="49" name="Freeform 49"/>
            <p:cNvSpPr/>
            <p:nvPr/>
          </p:nvSpPr>
          <p:spPr>
            <a:xfrm>
              <a:off x="0" y="0"/>
              <a:ext cx="19939000" cy="1270000"/>
            </a:xfrm>
            <a:custGeom>
              <a:avLst/>
              <a:gdLst/>
              <a:ahLst/>
              <a:cxnLst/>
              <a:rect l="l" t="t" r="r" b="b"/>
              <a:pathLst>
                <a:path w="19939000" h="1270000">
                  <a:moveTo>
                    <a:pt x="203200" y="0"/>
                  </a:moveTo>
                  <a:lnTo>
                    <a:pt x="19735800" y="0"/>
                  </a:lnTo>
                  <a:cubicBezTo>
                    <a:pt x="19848024" y="0"/>
                    <a:pt x="19939000" y="90976"/>
                    <a:pt x="19939000" y="203200"/>
                  </a:cubicBezTo>
                  <a:lnTo>
                    <a:pt x="19939000" y="1066800"/>
                  </a:lnTo>
                  <a:cubicBezTo>
                    <a:pt x="19939000" y="1179024"/>
                    <a:pt x="19848024" y="1270000"/>
                    <a:pt x="19735800" y="1270000"/>
                  </a:cubicBezTo>
                  <a:lnTo>
                    <a:pt x="203200" y="1270000"/>
                  </a:lnTo>
                  <a:cubicBezTo>
                    <a:pt x="90976" y="1270000"/>
                    <a:pt x="0" y="1179024"/>
                    <a:pt x="0" y="1066800"/>
                  </a:cubicBezTo>
                  <a:lnTo>
                    <a:pt x="0" y="203200"/>
                  </a:lnTo>
                  <a:cubicBezTo>
                    <a:pt x="0" y="90976"/>
                    <a:pt x="90976" y="0"/>
                    <a:pt x="203200" y="0"/>
                  </a:cubicBezTo>
                  <a:close/>
                </a:path>
              </a:pathLst>
            </a:custGeom>
            <a:solidFill>
              <a:srgbClr val="FFFFFF"/>
            </a:solidFill>
            <a:ln w="9525" cap="sq">
              <a:solidFill>
                <a:srgbClr val="C9D7C5"/>
              </a:solidFill>
              <a:prstDash val="solid"/>
              <a:miter/>
            </a:ln>
          </p:spPr>
        </p:sp>
        <p:sp>
          <p:nvSpPr>
            <p:cNvPr id="50" name="TextBox 50"/>
            <p:cNvSpPr txBox="1"/>
            <p:nvPr/>
          </p:nvSpPr>
          <p:spPr>
            <a:xfrm>
              <a:off x="0" y="-38100"/>
              <a:ext cx="19939000" cy="1308100"/>
            </a:xfrm>
            <a:prstGeom prst="rect">
              <a:avLst/>
            </a:prstGeom>
          </p:spPr>
          <p:txBody>
            <a:bodyPr lIns="50800" tIns="50800" rIns="50800" bIns="50800" rtlCol="0" anchor="ctr"/>
            <a:lstStyle/>
            <a:p>
              <a:pPr algn="l">
                <a:lnSpc>
                  <a:spcPts val="1679"/>
                </a:lnSpc>
              </a:pPr>
              <a:endParaRPr/>
            </a:p>
          </p:txBody>
        </p:sp>
      </p:grpSp>
      <p:sp>
        <p:nvSpPr>
          <p:cNvPr id="51" name="TextBox 51"/>
          <p:cNvSpPr txBox="1"/>
          <p:nvPr/>
        </p:nvSpPr>
        <p:spPr>
          <a:xfrm>
            <a:off x="2333625" y="7258050"/>
            <a:ext cx="4953000" cy="311785"/>
          </a:xfrm>
          <a:prstGeom prst="rect">
            <a:avLst/>
          </a:prstGeom>
        </p:spPr>
        <p:txBody>
          <a:bodyPr lIns="0" tIns="0" rIns="0" bIns="0" rtlCol="0" anchor="t">
            <a:spAutoFit/>
          </a:bodyPr>
          <a:lstStyle/>
          <a:p>
            <a:pPr algn="l">
              <a:lnSpc>
                <a:spcPts val="2374"/>
              </a:lnSpc>
            </a:pPr>
            <a:r>
              <a:rPr lang="en-US" sz="1899" b="1">
                <a:solidFill>
                  <a:srgbClr val="123D2B"/>
                </a:solidFill>
                <a:latin typeface="Poppins Bold"/>
                <a:ea typeface="Poppins Bold"/>
                <a:cs typeface="Poppins Bold"/>
                <a:sym typeface="Poppins Bold"/>
              </a:rPr>
              <a:t>ADVANCED ANALYTICS</a:t>
            </a:r>
          </a:p>
        </p:txBody>
      </p:sp>
      <p:sp>
        <p:nvSpPr>
          <p:cNvPr id="52" name="TextBox 52"/>
          <p:cNvSpPr txBox="1"/>
          <p:nvPr/>
        </p:nvSpPr>
        <p:spPr>
          <a:xfrm>
            <a:off x="2333625" y="7591425"/>
            <a:ext cx="13906500" cy="256540"/>
          </a:xfrm>
          <a:prstGeom prst="rect">
            <a:avLst/>
          </a:prstGeom>
        </p:spPr>
        <p:txBody>
          <a:bodyPr lIns="0" tIns="0" rIns="0" bIns="0" rtlCol="0" anchor="t">
            <a:spAutoFit/>
          </a:bodyPr>
          <a:lstStyle/>
          <a:p>
            <a:pPr algn="l">
              <a:lnSpc>
                <a:spcPts val="1999"/>
              </a:lnSpc>
            </a:pPr>
            <a:r>
              <a:rPr lang="en-US" sz="1599">
                <a:solidFill>
                  <a:srgbClr val="5A6B60"/>
                </a:solidFill>
                <a:latin typeface="Poppins"/>
                <a:ea typeface="Poppins"/>
                <a:cs typeface="Poppins"/>
                <a:sym typeface="Poppins"/>
              </a:rPr>
              <a:t>Introduce interactive dashboards and analytics for deeper understanding of crop, yield and expense trends.</a:t>
            </a:r>
          </a:p>
        </p:txBody>
      </p:sp>
      <p:sp>
        <p:nvSpPr>
          <p:cNvPr id="53" name="TextBox 53"/>
          <p:cNvSpPr txBox="1"/>
          <p:nvPr/>
        </p:nvSpPr>
        <p:spPr>
          <a:xfrm>
            <a:off x="1013337" y="9548743"/>
            <a:ext cx="16192500" cy="654050"/>
          </a:xfrm>
          <a:prstGeom prst="rect">
            <a:avLst/>
          </a:prstGeom>
        </p:spPr>
        <p:txBody>
          <a:bodyPr lIns="0" tIns="0" rIns="0" bIns="0" rtlCol="0" anchor="t">
            <a:spAutoFit/>
          </a:bodyPr>
          <a:lstStyle/>
          <a:p>
            <a:pPr algn="ctr">
              <a:lnSpc>
                <a:spcPts val="2500"/>
              </a:lnSpc>
            </a:pPr>
            <a:r>
              <a:rPr lang="en-US" sz="2000" b="1">
                <a:solidFill>
                  <a:srgbClr val="2F6B45"/>
                </a:solidFill>
                <a:latin typeface="Poppins Bold"/>
                <a:ea typeface="Poppins Bold"/>
                <a:cs typeface="Poppins Bold"/>
                <a:sym typeface="Poppins Bold"/>
              </a:rPr>
              <a:t>These planned enhancements will further empower farmers with cutting-edge technology for even smarter, more efficient, and data-driven agricultural practices.</a:t>
            </a:r>
          </a:p>
        </p:txBody>
      </p:sp>
      <p:sp>
        <p:nvSpPr>
          <p:cNvPr id="56" name="Freeform 56"/>
          <p:cNvSpPr/>
          <p:nvPr/>
        </p:nvSpPr>
        <p:spPr>
          <a:xfrm>
            <a:off x="272538" y="8412557"/>
            <a:ext cx="1619250" cy="717177"/>
          </a:xfrm>
          <a:custGeom>
            <a:avLst/>
            <a:gdLst/>
            <a:ahLst/>
            <a:cxnLst/>
            <a:rect l="l" t="t" r="r" b="b"/>
            <a:pathLst>
              <a:path w="1619250" h="717177">
                <a:moveTo>
                  <a:pt x="0" y="717177"/>
                </a:moveTo>
                <a:quadBezTo>
                  <a:pt x="631031" y="-44823"/>
                  <a:pt x="1619250" y="2802"/>
                </a:quadBezTo>
              </a:path>
            </a:pathLst>
          </a:custGeom>
          <a:ln w="47625" cap="flat">
            <a:solidFill>
              <a:srgbClr val="2F6B45">
                <a:alpha val="74902"/>
              </a:srgbClr>
            </a:solidFill>
            <a:prstDash val="solid"/>
            <a:headEnd type="none" w="sm" len="sm"/>
            <a:tailEnd type="none" w="sm" len="sm"/>
          </a:ln>
        </p:spPr>
      </p:sp>
      <p:sp>
        <p:nvSpPr>
          <p:cNvPr id="58" name="Freeform 6">
            <a:extLst>
              <a:ext uri="{FF2B5EF4-FFF2-40B4-BE49-F238E27FC236}">
                <a16:creationId xmlns:a16="http://schemas.microsoft.com/office/drawing/2014/main" id="{C5CBC177-3F68-B8A4-4279-90FBFEA66AE1}"/>
              </a:ext>
            </a:extLst>
          </p:cNvPr>
          <p:cNvSpPr/>
          <p:nvPr/>
        </p:nvSpPr>
        <p:spPr>
          <a:xfrm>
            <a:off x="13763625" y="4506703"/>
            <a:ext cx="4381500" cy="3292893"/>
          </a:xfrm>
          <a:custGeom>
            <a:avLst/>
            <a:gdLst/>
            <a:ahLst/>
            <a:cxnLst/>
            <a:rect l="l" t="t" r="r" b="b"/>
            <a:pathLst>
              <a:path w="939286" h="566215">
                <a:moveTo>
                  <a:pt x="26086" y="0"/>
                </a:moveTo>
                <a:lnTo>
                  <a:pt x="913200" y="0"/>
                </a:lnTo>
                <a:cubicBezTo>
                  <a:pt x="920118" y="0"/>
                  <a:pt x="926754" y="2748"/>
                  <a:pt x="931646" y="7640"/>
                </a:cubicBezTo>
                <a:cubicBezTo>
                  <a:pt x="936538" y="12533"/>
                  <a:pt x="939286" y="19168"/>
                  <a:pt x="939286" y="26086"/>
                </a:cubicBezTo>
                <a:lnTo>
                  <a:pt x="939286" y="540129"/>
                </a:lnTo>
                <a:cubicBezTo>
                  <a:pt x="939286" y="547048"/>
                  <a:pt x="936538" y="553683"/>
                  <a:pt x="931646" y="558575"/>
                </a:cubicBezTo>
                <a:cubicBezTo>
                  <a:pt x="926754" y="563467"/>
                  <a:pt x="920118" y="566215"/>
                  <a:pt x="913200" y="566215"/>
                </a:cubicBezTo>
                <a:lnTo>
                  <a:pt x="26086" y="566215"/>
                </a:lnTo>
                <a:cubicBezTo>
                  <a:pt x="19168" y="566215"/>
                  <a:pt x="12533" y="563467"/>
                  <a:pt x="7640" y="558575"/>
                </a:cubicBezTo>
                <a:cubicBezTo>
                  <a:pt x="2748" y="553683"/>
                  <a:pt x="0" y="547048"/>
                  <a:pt x="0" y="540129"/>
                </a:cubicBezTo>
                <a:lnTo>
                  <a:pt x="0" y="26086"/>
                </a:lnTo>
                <a:cubicBezTo>
                  <a:pt x="0" y="19168"/>
                  <a:pt x="2748" y="12533"/>
                  <a:pt x="7640" y="7640"/>
                </a:cubicBezTo>
                <a:cubicBezTo>
                  <a:pt x="12533" y="2748"/>
                  <a:pt x="19168" y="0"/>
                  <a:pt x="26086" y="0"/>
                </a:cubicBezTo>
                <a:close/>
              </a:path>
            </a:pathLst>
          </a:custGeom>
          <a:blipFill>
            <a:blip r:embed="rId3"/>
            <a:stretch>
              <a:fillRect t="-5346" b="-5346"/>
            </a:stretch>
          </a:blipFill>
          <a:ln w="57150" cap="rnd">
            <a:solidFill>
              <a:srgbClr val="004D13"/>
            </a:solidFill>
            <a:prstDash val="solid"/>
            <a:round/>
          </a:ln>
        </p:spPr>
      </p:sp>
      <p:grpSp>
        <p:nvGrpSpPr>
          <p:cNvPr id="59" name="Group 7"/>
          <p:cNvGrpSpPr/>
          <p:nvPr/>
        </p:nvGrpSpPr>
        <p:grpSpPr>
          <a:xfrm>
            <a:off x="12001500" y="1816033"/>
            <a:ext cx="4762500" cy="3252412"/>
            <a:chOff x="0" y="0"/>
            <a:chExt cx="939286" cy="566215"/>
          </a:xfrm>
        </p:grpSpPr>
        <p:sp>
          <p:nvSpPr>
            <p:cNvPr id="60" name="Freeform 8"/>
            <p:cNvSpPr/>
            <p:nvPr/>
          </p:nvSpPr>
          <p:spPr>
            <a:xfrm>
              <a:off x="0" y="0"/>
              <a:ext cx="939286" cy="566215"/>
            </a:xfrm>
            <a:custGeom>
              <a:avLst/>
              <a:gdLst/>
              <a:ahLst/>
              <a:cxnLst/>
              <a:rect l="l" t="t" r="r" b="b"/>
              <a:pathLst>
                <a:path w="939286" h="566215">
                  <a:moveTo>
                    <a:pt x="26086" y="0"/>
                  </a:moveTo>
                  <a:lnTo>
                    <a:pt x="913200" y="0"/>
                  </a:lnTo>
                  <a:cubicBezTo>
                    <a:pt x="920118" y="0"/>
                    <a:pt x="926754" y="2748"/>
                    <a:pt x="931646" y="7640"/>
                  </a:cubicBezTo>
                  <a:cubicBezTo>
                    <a:pt x="936538" y="12533"/>
                    <a:pt x="939286" y="19168"/>
                    <a:pt x="939286" y="26086"/>
                  </a:cubicBezTo>
                  <a:lnTo>
                    <a:pt x="939286" y="540129"/>
                  </a:lnTo>
                  <a:cubicBezTo>
                    <a:pt x="939286" y="547048"/>
                    <a:pt x="936538" y="553683"/>
                    <a:pt x="931646" y="558575"/>
                  </a:cubicBezTo>
                  <a:cubicBezTo>
                    <a:pt x="926754" y="563467"/>
                    <a:pt x="920118" y="566215"/>
                    <a:pt x="913200" y="566215"/>
                  </a:cubicBezTo>
                  <a:lnTo>
                    <a:pt x="26086" y="566215"/>
                  </a:lnTo>
                  <a:cubicBezTo>
                    <a:pt x="19168" y="566215"/>
                    <a:pt x="12533" y="563467"/>
                    <a:pt x="7640" y="558575"/>
                  </a:cubicBezTo>
                  <a:cubicBezTo>
                    <a:pt x="2748" y="553683"/>
                    <a:pt x="0" y="547048"/>
                    <a:pt x="0" y="540129"/>
                  </a:cubicBezTo>
                  <a:lnTo>
                    <a:pt x="0" y="26086"/>
                  </a:lnTo>
                  <a:cubicBezTo>
                    <a:pt x="0" y="19168"/>
                    <a:pt x="2748" y="12533"/>
                    <a:pt x="7640" y="7640"/>
                  </a:cubicBezTo>
                  <a:cubicBezTo>
                    <a:pt x="12533" y="2748"/>
                    <a:pt x="19168" y="0"/>
                    <a:pt x="26086" y="0"/>
                  </a:cubicBezTo>
                  <a:close/>
                </a:path>
              </a:pathLst>
            </a:custGeom>
            <a:blipFill>
              <a:blip r:embed="rId4"/>
              <a:stretch>
                <a:fillRect l="-3648" r="-3648"/>
              </a:stretch>
            </a:blipFill>
            <a:ln w="57150" cap="rnd">
              <a:solidFill>
                <a:srgbClr val="004D13"/>
              </a:solidFill>
              <a:prstDash val="solid"/>
              <a:round/>
            </a:ln>
          </p:spPr>
        </p:sp>
      </p:grpSp>
      <p:grpSp>
        <p:nvGrpSpPr>
          <p:cNvPr id="2" name="Group 48">
            <a:extLst>
              <a:ext uri="{FF2B5EF4-FFF2-40B4-BE49-F238E27FC236}">
                <a16:creationId xmlns:a16="http://schemas.microsoft.com/office/drawing/2014/main" id="{6B3884E5-0989-4281-B7A7-36004C2FB647}"/>
              </a:ext>
            </a:extLst>
          </p:cNvPr>
          <p:cNvGrpSpPr/>
          <p:nvPr/>
        </p:nvGrpSpPr>
        <p:grpSpPr>
          <a:xfrm>
            <a:off x="2000250" y="8294896"/>
            <a:ext cx="14954250" cy="952500"/>
            <a:chOff x="0" y="0"/>
            <a:chExt cx="19939000" cy="1270000"/>
          </a:xfrm>
        </p:grpSpPr>
        <p:sp>
          <p:nvSpPr>
            <p:cNvPr id="3" name="Freeform 49">
              <a:extLst>
                <a:ext uri="{FF2B5EF4-FFF2-40B4-BE49-F238E27FC236}">
                  <a16:creationId xmlns:a16="http://schemas.microsoft.com/office/drawing/2014/main" id="{D191436E-E908-B95E-A6A9-B98272D41AE1}"/>
                </a:ext>
              </a:extLst>
            </p:cNvPr>
            <p:cNvSpPr/>
            <p:nvPr/>
          </p:nvSpPr>
          <p:spPr>
            <a:xfrm>
              <a:off x="0" y="0"/>
              <a:ext cx="19939000" cy="1270000"/>
            </a:xfrm>
            <a:custGeom>
              <a:avLst/>
              <a:gdLst/>
              <a:ahLst/>
              <a:cxnLst/>
              <a:rect l="l" t="t" r="r" b="b"/>
              <a:pathLst>
                <a:path w="19939000" h="1270000">
                  <a:moveTo>
                    <a:pt x="203200" y="0"/>
                  </a:moveTo>
                  <a:lnTo>
                    <a:pt x="19735800" y="0"/>
                  </a:lnTo>
                  <a:cubicBezTo>
                    <a:pt x="19848024" y="0"/>
                    <a:pt x="19939000" y="90976"/>
                    <a:pt x="19939000" y="203200"/>
                  </a:cubicBezTo>
                  <a:lnTo>
                    <a:pt x="19939000" y="1066800"/>
                  </a:lnTo>
                  <a:cubicBezTo>
                    <a:pt x="19939000" y="1179024"/>
                    <a:pt x="19848024" y="1270000"/>
                    <a:pt x="19735800" y="1270000"/>
                  </a:cubicBezTo>
                  <a:lnTo>
                    <a:pt x="203200" y="1270000"/>
                  </a:lnTo>
                  <a:cubicBezTo>
                    <a:pt x="90976" y="1270000"/>
                    <a:pt x="0" y="1179024"/>
                    <a:pt x="0" y="1066800"/>
                  </a:cubicBezTo>
                  <a:lnTo>
                    <a:pt x="0" y="203200"/>
                  </a:lnTo>
                  <a:cubicBezTo>
                    <a:pt x="0" y="90976"/>
                    <a:pt x="90976" y="0"/>
                    <a:pt x="203200" y="0"/>
                  </a:cubicBezTo>
                  <a:close/>
                </a:path>
              </a:pathLst>
            </a:custGeom>
            <a:solidFill>
              <a:srgbClr val="FFFFFF"/>
            </a:solidFill>
            <a:ln w="9525" cap="sq">
              <a:solidFill>
                <a:srgbClr val="C9D7C5"/>
              </a:solidFill>
              <a:prstDash val="solid"/>
              <a:miter/>
            </a:ln>
          </p:spPr>
        </p:sp>
        <p:sp>
          <p:nvSpPr>
            <p:cNvPr id="4" name="TextBox 50">
              <a:extLst>
                <a:ext uri="{FF2B5EF4-FFF2-40B4-BE49-F238E27FC236}">
                  <a16:creationId xmlns:a16="http://schemas.microsoft.com/office/drawing/2014/main" id="{6B02C328-74A7-F7FB-6DE4-B7407B071114}"/>
                </a:ext>
              </a:extLst>
            </p:cNvPr>
            <p:cNvSpPr txBox="1"/>
            <p:nvPr/>
          </p:nvSpPr>
          <p:spPr>
            <a:xfrm>
              <a:off x="0" y="-38100"/>
              <a:ext cx="19939000" cy="1308100"/>
            </a:xfrm>
            <a:prstGeom prst="rect">
              <a:avLst/>
            </a:prstGeom>
          </p:spPr>
          <p:txBody>
            <a:bodyPr lIns="50800" tIns="50800" rIns="50800" bIns="50800" rtlCol="0" anchor="ctr"/>
            <a:lstStyle/>
            <a:p>
              <a:pPr algn="l">
                <a:lnSpc>
                  <a:spcPts val="1679"/>
                </a:lnSpc>
              </a:pPr>
              <a:endParaRPr/>
            </a:p>
          </p:txBody>
        </p:sp>
      </p:grpSp>
      <p:grpSp>
        <p:nvGrpSpPr>
          <p:cNvPr id="5" name="Group 45">
            <a:extLst>
              <a:ext uri="{FF2B5EF4-FFF2-40B4-BE49-F238E27FC236}">
                <a16:creationId xmlns:a16="http://schemas.microsoft.com/office/drawing/2014/main" id="{2A4F33D6-0CED-B02E-075F-E12ED300A780}"/>
              </a:ext>
            </a:extLst>
          </p:cNvPr>
          <p:cNvGrpSpPr/>
          <p:nvPr/>
        </p:nvGrpSpPr>
        <p:grpSpPr>
          <a:xfrm>
            <a:off x="1082163" y="8395910"/>
            <a:ext cx="628650" cy="388144"/>
            <a:chOff x="-25400" y="-47625"/>
            <a:chExt cx="838200" cy="517525"/>
          </a:xfrm>
        </p:grpSpPr>
        <p:sp>
          <p:nvSpPr>
            <p:cNvPr id="6" name="Freeform 46">
              <a:extLst>
                <a:ext uri="{FF2B5EF4-FFF2-40B4-BE49-F238E27FC236}">
                  <a16:creationId xmlns:a16="http://schemas.microsoft.com/office/drawing/2014/main" id="{E11052B4-2674-A656-32E4-3304188BBE44}"/>
                </a:ext>
              </a:extLst>
            </p:cNvPr>
            <p:cNvSpPr/>
            <p:nvPr/>
          </p:nvSpPr>
          <p:spPr>
            <a:xfrm>
              <a:off x="-25400" y="38100"/>
              <a:ext cx="812800" cy="431800"/>
            </a:xfrm>
            <a:custGeom>
              <a:avLst/>
              <a:gdLst/>
              <a:ahLst/>
              <a:cxnLst/>
              <a:rect l="l" t="t" r="r" b="b"/>
              <a:pathLst>
                <a:path w="812800" h="431800">
                  <a:moveTo>
                    <a:pt x="215900" y="0"/>
                  </a:moveTo>
                  <a:lnTo>
                    <a:pt x="596900" y="0"/>
                  </a:lnTo>
                  <a:cubicBezTo>
                    <a:pt x="716138" y="0"/>
                    <a:pt x="812800" y="96662"/>
                    <a:pt x="812800" y="215900"/>
                  </a:cubicBezTo>
                  <a:cubicBezTo>
                    <a:pt x="812800" y="335138"/>
                    <a:pt x="716138" y="431800"/>
                    <a:pt x="596900" y="431800"/>
                  </a:cubicBezTo>
                  <a:lnTo>
                    <a:pt x="215900" y="431800"/>
                  </a:lnTo>
                  <a:cubicBezTo>
                    <a:pt x="96662" y="431800"/>
                    <a:pt x="0" y="335138"/>
                    <a:pt x="0" y="215900"/>
                  </a:cubicBezTo>
                  <a:cubicBezTo>
                    <a:pt x="0" y="96662"/>
                    <a:pt x="96662" y="0"/>
                    <a:pt x="215900" y="0"/>
                  </a:cubicBezTo>
                  <a:close/>
                </a:path>
              </a:pathLst>
            </a:custGeom>
            <a:solidFill>
              <a:srgbClr val="2F6B45"/>
            </a:solidFill>
          </p:spPr>
        </p:sp>
        <p:sp>
          <p:nvSpPr>
            <p:cNvPr id="7" name="TextBox 47">
              <a:extLst>
                <a:ext uri="{FF2B5EF4-FFF2-40B4-BE49-F238E27FC236}">
                  <a16:creationId xmlns:a16="http://schemas.microsoft.com/office/drawing/2014/main" id="{EC4D5629-FEBC-AB25-52D1-68B0B9F89B8C}"/>
                </a:ext>
              </a:extLst>
            </p:cNvPr>
            <p:cNvSpPr txBox="1"/>
            <p:nvPr/>
          </p:nvSpPr>
          <p:spPr>
            <a:xfrm>
              <a:off x="0" y="-47625"/>
              <a:ext cx="812800" cy="479425"/>
            </a:xfrm>
            <a:prstGeom prst="rect">
              <a:avLst/>
            </a:prstGeom>
          </p:spPr>
          <p:txBody>
            <a:bodyPr lIns="50800" tIns="50800" rIns="50800" bIns="50800" rtlCol="0" anchor="ctr"/>
            <a:lstStyle/>
            <a:p>
              <a:pPr algn="ctr">
                <a:lnSpc>
                  <a:spcPts val="1960"/>
                </a:lnSpc>
              </a:pPr>
              <a:r>
                <a:rPr lang="en-US" sz="1400" b="1">
                  <a:solidFill>
                    <a:srgbClr val="FFFFFF"/>
                  </a:solidFill>
                  <a:latin typeface="Poppins Bold"/>
                  <a:ea typeface="Poppins Bold"/>
                  <a:cs typeface="Poppins Bold"/>
                  <a:sym typeface="Poppins Bold"/>
                </a:rPr>
                <a:t>06</a:t>
              </a:r>
            </a:p>
          </p:txBody>
        </p:sp>
      </p:grpSp>
      <p:sp>
        <p:nvSpPr>
          <p:cNvPr id="61" name="TextBox 60">
            <a:extLst>
              <a:ext uri="{FF2B5EF4-FFF2-40B4-BE49-F238E27FC236}">
                <a16:creationId xmlns:a16="http://schemas.microsoft.com/office/drawing/2014/main" id="{CC872497-2CF2-AE02-5709-B6B4E0E63123}"/>
              </a:ext>
            </a:extLst>
          </p:cNvPr>
          <p:cNvSpPr txBox="1"/>
          <p:nvPr/>
        </p:nvSpPr>
        <p:spPr>
          <a:xfrm>
            <a:off x="2361699" y="8339066"/>
            <a:ext cx="9144000" cy="391326"/>
          </a:xfrm>
          <a:prstGeom prst="rect">
            <a:avLst/>
          </a:prstGeom>
          <a:noFill/>
        </p:spPr>
        <p:txBody>
          <a:bodyPr wrap="square">
            <a:spAutoFit/>
          </a:bodyPr>
          <a:lstStyle/>
          <a:p>
            <a:pPr algn="l">
              <a:lnSpc>
                <a:spcPts val="2374"/>
              </a:lnSpc>
            </a:pPr>
            <a:r>
              <a:rPr lang="en-US" sz="1899" b="1">
                <a:solidFill>
                  <a:srgbClr val="123D2B"/>
                </a:solidFill>
                <a:latin typeface="Poppins Bold"/>
                <a:ea typeface="Poppins Bold"/>
                <a:cs typeface="Poppins Bold"/>
                <a:sym typeface="Poppins Bold"/>
              </a:rPr>
              <a:t>MULTILINGUAL SUPPORT</a:t>
            </a:r>
          </a:p>
        </p:txBody>
      </p:sp>
      <p:sp>
        <p:nvSpPr>
          <p:cNvPr id="65" name="TextBox 64">
            <a:extLst>
              <a:ext uri="{FF2B5EF4-FFF2-40B4-BE49-F238E27FC236}">
                <a16:creationId xmlns:a16="http://schemas.microsoft.com/office/drawing/2014/main" id="{9568F13C-904B-CFBB-A055-914462B1CBD5}"/>
              </a:ext>
            </a:extLst>
          </p:cNvPr>
          <p:cNvSpPr txBox="1"/>
          <p:nvPr/>
        </p:nvSpPr>
        <p:spPr>
          <a:xfrm>
            <a:off x="2369720" y="8701899"/>
            <a:ext cx="14584780" cy="584519"/>
          </a:xfrm>
          <a:prstGeom prst="rect">
            <a:avLst/>
          </a:prstGeom>
          <a:noFill/>
        </p:spPr>
        <p:txBody>
          <a:bodyPr wrap="square">
            <a:spAutoFit/>
          </a:bodyPr>
          <a:lstStyle/>
          <a:p>
            <a:r>
              <a:rPr lang="en-US" sz="1599">
                <a:solidFill>
                  <a:srgbClr val="5A6B60"/>
                </a:solidFill>
                <a:latin typeface="Poppins"/>
                <a:ea typeface="Poppins"/>
                <a:cs typeface="Poppins"/>
                <a:sym typeface="Poppins"/>
              </a:rPr>
              <a:t>Isupport multiple regional languages to make the platform more accessible,understandable, and user-friendly for farmers across different regions.</a:t>
            </a: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E23"/>
        </a:solidFill>
        <a:effectLst/>
      </p:bgPr>
    </p:bg>
    <p:spTree>
      <p:nvGrpSpPr>
        <p:cNvPr id="1" name=""/>
        <p:cNvGrpSpPr/>
        <p:nvPr/>
      </p:nvGrpSpPr>
      <p:grpSpPr>
        <a:xfrm>
          <a:off x="0" y="0"/>
          <a:ext cx="0" cy="0"/>
          <a:chOff x="0" y="0"/>
          <a:chExt cx="0" cy="0"/>
        </a:xfrm>
      </p:grpSpPr>
      <p:grpSp>
        <p:nvGrpSpPr>
          <p:cNvPr id="2" name="Group 2"/>
          <p:cNvGrpSpPr/>
          <p:nvPr/>
        </p:nvGrpSpPr>
        <p:grpSpPr>
          <a:xfrm>
            <a:off x="685800" y="666750"/>
            <a:ext cx="10668000" cy="8953500"/>
            <a:chOff x="0" y="0"/>
            <a:chExt cx="14224000" cy="11938000"/>
          </a:xfrm>
        </p:grpSpPr>
        <p:sp>
          <p:nvSpPr>
            <p:cNvPr id="3" name="Freeform 3"/>
            <p:cNvSpPr/>
            <p:nvPr/>
          </p:nvSpPr>
          <p:spPr>
            <a:xfrm>
              <a:off x="0" y="0"/>
              <a:ext cx="14224000" cy="11938000"/>
            </a:xfrm>
            <a:custGeom>
              <a:avLst/>
              <a:gdLst/>
              <a:ahLst/>
              <a:cxnLst/>
              <a:rect l="l" t="t" r="r" b="b"/>
              <a:pathLst>
                <a:path w="14224000" h="11938000">
                  <a:moveTo>
                    <a:pt x="304800" y="0"/>
                  </a:moveTo>
                  <a:lnTo>
                    <a:pt x="13919200" y="0"/>
                  </a:lnTo>
                  <a:cubicBezTo>
                    <a:pt x="14087537" y="0"/>
                    <a:pt x="14224000" y="136464"/>
                    <a:pt x="14224000" y="304800"/>
                  </a:cubicBezTo>
                  <a:lnTo>
                    <a:pt x="14224000" y="11633200"/>
                  </a:lnTo>
                  <a:cubicBezTo>
                    <a:pt x="14224000" y="11801536"/>
                    <a:pt x="14087537" y="11938000"/>
                    <a:pt x="13919200" y="11938000"/>
                  </a:cubicBezTo>
                  <a:lnTo>
                    <a:pt x="304800" y="11938000"/>
                  </a:lnTo>
                  <a:cubicBezTo>
                    <a:pt x="136464" y="11938000"/>
                    <a:pt x="0" y="11801536"/>
                    <a:pt x="0" y="11633200"/>
                  </a:cubicBezTo>
                  <a:lnTo>
                    <a:pt x="0" y="304800"/>
                  </a:lnTo>
                  <a:cubicBezTo>
                    <a:pt x="0" y="136464"/>
                    <a:pt x="136464" y="0"/>
                    <a:pt x="304800" y="0"/>
                  </a:cubicBezTo>
                  <a:close/>
                </a:path>
              </a:pathLst>
            </a:custGeom>
            <a:solidFill>
              <a:srgbClr val="F5F3E9"/>
            </a:solidFill>
          </p:spPr>
        </p:sp>
        <p:sp>
          <p:nvSpPr>
            <p:cNvPr id="4" name="TextBox 4"/>
            <p:cNvSpPr txBox="1"/>
            <p:nvPr/>
          </p:nvSpPr>
          <p:spPr>
            <a:xfrm>
              <a:off x="0" y="-38100"/>
              <a:ext cx="14224000" cy="11976100"/>
            </a:xfrm>
            <a:prstGeom prst="rect">
              <a:avLst/>
            </a:prstGeom>
          </p:spPr>
          <p:txBody>
            <a:bodyPr lIns="50800" tIns="50800" rIns="50800" bIns="50800" rtlCol="0" anchor="ctr"/>
            <a:lstStyle/>
            <a:p>
              <a:pPr algn="l">
                <a:lnSpc>
                  <a:spcPts val="1679"/>
                </a:lnSpc>
              </a:pPr>
              <a:endParaRPr/>
            </a:p>
          </p:txBody>
        </p:sp>
      </p:grpSp>
      <p:grpSp>
        <p:nvGrpSpPr>
          <p:cNvPr id="5" name="Group 5"/>
          <p:cNvGrpSpPr/>
          <p:nvPr/>
        </p:nvGrpSpPr>
        <p:grpSpPr>
          <a:xfrm>
            <a:off x="12192000" y="1333500"/>
            <a:ext cx="4762500" cy="4762500"/>
            <a:chOff x="0" y="0"/>
            <a:chExt cx="6350000" cy="6350000"/>
          </a:xfrm>
        </p:grpSpPr>
        <p:sp>
          <p:nvSpPr>
            <p:cNvPr id="6" name="Freeform 6"/>
            <p:cNvSpPr/>
            <p:nvPr/>
          </p:nvSpPr>
          <p:spPr>
            <a:xfrm>
              <a:off x="0" y="0"/>
              <a:ext cx="6350000" cy="6350000"/>
            </a:xfrm>
            <a:custGeom>
              <a:avLst/>
              <a:gdLst/>
              <a:ahLst/>
              <a:cxnLst/>
              <a:rect l="l" t="t" r="r" b="b"/>
              <a:pathLst>
                <a:path w="6350000" h="6350000">
                  <a:moveTo>
                    <a:pt x="0" y="3175000"/>
                  </a:moveTo>
                  <a:cubicBezTo>
                    <a:pt x="0" y="4928504"/>
                    <a:pt x="1421496" y="6350000"/>
                    <a:pt x="3175000" y="6350000"/>
                  </a:cubicBezTo>
                  <a:cubicBezTo>
                    <a:pt x="4928504" y="6350000"/>
                    <a:pt x="6350000" y="4928504"/>
                    <a:pt x="6350000" y="3175000"/>
                  </a:cubicBezTo>
                  <a:cubicBezTo>
                    <a:pt x="6350000" y="1421496"/>
                    <a:pt x="4928504" y="0"/>
                    <a:pt x="3175000" y="0"/>
                  </a:cubicBezTo>
                  <a:cubicBezTo>
                    <a:pt x="1421496" y="0"/>
                    <a:pt x="0" y="1421496"/>
                    <a:pt x="0" y="3175000"/>
                  </a:cubicBezTo>
                  <a:close/>
                </a:path>
              </a:pathLst>
            </a:custGeom>
            <a:blipFill>
              <a:blip r:embed="rId3">
                <a:alphaModFix amt="96000"/>
              </a:blip>
              <a:stretch>
                <a:fillRect l="-25046" r="-25046"/>
              </a:stretch>
            </a:blipFill>
          </p:spPr>
        </p:sp>
      </p:grpSp>
      <p:grpSp>
        <p:nvGrpSpPr>
          <p:cNvPr id="7" name="Group 7"/>
          <p:cNvGrpSpPr/>
          <p:nvPr/>
        </p:nvGrpSpPr>
        <p:grpSpPr>
          <a:xfrm>
            <a:off x="12906375" y="7000875"/>
            <a:ext cx="3333750" cy="1619250"/>
            <a:chOff x="0" y="0"/>
            <a:chExt cx="4445000" cy="2159000"/>
          </a:xfrm>
        </p:grpSpPr>
        <p:sp>
          <p:nvSpPr>
            <p:cNvPr id="8" name="Freeform 8"/>
            <p:cNvSpPr/>
            <p:nvPr/>
          </p:nvSpPr>
          <p:spPr>
            <a:xfrm>
              <a:off x="0" y="0"/>
              <a:ext cx="4445000" cy="2159000"/>
            </a:xfrm>
            <a:custGeom>
              <a:avLst/>
              <a:gdLst/>
              <a:ahLst/>
              <a:cxnLst/>
              <a:rect l="l" t="t" r="r" b="b"/>
              <a:pathLst>
                <a:path w="4445000" h="2159000">
                  <a:moveTo>
                    <a:pt x="1079500" y="0"/>
                  </a:moveTo>
                  <a:lnTo>
                    <a:pt x="3365500" y="0"/>
                  </a:lnTo>
                  <a:cubicBezTo>
                    <a:pt x="3961692" y="0"/>
                    <a:pt x="4445000" y="483309"/>
                    <a:pt x="4445000" y="1079500"/>
                  </a:cubicBezTo>
                  <a:cubicBezTo>
                    <a:pt x="4445000" y="1675691"/>
                    <a:pt x="3961692" y="2159000"/>
                    <a:pt x="3365500" y="2159000"/>
                  </a:cubicBezTo>
                  <a:lnTo>
                    <a:pt x="1079500" y="2159000"/>
                  </a:lnTo>
                  <a:cubicBezTo>
                    <a:pt x="483309" y="2159000"/>
                    <a:pt x="0" y="1675691"/>
                    <a:pt x="0" y="1079500"/>
                  </a:cubicBezTo>
                  <a:cubicBezTo>
                    <a:pt x="0" y="483309"/>
                    <a:pt x="483309" y="0"/>
                    <a:pt x="1079500" y="0"/>
                  </a:cubicBezTo>
                  <a:close/>
                </a:path>
              </a:pathLst>
            </a:custGeom>
            <a:solidFill>
              <a:srgbClr val="2F6B45">
                <a:alpha val="94902"/>
              </a:srgbClr>
            </a:solidFill>
          </p:spPr>
        </p:sp>
        <p:sp>
          <p:nvSpPr>
            <p:cNvPr id="9" name="TextBox 9"/>
            <p:cNvSpPr txBox="1"/>
            <p:nvPr/>
          </p:nvSpPr>
          <p:spPr>
            <a:xfrm>
              <a:off x="0" y="-38100"/>
              <a:ext cx="4445000" cy="2197100"/>
            </a:xfrm>
            <a:prstGeom prst="rect">
              <a:avLst/>
            </a:prstGeom>
          </p:spPr>
          <p:txBody>
            <a:bodyPr lIns="50800" tIns="50800" rIns="50800" bIns="50800" rtlCol="0" anchor="ctr"/>
            <a:lstStyle/>
            <a:p>
              <a:pPr algn="l">
                <a:lnSpc>
                  <a:spcPts val="1679"/>
                </a:lnSpc>
              </a:pPr>
              <a:endParaRPr/>
            </a:p>
          </p:txBody>
        </p:sp>
      </p:grpSp>
      <p:grpSp>
        <p:nvGrpSpPr>
          <p:cNvPr id="10" name="Group 10"/>
          <p:cNvGrpSpPr/>
          <p:nvPr/>
        </p:nvGrpSpPr>
        <p:grpSpPr>
          <a:xfrm>
            <a:off x="13811250" y="7239000"/>
            <a:ext cx="2000250" cy="1143000"/>
            <a:chOff x="0" y="0"/>
            <a:chExt cx="2667000" cy="1524000"/>
          </a:xfrm>
        </p:grpSpPr>
        <p:sp>
          <p:nvSpPr>
            <p:cNvPr id="11" name="Freeform 11"/>
            <p:cNvSpPr/>
            <p:nvPr/>
          </p:nvSpPr>
          <p:spPr>
            <a:xfrm>
              <a:off x="0" y="0"/>
              <a:ext cx="2667000" cy="1524000"/>
            </a:xfrm>
            <a:custGeom>
              <a:avLst/>
              <a:gdLst/>
              <a:ahLst/>
              <a:cxnLst/>
              <a:rect l="l" t="t" r="r" b="b"/>
              <a:pathLst>
                <a:path w="2667000" h="1524000">
                  <a:moveTo>
                    <a:pt x="762000" y="0"/>
                  </a:moveTo>
                  <a:lnTo>
                    <a:pt x="1905000" y="0"/>
                  </a:lnTo>
                  <a:cubicBezTo>
                    <a:pt x="2325841" y="0"/>
                    <a:pt x="2667000" y="341159"/>
                    <a:pt x="2667000" y="762000"/>
                  </a:cubicBezTo>
                  <a:cubicBezTo>
                    <a:pt x="2667000" y="1182841"/>
                    <a:pt x="2325841" y="1524000"/>
                    <a:pt x="1905000" y="1524000"/>
                  </a:cubicBezTo>
                  <a:lnTo>
                    <a:pt x="762000" y="1524000"/>
                  </a:lnTo>
                  <a:cubicBezTo>
                    <a:pt x="341159" y="1524000"/>
                    <a:pt x="0" y="1182841"/>
                    <a:pt x="0" y="762000"/>
                  </a:cubicBezTo>
                  <a:cubicBezTo>
                    <a:pt x="0" y="341159"/>
                    <a:pt x="341159" y="0"/>
                    <a:pt x="762000" y="0"/>
                  </a:cubicBezTo>
                  <a:close/>
                </a:path>
              </a:pathLst>
            </a:custGeom>
            <a:solidFill>
              <a:srgbClr val="DCE8D4">
                <a:alpha val="89804"/>
              </a:srgbClr>
            </a:solidFill>
          </p:spPr>
        </p:sp>
        <p:sp>
          <p:nvSpPr>
            <p:cNvPr id="12" name="TextBox 12"/>
            <p:cNvSpPr txBox="1"/>
            <p:nvPr/>
          </p:nvSpPr>
          <p:spPr>
            <a:xfrm>
              <a:off x="0" y="-38100"/>
              <a:ext cx="2667000" cy="1562100"/>
            </a:xfrm>
            <a:prstGeom prst="rect">
              <a:avLst/>
            </a:prstGeom>
          </p:spPr>
          <p:txBody>
            <a:bodyPr lIns="50800" tIns="50800" rIns="50800" bIns="50800" rtlCol="0" anchor="ctr"/>
            <a:lstStyle/>
            <a:p>
              <a:pPr algn="l">
                <a:lnSpc>
                  <a:spcPts val="1679"/>
                </a:lnSpc>
              </a:pPr>
              <a:endParaRPr/>
            </a:p>
          </p:txBody>
        </p:sp>
      </p:grpSp>
      <p:grpSp>
        <p:nvGrpSpPr>
          <p:cNvPr id="13" name="Group 13"/>
          <p:cNvGrpSpPr/>
          <p:nvPr/>
        </p:nvGrpSpPr>
        <p:grpSpPr>
          <a:xfrm>
            <a:off x="16954500" y="666750"/>
            <a:ext cx="1143000" cy="1143000"/>
            <a:chOff x="0" y="0"/>
            <a:chExt cx="1524000" cy="1524000"/>
          </a:xfrm>
        </p:grpSpPr>
        <p:sp>
          <p:nvSpPr>
            <p:cNvPr id="14" name="Freeform 14"/>
            <p:cNvSpPr/>
            <p:nvPr/>
          </p:nvSpPr>
          <p:spPr>
            <a:xfrm>
              <a:off x="0" y="0"/>
              <a:ext cx="1524000" cy="1524000"/>
            </a:xfrm>
            <a:custGeom>
              <a:avLst/>
              <a:gdLst/>
              <a:ahLst/>
              <a:cxnLst/>
              <a:rect l="l" t="t" r="r" b="b"/>
              <a:pathLst>
                <a:path w="1524000" h="1524000">
                  <a:moveTo>
                    <a:pt x="0" y="762000"/>
                  </a:moveTo>
                  <a:cubicBezTo>
                    <a:pt x="0" y="1182841"/>
                    <a:pt x="341159" y="1524000"/>
                    <a:pt x="762000" y="1524000"/>
                  </a:cubicBezTo>
                  <a:cubicBezTo>
                    <a:pt x="1182841" y="1524000"/>
                    <a:pt x="1524000" y="1182841"/>
                    <a:pt x="1524000" y="762000"/>
                  </a:cubicBezTo>
                  <a:cubicBezTo>
                    <a:pt x="1524000" y="341159"/>
                    <a:pt x="1182841" y="0"/>
                    <a:pt x="762000" y="0"/>
                  </a:cubicBezTo>
                  <a:cubicBezTo>
                    <a:pt x="341159" y="0"/>
                    <a:pt x="0" y="341159"/>
                    <a:pt x="0" y="762000"/>
                  </a:cubicBezTo>
                  <a:close/>
                </a:path>
              </a:pathLst>
            </a:custGeom>
            <a:solidFill>
              <a:srgbClr val="2F6B45">
                <a:alpha val="89804"/>
              </a:srgbClr>
            </a:solidFill>
          </p:spPr>
        </p:sp>
        <p:sp>
          <p:nvSpPr>
            <p:cNvPr id="15" name="TextBox 15"/>
            <p:cNvSpPr txBox="1"/>
            <p:nvPr/>
          </p:nvSpPr>
          <p:spPr>
            <a:xfrm>
              <a:off x="0" y="-38100"/>
              <a:ext cx="1524000" cy="1562100"/>
            </a:xfrm>
            <a:prstGeom prst="rect">
              <a:avLst/>
            </a:prstGeom>
          </p:spPr>
          <p:txBody>
            <a:bodyPr lIns="50800" tIns="50800" rIns="50800" bIns="50800" rtlCol="0" anchor="ctr"/>
            <a:lstStyle/>
            <a:p>
              <a:pPr algn="l">
                <a:lnSpc>
                  <a:spcPts val="1679"/>
                </a:lnSpc>
              </a:pPr>
              <a:endParaRPr/>
            </a:p>
          </p:txBody>
        </p:sp>
      </p:grpSp>
      <p:grpSp>
        <p:nvGrpSpPr>
          <p:cNvPr id="16" name="Group 16"/>
          <p:cNvGrpSpPr/>
          <p:nvPr/>
        </p:nvGrpSpPr>
        <p:grpSpPr>
          <a:xfrm>
            <a:off x="17526000" y="1143000"/>
            <a:ext cx="666750" cy="666750"/>
            <a:chOff x="0" y="0"/>
            <a:chExt cx="889000" cy="889000"/>
          </a:xfrm>
        </p:grpSpPr>
        <p:sp>
          <p:nvSpPr>
            <p:cNvPr id="17" name="Freeform 17"/>
            <p:cNvSpPr/>
            <p:nvPr/>
          </p:nvSpPr>
          <p:spPr>
            <a:xfrm>
              <a:off x="0" y="0"/>
              <a:ext cx="889000" cy="889000"/>
            </a:xfrm>
            <a:custGeom>
              <a:avLst/>
              <a:gdLst/>
              <a:ahLst/>
              <a:cxnLst/>
              <a:rect l="l" t="t" r="r" b="b"/>
              <a:pathLst>
                <a:path w="889000" h="889000">
                  <a:moveTo>
                    <a:pt x="0" y="444500"/>
                  </a:moveTo>
                  <a:cubicBezTo>
                    <a:pt x="0" y="689991"/>
                    <a:pt x="199009" y="889000"/>
                    <a:pt x="444500" y="889000"/>
                  </a:cubicBezTo>
                  <a:cubicBezTo>
                    <a:pt x="689991" y="889000"/>
                    <a:pt x="889000" y="689991"/>
                    <a:pt x="889000" y="444500"/>
                  </a:cubicBezTo>
                  <a:cubicBezTo>
                    <a:pt x="889000" y="199009"/>
                    <a:pt x="689991" y="0"/>
                    <a:pt x="444500" y="0"/>
                  </a:cubicBezTo>
                  <a:cubicBezTo>
                    <a:pt x="199009" y="0"/>
                    <a:pt x="0" y="199009"/>
                    <a:pt x="0" y="444500"/>
                  </a:cubicBezTo>
                  <a:close/>
                </a:path>
              </a:pathLst>
            </a:custGeom>
            <a:solidFill>
              <a:srgbClr val="2F6B45">
                <a:alpha val="60000"/>
              </a:srgbClr>
            </a:solidFill>
          </p:spPr>
        </p:sp>
        <p:sp>
          <p:nvSpPr>
            <p:cNvPr id="18" name="TextBox 18"/>
            <p:cNvSpPr txBox="1"/>
            <p:nvPr/>
          </p:nvSpPr>
          <p:spPr>
            <a:xfrm>
              <a:off x="0" y="-38100"/>
              <a:ext cx="889000" cy="927100"/>
            </a:xfrm>
            <a:prstGeom prst="rect">
              <a:avLst/>
            </a:prstGeom>
          </p:spPr>
          <p:txBody>
            <a:bodyPr lIns="50800" tIns="50800" rIns="50800" bIns="50800" rtlCol="0" anchor="ctr"/>
            <a:lstStyle/>
            <a:p>
              <a:pPr algn="l">
                <a:lnSpc>
                  <a:spcPts val="1679"/>
                </a:lnSpc>
              </a:pPr>
              <a:endParaRPr/>
            </a:p>
          </p:txBody>
        </p:sp>
      </p:grpSp>
      <p:grpSp>
        <p:nvGrpSpPr>
          <p:cNvPr id="19" name="Group 19"/>
          <p:cNvGrpSpPr/>
          <p:nvPr/>
        </p:nvGrpSpPr>
        <p:grpSpPr>
          <a:xfrm>
            <a:off x="11334750" y="8191500"/>
            <a:ext cx="952500" cy="952500"/>
            <a:chOff x="0" y="0"/>
            <a:chExt cx="1270000" cy="1270000"/>
          </a:xfrm>
        </p:grpSpPr>
        <p:sp>
          <p:nvSpPr>
            <p:cNvPr id="20" name="Freeform 20"/>
            <p:cNvSpPr/>
            <p:nvPr/>
          </p:nvSpPr>
          <p:spPr>
            <a:xfrm>
              <a:off x="0" y="0"/>
              <a:ext cx="1270000" cy="1270000"/>
            </a:xfrm>
            <a:custGeom>
              <a:avLst/>
              <a:gdLst/>
              <a:ahLst/>
              <a:cxnLst/>
              <a:rect l="l" t="t" r="r" b="b"/>
              <a:pathLst>
                <a:path w="1270000" h="1270000">
                  <a:moveTo>
                    <a:pt x="0" y="635000"/>
                  </a:moveTo>
                  <a:cubicBezTo>
                    <a:pt x="0" y="985701"/>
                    <a:pt x="284299" y="1270000"/>
                    <a:pt x="635000" y="1270000"/>
                  </a:cubicBezTo>
                  <a:cubicBezTo>
                    <a:pt x="985701" y="1270000"/>
                    <a:pt x="1270000" y="985701"/>
                    <a:pt x="1270000" y="635000"/>
                  </a:cubicBezTo>
                  <a:cubicBezTo>
                    <a:pt x="1270000" y="284299"/>
                    <a:pt x="985701" y="0"/>
                    <a:pt x="635000" y="0"/>
                  </a:cubicBezTo>
                  <a:cubicBezTo>
                    <a:pt x="284299" y="0"/>
                    <a:pt x="0" y="284299"/>
                    <a:pt x="0" y="635000"/>
                  </a:cubicBezTo>
                  <a:close/>
                </a:path>
              </a:pathLst>
            </a:custGeom>
            <a:solidFill>
              <a:srgbClr val="2F6B45">
                <a:alpha val="89804"/>
              </a:srgbClr>
            </a:solidFill>
          </p:spPr>
        </p:sp>
        <p:sp>
          <p:nvSpPr>
            <p:cNvPr id="21" name="TextBox 21"/>
            <p:cNvSpPr txBox="1"/>
            <p:nvPr/>
          </p:nvSpPr>
          <p:spPr>
            <a:xfrm>
              <a:off x="0" y="-38100"/>
              <a:ext cx="1270000" cy="1308100"/>
            </a:xfrm>
            <a:prstGeom prst="rect">
              <a:avLst/>
            </a:prstGeom>
          </p:spPr>
          <p:txBody>
            <a:bodyPr lIns="50800" tIns="50800" rIns="50800" bIns="50800" rtlCol="0" anchor="ctr"/>
            <a:lstStyle/>
            <a:p>
              <a:pPr algn="l">
                <a:lnSpc>
                  <a:spcPts val="1679"/>
                </a:lnSpc>
              </a:pPr>
              <a:endParaRPr/>
            </a:p>
          </p:txBody>
        </p:sp>
      </p:grpSp>
      <p:sp>
        <p:nvSpPr>
          <p:cNvPr id="22" name="Freeform 22"/>
          <p:cNvSpPr/>
          <p:nvPr/>
        </p:nvSpPr>
        <p:spPr>
          <a:xfrm>
            <a:off x="11144250" y="7810500"/>
            <a:ext cx="952500" cy="952500"/>
          </a:xfrm>
          <a:custGeom>
            <a:avLst/>
            <a:gdLst/>
            <a:ahLst/>
            <a:cxnLst/>
            <a:rect l="l" t="t" r="r" b="b"/>
            <a:pathLst>
              <a:path w="952500" h="952500">
                <a:moveTo>
                  <a:pt x="0" y="952500"/>
                </a:moveTo>
                <a:quadBezTo>
                  <a:pt x="238125" y="238125"/>
                  <a:pt x="952500" y="0"/>
                </a:quadBezTo>
              </a:path>
            </a:pathLst>
          </a:custGeom>
          <a:ln w="47625" cap="flat">
            <a:solidFill>
              <a:srgbClr val="DCE8D4">
                <a:alpha val="89804"/>
              </a:srgbClr>
            </a:solidFill>
            <a:prstDash val="solid"/>
            <a:headEnd type="none" w="sm" len="sm"/>
            <a:tailEnd type="none" w="sm" len="sm"/>
          </a:ln>
        </p:spPr>
      </p:sp>
      <p:sp>
        <p:nvSpPr>
          <p:cNvPr id="23" name="TextBox 23"/>
          <p:cNvSpPr txBox="1"/>
          <p:nvPr/>
        </p:nvSpPr>
        <p:spPr>
          <a:xfrm>
            <a:off x="1428750" y="1779024"/>
            <a:ext cx="8572500" cy="412805"/>
          </a:xfrm>
          <a:prstGeom prst="rect">
            <a:avLst/>
          </a:prstGeom>
        </p:spPr>
        <p:txBody>
          <a:bodyPr lIns="0" tIns="0" rIns="0" bIns="0" rtlCol="0" anchor="t">
            <a:spAutoFit/>
          </a:bodyPr>
          <a:lstStyle/>
          <a:p>
            <a:pPr algn="l">
              <a:lnSpc>
                <a:spcPts val="2520"/>
              </a:lnSpc>
            </a:pPr>
            <a:r>
              <a:rPr lang="en-US" sz="4800" b="1" spc="324">
                <a:solidFill>
                  <a:srgbClr val="2F6B45"/>
                </a:solidFill>
                <a:latin typeface="Poppins Bold"/>
                <a:ea typeface="Poppins Bold"/>
                <a:cs typeface="Poppins Bold"/>
                <a:sym typeface="Poppins Bold"/>
              </a:rPr>
              <a:t>CONCLUSION</a:t>
            </a:r>
          </a:p>
        </p:txBody>
      </p:sp>
      <p:sp>
        <p:nvSpPr>
          <p:cNvPr id="25" name="TextBox 25"/>
          <p:cNvSpPr txBox="1"/>
          <p:nvPr/>
        </p:nvSpPr>
        <p:spPr>
          <a:xfrm>
            <a:off x="1333500" y="2477991"/>
            <a:ext cx="8096250" cy="4308872"/>
          </a:xfrm>
          <a:prstGeom prst="rect">
            <a:avLst/>
          </a:prstGeom>
        </p:spPr>
        <p:txBody>
          <a:bodyPr lIns="0" tIns="0" rIns="0" bIns="0" rtlCol="0" anchor="t">
            <a:spAutoFit/>
          </a:bodyPr>
          <a:lstStyle/>
          <a:p>
            <a:r>
              <a:rPr lang="en-IN" sz="2800" b="1"/>
              <a:t>Intelligent Farm Operations Platform</a:t>
            </a:r>
            <a:r>
              <a:rPr lang="en-IN" sz="2800"/>
              <a:t> demonstrates how digital technology can simplify and organize modern agricultural operations. By bringing </a:t>
            </a:r>
            <a:r>
              <a:rPr lang="en-IN" sz="2800" b="1"/>
              <a:t>farm, crop, soil, yield, timeline, and expense management</a:t>
            </a:r>
            <a:r>
              <a:rPr lang="en-IN" sz="2800"/>
              <a:t> into a centralized platform, it provides a more structured and accessible approach to farm management.</a:t>
            </a:r>
          </a:p>
          <a:p>
            <a:r>
              <a:rPr lang="en-IN" sz="2800"/>
              <a:t>The integration of </a:t>
            </a:r>
            <a:r>
              <a:rPr lang="en-IN" sz="2800" b="1"/>
              <a:t>React.js, Spring Boot, PostgreSQL, and AI capabilities through Hugging Face</a:t>
            </a:r>
            <a:r>
              <a:rPr lang="en-IN" sz="2800"/>
              <a:t> creates a strong foundation for smarter, technology-driven agricultural operations.</a:t>
            </a:r>
          </a:p>
        </p:txBody>
      </p:sp>
      <p:sp>
        <p:nvSpPr>
          <p:cNvPr id="27" name="TextBox 27"/>
          <p:cNvSpPr txBox="1"/>
          <p:nvPr/>
        </p:nvSpPr>
        <p:spPr>
          <a:xfrm>
            <a:off x="1333500" y="7810500"/>
            <a:ext cx="8572500" cy="923330"/>
          </a:xfrm>
          <a:prstGeom prst="rect">
            <a:avLst/>
          </a:prstGeom>
        </p:spPr>
        <p:txBody>
          <a:bodyPr lIns="0" tIns="0" rIns="0" bIns="0" rtlCol="0" anchor="t">
            <a:spAutoFit/>
          </a:bodyPr>
          <a:lstStyle/>
          <a:p>
            <a:pPr algn="l">
              <a:lnSpc>
                <a:spcPts val="2430"/>
              </a:lnSpc>
            </a:pPr>
            <a:r>
              <a:rPr lang="en-US" sz="2000">
                <a:solidFill>
                  <a:srgbClr val="123D2B"/>
                </a:solidFill>
                <a:latin typeface="Poppins"/>
                <a:ea typeface="Poppins"/>
                <a:cs typeface="Poppins"/>
                <a:sym typeface="Poppins"/>
              </a:rPr>
              <a:t>By connecting agriculture with digital technology, FarmVerse provides a foundation for more organized, accessible and intelligent farm operations</a:t>
            </a:r>
            <a:r>
              <a:rPr lang="en-US" sz="1800">
                <a:solidFill>
                  <a:srgbClr val="123D2B"/>
                </a:solidFill>
                <a:latin typeface="Poppins"/>
                <a:ea typeface="Poppins"/>
                <a:cs typeface="Poppins"/>
                <a:sym typeface="Poppins"/>
              </a:rPr>
              <a:t>.</a:t>
            </a:r>
          </a:p>
        </p:txBody>
      </p:sp>
      <p:sp>
        <p:nvSpPr>
          <p:cNvPr id="28" name="TextBox 28"/>
          <p:cNvSpPr txBox="1"/>
          <p:nvPr/>
        </p:nvSpPr>
        <p:spPr>
          <a:xfrm>
            <a:off x="12382500" y="7858125"/>
            <a:ext cx="4381500" cy="276225"/>
          </a:xfrm>
          <a:prstGeom prst="rect">
            <a:avLst/>
          </a:prstGeom>
        </p:spPr>
        <p:txBody>
          <a:bodyPr lIns="0" tIns="0" rIns="0" bIns="0" rtlCol="0" anchor="t">
            <a:spAutoFit/>
          </a:bodyPr>
          <a:lstStyle/>
          <a:p>
            <a:pPr algn="ctr">
              <a:lnSpc>
                <a:spcPts val="2100"/>
              </a:lnSpc>
            </a:pPr>
            <a:r>
              <a:rPr lang="en-US" sz="1500" b="1" spc="179">
                <a:solidFill>
                  <a:srgbClr val="DCE8D4"/>
                </a:solidFill>
                <a:latin typeface="Poppins Bold"/>
                <a:ea typeface="Poppins Bold"/>
                <a:cs typeface="Poppins Bold"/>
                <a:sym typeface="Poppins Bold"/>
              </a:rPr>
              <a:t>FIELD DATA → INTELLIGENT DECISIONS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50115" b="-165699"/>
            </a:stretch>
          </a:blipFill>
        </p:spPr>
      </p:sp>
      <p:grpSp>
        <p:nvGrpSpPr>
          <p:cNvPr id="3" name="Group 3"/>
          <p:cNvGrpSpPr/>
          <p:nvPr/>
        </p:nvGrpSpPr>
        <p:grpSpPr>
          <a:xfrm>
            <a:off x="4667882" y="2683922"/>
            <a:ext cx="9276086" cy="2871167"/>
            <a:chOff x="0" y="0"/>
            <a:chExt cx="2443084" cy="756192"/>
          </a:xfrm>
        </p:grpSpPr>
        <p:sp>
          <p:nvSpPr>
            <p:cNvPr id="4" name="Freeform 4"/>
            <p:cNvSpPr/>
            <p:nvPr/>
          </p:nvSpPr>
          <p:spPr>
            <a:xfrm>
              <a:off x="0" y="0"/>
              <a:ext cx="2443085" cy="756192"/>
            </a:xfrm>
            <a:custGeom>
              <a:avLst/>
              <a:gdLst/>
              <a:ahLst/>
              <a:cxnLst/>
              <a:rect l="l" t="t" r="r" b="b"/>
              <a:pathLst>
                <a:path w="2443085" h="756192">
                  <a:moveTo>
                    <a:pt x="42565" y="0"/>
                  </a:moveTo>
                  <a:lnTo>
                    <a:pt x="2400520" y="0"/>
                  </a:lnTo>
                  <a:cubicBezTo>
                    <a:pt x="2424028" y="0"/>
                    <a:pt x="2443085" y="19057"/>
                    <a:pt x="2443085" y="42565"/>
                  </a:cubicBezTo>
                  <a:lnTo>
                    <a:pt x="2443085" y="713627"/>
                  </a:lnTo>
                  <a:cubicBezTo>
                    <a:pt x="2443085" y="737135"/>
                    <a:pt x="2424028" y="756192"/>
                    <a:pt x="2400520" y="756192"/>
                  </a:cubicBezTo>
                  <a:lnTo>
                    <a:pt x="42565" y="756192"/>
                  </a:lnTo>
                  <a:cubicBezTo>
                    <a:pt x="19057" y="756192"/>
                    <a:pt x="0" y="737135"/>
                    <a:pt x="0" y="713627"/>
                  </a:cubicBezTo>
                  <a:lnTo>
                    <a:pt x="0" y="42565"/>
                  </a:lnTo>
                  <a:cubicBezTo>
                    <a:pt x="0" y="19057"/>
                    <a:pt x="19057" y="0"/>
                    <a:pt x="42565" y="0"/>
                  </a:cubicBezTo>
                  <a:close/>
                </a:path>
              </a:pathLst>
            </a:custGeom>
            <a:gradFill rotWithShape="1">
              <a:gsLst>
                <a:gs pos="0">
                  <a:srgbClr val="EDFDE9">
                    <a:alpha val="78000"/>
                  </a:srgbClr>
                </a:gs>
                <a:gs pos="100000">
                  <a:srgbClr val="CAE7FF">
                    <a:alpha val="78000"/>
                  </a:srgbClr>
                </a:gs>
              </a:gsLst>
              <a:lin ang="2700000"/>
            </a:gradFill>
          </p:spPr>
        </p:sp>
        <p:sp>
          <p:nvSpPr>
            <p:cNvPr id="5" name="TextBox 5"/>
            <p:cNvSpPr txBox="1"/>
            <p:nvPr/>
          </p:nvSpPr>
          <p:spPr>
            <a:xfrm>
              <a:off x="0" y="-38100"/>
              <a:ext cx="2443084" cy="794292"/>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905000" y="7440639"/>
            <a:ext cx="21054231" cy="10544661"/>
          </a:xfrm>
          <a:custGeom>
            <a:avLst/>
            <a:gdLst/>
            <a:ahLst/>
            <a:cxnLst/>
            <a:rect l="l" t="t" r="r" b="b"/>
            <a:pathLst>
              <a:path w="21054231" h="10544661">
                <a:moveTo>
                  <a:pt x="0" y="0"/>
                </a:moveTo>
                <a:lnTo>
                  <a:pt x="21054232" y="0"/>
                </a:lnTo>
                <a:lnTo>
                  <a:pt x="21054232" y="10544661"/>
                </a:lnTo>
                <a:lnTo>
                  <a:pt x="0" y="10544661"/>
                </a:lnTo>
                <a:lnTo>
                  <a:pt x="0" y="0"/>
                </a:lnTo>
                <a:close/>
              </a:path>
            </a:pathLst>
          </a:custGeom>
          <a:blipFill>
            <a:blip r:embed="rId3"/>
            <a:stretch>
              <a:fillRect/>
            </a:stretch>
          </a:blipFill>
        </p:spPr>
      </p:sp>
      <p:sp>
        <p:nvSpPr>
          <p:cNvPr id="7" name="Freeform 7"/>
          <p:cNvSpPr/>
          <p:nvPr/>
        </p:nvSpPr>
        <p:spPr>
          <a:xfrm>
            <a:off x="-1724483" y="1451757"/>
            <a:ext cx="6070547" cy="8229600"/>
          </a:xfrm>
          <a:custGeom>
            <a:avLst/>
            <a:gdLst/>
            <a:ahLst/>
            <a:cxnLst/>
            <a:rect l="l" t="t" r="r" b="b"/>
            <a:pathLst>
              <a:path w="6070547" h="8229600">
                <a:moveTo>
                  <a:pt x="0" y="0"/>
                </a:moveTo>
                <a:lnTo>
                  <a:pt x="6070546" y="0"/>
                </a:lnTo>
                <a:lnTo>
                  <a:pt x="6070546" y="8229600"/>
                </a:lnTo>
                <a:lnTo>
                  <a:pt x="0" y="8229600"/>
                </a:lnTo>
                <a:lnTo>
                  <a:pt x="0" y="0"/>
                </a:lnTo>
                <a:close/>
              </a:path>
            </a:pathLst>
          </a:custGeom>
          <a:blipFill>
            <a:blip r:embed="rId4"/>
            <a:stretch>
              <a:fillRect/>
            </a:stretch>
          </a:blipFill>
        </p:spPr>
      </p:sp>
      <p:sp>
        <p:nvSpPr>
          <p:cNvPr id="8" name="Freeform 8"/>
          <p:cNvSpPr/>
          <p:nvPr/>
        </p:nvSpPr>
        <p:spPr>
          <a:xfrm>
            <a:off x="13621240" y="6071145"/>
            <a:ext cx="3272727" cy="4500000"/>
          </a:xfrm>
          <a:custGeom>
            <a:avLst/>
            <a:gdLst/>
            <a:ahLst/>
            <a:cxnLst/>
            <a:rect l="l" t="t" r="r" b="b"/>
            <a:pathLst>
              <a:path w="3272727" h="4500000">
                <a:moveTo>
                  <a:pt x="0" y="0"/>
                </a:moveTo>
                <a:lnTo>
                  <a:pt x="3272728" y="0"/>
                </a:lnTo>
                <a:lnTo>
                  <a:pt x="3272728" y="4500000"/>
                </a:lnTo>
                <a:lnTo>
                  <a:pt x="0" y="45000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0" y="6267804"/>
            <a:ext cx="5414764" cy="4303341"/>
          </a:xfrm>
          <a:custGeom>
            <a:avLst/>
            <a:gdLst/>
            <a:ahLst/>
            <a:cxnLst/>
            <a:rect l="l" t="t" r="r" b="b"/>
            <a:pathLst>
              <a:path w="5414764" h="4303341">
                <a:moveTo>
                  <a:pt x="0" y="0"/>
                </a:moveTo>
                <a:lnTo>
                  <a:pt x="5414764" y="0"/>
                </a:lnTo>
                <a:lnTo>
                  <a:pt x="5414764" y="4303341"/>
                </a:lnTo>
                <a:lnTo>
                  <a:pt x="0" y="4303341"/>
                </a:lnTo>
                <a:lnTo>
                  <a:pt x="0" y="0"/>
                </a:lnTo>
                <a:close/>
              </a:path>
            </a:pathLst>
          </a:custGeom>
          <a:blipFill>
            <a:blip r:embed="rId6"/>
            <a:stretch>
              <a:fillRect/>
            </a:stretch>
          </a:blipFill>
        </p:spPr>
      </p:sp>
      <p:sp>
        <p:nvSpPr>
          <p:cNvPr id="10" name="Freeform 10"/>
          <p:cNvSpPr/>
          <p:nvPr/>
        </p:nvSpPr>
        <p:spPr>
          <a:xfrm>
            <a:off x="7970048" y="7212450"/>
            <a:ext cx="2347904" cy="2354135"/>
          </a:xfrm>
          <a:custGeom>
            <a:avLst/>
            <a:gdLst/>
            <a:ahLst/>
            <a:cxnLst/>
            <a:rect l="l" t="t" r="r" b="b"/>
            <a:pathLst>
              <a:path w="2347904" h="2354135">
                <a:moveTo>
                  <a:pt x="0" y="0"/>
                </a:moveTo>
                <a:lnTo>
                  <a:pt x="2347904" y="0"/>
                </a:lnTo>
                <a:lnTo>
                  <a:pt x="2347904" y="2354134"/>
                </a:lnTo>
                <a:lnTo>
                  <a:pt x="0" y="2354134"/>
                </a:lnTo>
                <a:lnTo>
                  <a:pt x="0" y="0"/>
                </a:lnTo>
                <a:close/>
              </a:path>
            </a:pathLst>
          </a:custGeom>
          <a:blipFill>
            <a:blip r:embed="rId7"/>
            <a:stretch>
              <a:fillRect/>
            </a:stretch>
          </a:blipFill>
        </p:spPr>
      </p:sp>
      <p:grpSp>
        <p:nvGrpSpPr>
          <p:cNvPr id="11" name="Group 11"/>
          <p:cNvGrpSpPr>
            <a:grpSpLocks noChangeAspect="1"/>
          </p:cNvGrpSpPr>
          <p:nvPr/>
        </p:nvGrpSpPr>
        <p:grpSpPr>
          <a:xfrm rot="-400546">
            <a:off x="1499566" y="4392774"/>
            <a:ext cx="4907474" cy="3533954"/>
            <a:chOff x="0" y="0"/>
            <a:chExt cx="3136392" cy="2258568"/>
          </a:xfrm>
        </p:grpSpPr>
        <p:sp>
          <p:nvSpPr>
            <p:cNvPr id="12" name="Freeform 12"/>
            <p:cNvSpPr/>
            <p:nvPr/>
          </p:nvSpPr>
          <p:spPr>
            <a:xfrm>
              <a:off x="114300" y="125984"/>
              <a:ext cx="2882900" cy="1993900"/>
            </a:xfrm>
            <a:custGeom>
              <a:avLst/>
              <a:gdLst/>
              <a:ahLst/>
              <a:cxnLst/>
              <a:rect l="l" t="t" r="r" b="b"/>
              <a:pathLst>
                <a:path w="2882900" h="1993900">
                  <a:moveTo>
                    <a:pt x="2882900" y="1993900"/>
                  </a:moveTo>
                  <a:lnTo>
                    <a:pt x="0" y="1993900"/>
                  </a:lnTo>
                  <a:lnTo>
                    <a:pt x="0" y="0"/>
                  </a:lnTo>
                  <a:lnTo>
                    <a:pt x="2882900" y="0"/>
                  </a:lnTo>
                  <a:lnTo>
                    <a:pt x="2882900" y="1993900"/>
                  </a:lnTo>
                  <a:close/>
                </a:path>
              </a:pathLst>
            </a:custGeom>
            <a:blipFill>
              <a:blip r:embed="rId8"/>
              <a:stretch>
                <a:fillRect l="-1872" r="-1872"/>
              </a:stretch>
            </a:blipFill>
          </p:spPr>
        </p:sp>
        <p:sp>
          <p:nvSpPr>
            <p:cNvPr id="13" name="Freeform 13"/>
            <p:cNvSpPr/>
            <p:nvPr/>
          </p:nvSpPr>
          <p:spPr>
            <a:xfrm>
              <a:off x="0" y="-1016"/>
              <a:ext cx="3136392" cy="2258568"/>
            </a:xfrm>
            <a:custGeom>
              <a:avLst/>
              <a:gdLst/>
              <a:ahLst/>
              <a:cxnLst/>
              <a:rect l="l" t="t" r="r" b="b"/>
              <a:pathLst>
                <a:path w="3136392" h="2258568">
                  <a:moveTo>
                    <a:pt x="3136392" y="2258568"/>
                  </a:moveTo>
                  <a:lnTo>
                    <a:pt x="0" y="2258568"/>
                  </a:lnTo>
                  <a:lnTo>
                    <a:pt x="0" y="0"/>
                  </a:lnTo>
                  <a:lnTo>
                    <a:pt x="3136392" y="0"/>
                  </a:lnTo>
                  <a:lnTo>
                    <a:pt x="3136392" y="2258568"/>
                  </a:lnTo>
                  <a:close/>
                </a:path>
              </a:pathLst>
            </a:custGeom>
            <a:blipFill>
              <a:blip r:embed="rId9"/>
              <a:stretch>
                <a:fillRect l="-8" r="-8"/>
              </a:stretch>
            </a:blipFill>
          </p:spPr>
        </p:sp>
      </p:grpSp>
      <p:grpSp>
        <p:nvGrpSpPr>
          <p:cNvPr id="14" name="Group 14"/>
          <p:cNvGrpSpPr>
            <a:grpSpLocks noChangeAspect="1"/>
          </p:cNvGrpSpPr>
          <p:nvPr/>
        </p:nvGrpSpPr>
        <p:grpSpPr>
          <a:xfrm rot="-400546">
            <a:off x="-799844" y="951073"/>
            <a:ext cx="4907474" cy="3533954"/>
            <a:chOff x="0" y="0"/>
            <a:chExt cx="3136392" cy="2258568"/>
          </a:xfrm>
        </p:grpSpPr>
        <p:sp>
          <p:nvSpPr>
            <p:cNvPr id="15" name="Freeform 15"/>
            <p:cNvSpPr/>
            <p:nvPr/>
          </p:nvSpPr>
          <p:spPr>
            <a:xfrm>
              <a:off x="114300" y="125984"/>
              <a:ext cx="2882900" cy="1993900"/>
            </a:xfrm>
            <a:custGeom>
              <a:avLst/>
              <a:gdLst/>
              <a:ahLst/>
              <a:cxnLst/>
              <a:rect l="l" t="t" r="r" b="b"/>
              <a:pathLst>
                <a:path w="2882900" h="1993900">
                  <a:moveTo>
                    <a:pt x="2882900" y="1993900"/>
                  </a:moveTo>
                  <a:lnTo>
                    <a:pt x="0" y="1993900"/>
                  </a:lnTo>
                  <a:lnTo>
                    <a:pt x="0" y="0"/>
                  </a:lnTo>
                  <a:lnTo>
                    <a:pt x="2882900" y="0"/>
                  </a:lnTo>
                  <a:lnTo>
                    <a:pt x="2882900" y="1993900"/>
                  </a:lnTo>
                  <a:close/>
                </a:path>
              </a:pathLst>
            </a:custGeom>
            <a:blipFill>
              <a:blip r:embed="rId10"/>
              <a:stretch>
                <a:fillRect l="-1872" r="-1872"/>
              </a:stretch>
            </a:blipFill>
          </p:spPr>
        </p:sp>
        <p:sp>
          <p:nvSpPr>
            <p:cNvPr id="16" name="Freeform 16"/>
            <p:cNvSpPr/>
            <p:nvPr/>
          </p:nvSpPr>
          <p:spPr>
            <a:xfrm>
              <a:off x="0" y="-1016"/>
              <a:ext cx="3136392" cy="2258568"/>
            </a:xfrm>
            <a:custGeom>
              <a:avLst/>
              <a:gdLst/>
              <a:ahLst/>
              <a:cxnLst/>
              <a:rect l="l" t="t" r="r" b="b"/>
              <a:pathLst>
                <a:path w="3136392" h="2258568">
                  <a:moveTo>
                    <a:pt x="3136392" y="2258568"/>
                  </a:moveTo>
                  <a:lnTo>
                    <a:pt x="0" y="2258568"/>
                  </a:lnTo>
                  <a:lnTo>
                    <a:pt x="0" y="0"/>
                  </a:lnTo>
                  <a:lnTo>
                    <a:pt x="3136392" y="0"/>
                  </a:lnTo>
                  <a:lnTo>
                    <a:pt x="3136392" y="2258568"/>
                  </a:lnTo>
                  <a:close/>
                </a:path>
              </a:pathLst>
            </a:custGeom>
            <a:blipFill>
              <a:blip r:embed="rId9"/>
              <a:stretch>
                <a:fillRect l="-8" r="-8"/>
              </a:stretch>
            </a:blipFill>
          </p:spPr>
        </p:sp>
      </p:grpSp>
      <p:sp>
        <p:nvSpPr>
          <p:cNvPr id="17" name="TextBox 17"/>
          <p:cNvSpPr txBox="1"/>
          <p:nvPr/>
        </p:nvSpPr>
        <p:spPr>
          <a:xfrm>
            <a:off x="3850625" y="3427337"/>
            <a:ext cx="10586749" cy="1495277"/>
          </a:xfrm>
          <a:prstGeom prst="rect">
            <a:avLst/>
          </a:prstGeom>
        </p:spPr>
        <p:txBody>
          <a:bodyPr lIns="0" tIns="0" rIns="0" bIns="0" rtlCol="0" anchor="t">
            <a:spAutoFit/>
          </a:bodyPr>
          <a:lstStyle/>
          <a:p>
            <a:pPr marL="0" lvl="0" indent="0" algn="ctr">
              <a:lnSpc>
                <a:spcPts val="11547"/>
              </a:lnSpc>
              <a:spcBef>
                <a:spcPct val="0"/>
              </a:spcBef>
            </a:pPr>
            <a:r>
              <a:rPr lang="en-US" sz="10593">
                <a:solidFill>
                  <a:srgbClr val="839717"/>
                </a:solidFill>
                <a:latin typeface="Coiny"/>
                <a:ea typeface="Coiny"/>
                <a:cs typeface="Coiny"/>
                <a:sym typeface="Coiny"/>
              </a:rPr>
              <a:t>Thank You!</a:t>
            </a:r>
          </a:p>
        </p:txBody>
      </p:sp>
      <p:sp>
        <p:nvSpPr>
          <p:cNvPr id="18" name="Freeform 18"/>
          <p:cNvSpPr/>
          <p:nvPr/>
        </p:nvSpPr>
        <p:spPr>
          <a:xfrm>
            <a:off x="14415435" y="-856248"/>
            <a:ext cx="4957064" cy="3540170"/>
          </a:xfrm>
          <a:custGeom>
            <a:avLst/>
            <a:gdLst/>
            <a:ahLst/>
            <a:cxnLst/>
            <a:rect l="l" t="t" r="r" b="b"/>
            <a:pathLst>
              <a:path w="4957064" h="3540170">
                <a:moveTo>
                  <a:pt x="0" y="0"/>
                </a:moveTo>
                <a:lnTo>
                  <a:pt x="4957065" y="0"/>
                </a:lnTo>
                <a:lnTo>
                  <a:pt x="4957065" y="3540170"/>
                </a:lnTo>
                <a:lnTo>
                  <a:pt x="0" y="3540170"/>
                </a:lnTo>
                <a:lnTo>
                  <a:pt x="0" y="0"/>
                </a:lnTo>
                <a:close/>
              </a:path>
            </a:pathLst>
          </a:custGeom>
          <a:blipFill>
            <a:blip r:embed="rId11"/>
            <a:stretch>
              <a:fillRect/>
            </a:stretch>
          </a:blipFill>
        </p:spPr>
      </p:sp>
      <p:grpSp>
        <p:nvGrpSpPr>
          <p:cNvPr id="24" name="Group 24"/>
          <p:cNvGrpSpPr/>
          <p:nvPr/>
        </p:nvGrpSpPr>
        <p:grpSpPr>
          <a:xfrm>
            <a:off x="1320437" y="10961664"/>
            <a:ext cx="876300" cy="2230698"/>
            <a:chOff x="0" y="-2517064"/>
            <a:chExt cx="1168400" cy="2974264"/>
          </a:xfrm>
        </p:grpSpPr>
        <p:sp>
          <p:nvSpPr>
            <p:cNvPr id="25" name="Freeform 25"/>
            <p:cNvSpPr/>
            <p:nvPr/>
          </p:nvSpPr>
          <p:spPr>
            <a:xfrm>
              <a:off x="0" y="-2517064"/>
              <a:ext cx="1168400" cy="457200"/>
            </a:xfrm>
            <a:custGeom>
              <a:avLst/>
              <a:gdLst/>
              <a:ahLst/>
              <a:cxnLst/>
              <a:rect l="l" t="t" r="r" b="b"/>
              <a:pathLst>
                <a:path w="1168400" h="457200">
                  <a:moveTo>
                    <a:pt x="228600" y="0"/>
                  </a:moveTo>
                  <a:lnTo>
                    <a:pt x="939800" y="0"/>
                  </a:lnTo>
                  <a:cubicBezTo>
                    <a:pt x="1066052" y="0"/>
                    <a:pt x="1168400" y="102348"/>
                    <a:pt x="1168400" y="228600"/>
                  </a:cubicBezTo>
                  <a:cubicBezTo>
                    <a:pt x="1168400" y="354852"/>
                    <a:pt x="1066052" y="457200"/>
                    <a:pt x="939800" y="457200"/>
                  </a:cubicBezTo>
                  <a:lnTo>
                    <a:pt x="228600" y="457200"/>
                  </a:lnTo>
                  <a:cubicBezTo>
                    <a:pt x="102348" y="457200"/>
                    <a:pt x="0" y="354852"/>
                    <a:pt x="0" y="228600"/>
                  </a:cubicBezTo>
                  <a:cubicBezTo>
                    <a:pt x="0" y="102348"/>
                    <a:pt x="102348" y="0"/>
                    <a:pt x="228600" y="0"/>
                  </a:cubicBezTo>
                  <a:close/>
                </a:path>
              </a:pathLst>
            </a:custGeom>
            <a:solidFill>
              <a:srgbClr val="2F6B45"/>
            </a:solidFill>
          </p:spPr>
        </p:sp>
        <p:sp>
          <p:nvSpPr>
            <p:cNvPr id="26" name="TextBox 26"/>
            <p:cNvSpPr txBox="1"/>
            <p:nvPr/>
          </p:nvSpPr>
          <p:spPr>
            <a:xfrm>
              <a:off x="0" y="-28575"/>
              <a:ext cx="1168400" cy="485775"/>
            </a:xfrm>
            <a:prstGeom prst="rect">
              <a:avLst/>
            </a:prstGeom>
          </p:spPr>
          <p:txBody>
            <a:bodyPr lIns="50800" tIns="50800" rIns="50800" bIns="50800" rtlCol="0" anchor="ctr"/>
            <a:lstStyle/>
            <a:p>
              <a:pPr algn="ctr">
                <a:lnSpc>
                  <a:spcPts val="1679"/>
                </a:lnSpc>
              </a:pPr>
              <a:r>
                <a:rPr lang="en-US" sz="1200" b="1">
                  <a:solidFill>
                    <a:srgbClr val="F5F3E9"/>
                  </a:solidFill>
                  <a:latin typeface="Poppins Bold"/>
                  <a:ea typeface="Poppins Bold"/>
                  <a:cs typeface="Poppins Bold"/>
                  <a:sym typeface="Poppins Bold"/>
                </a:rPr>
                <a:t>01</a:t>
              </a:r>
            </a:p>
          </p:txBody>
        </p:sp>
      </p:grpSp>
      <p:grpSp>
        <p:nvGrpSpPr>
          <p:cNvPr id="29" name="Group 29"/>
          <p:cNvGrpSpPr/>
          <p:nvPr/>
        </p:nvGrpSpPr>
        <p:grpSpPr>
          <a:xfrm>
            <a:off x="5916125" y="11030415"/>
            <a:ext cx="876300" cy="342900"/>
            <a:chOff x="0" y="0"/>
            <a:chExt cx="1168400" cy="457200"/>
          </a:xfrm>
        </p:grpSpPr>
        <p:sp>
          <p:nvSpPr>
            <p:cNvPr id="30" name="Freeform 30"/>
            <p:cNvSpPr/>
            <p:nvPr/>
          </p:nvSpPr>
          <p:spPr>
            <a:xfrm>
              <a:off x="0" y="0"/>
              <a:ext cx="1168400" cy="457200"/>
            </a:xfrm>
            <a:custGeom>
              <a:avLst/>
              <a:gdLst/>
              <a:ahLst/>
              <a:cxnLst/>
              <a:rect l="l" t="t" r="r" b="b"/>
              <a:pathLst>
                <a:path w="1168400" h="457200">
                  <a:moveTo>
                    <a:pt x="228600" y="0"/>
                  </a:moveTo>
                  <a:lnTo>
                    <a:pt x="939800" y="0"/>
                  </a:lnTo>
                  <a:cubicBezTo>
                    <a:pt x="1066052" y="0"/>
                    <a:pt x="1168400" y="102348"/>
                    <a:pt x="1168400" y="228600"/>
                  </a:cubicBezTo>
                  <a:cubicBezTo>
                    <a:pt x="1168400" y="354852"/>
                    <a:pt x="1066052" y="457200"/>
                    <a:pt x="939800" y="457200"/>
                  </a:cubicBezTo>
                  <a:lnTo>
                    <a:pt x="228600" y="457200"/>
                  </a:lnTo>
                  <a:cubicBezTo>
                    <a:pt x="102348" y="457200"/>
                    <a:pt x="0" y="354852"/>
                    <a:pt x="0" y="228600"/>
                  </a:cubicBezTo>
                  <a:cubicBezTo>
                    <a:pt x="0" y="102348"/>
                    <a:pt x="102348" y="0"/>
                    <a:pt x="228600" y="0"/>
                  </a:cubicBezTo>
                  <a:close/>
                </a:path>
              </a:pathLst>
            </a:custGeom>
            <a:solidFill>
              <a:srgbClr val="2F6B45"/>
            </a:solidFill>
          </p:spPr>
        </p:sp>
        <p:sp>
          <p:nvSpPr>
            <p:cNvPr id="31" name="TextBox 31"/>
            <p:cNvSpPr txBox="1"/>
            <p:nvPr/>
          </p:nvSpPr>
          <p:spPr>
            <a:xfrm>
              <a:off x="0" y="-28575"/>
              <a:ext cx="1168400" cy="485775"/>
            </a:xfrm>
            <a:prstGeom prst="rect">
              <a:avLst/>
            </a:prstGeom>
          </p:spPr>
          <p:txBody>
            <a:bodyPr lIns="50800" tIns="50800" rIns="50800" bIns="50800" rtlCol="0" anchor="ctr"/>
            <a:lstStyle/>
            <a:p>
              <a:pPr algn="ctr">
                <a:lnSpc>
                  <a:spcPts val="1679"/>
                </a:lnSpc>
              </a:pPr>
              <a:r>
                <a:rPr lang="en-US" sz="1200" b="1">
                  <a:solidFill>
                    <a:srgbClr val="F5F3E9"/>
                  </a:solidFill>
                  <a:latin typeface="Poppins Bold"/>
                  <a:ea typeface="Poppins Bold"/>
                  <a:cs typeface="Poppins Bold"/>
                  <a:sym typeface="Poppins Bold"/>
                </a:rPr>
                <a:t>02</a:t>
              </a:r>
            </a:p>
          </p:txBody>
        </p:sp>
      </p:grpSp>
      <p:grpSp>
        <p:nvGrpSpPr>
          <p:cNvPr id="34" name="Group 34"/>
          <p:cNvGrpSpPr/>
          <p:nvPr/>
        </p:nvGrpSpPr>
        <p:grpSpPr>
          <a:xfrm>
            <a:off x="9879802" y="11003626"/>
            <a:ext cx="1615775" cy="2100380"/>
            <a:chOff x="0" y="-2343306"/>
            <a:chExt cx="2154367" cy="2800506"/>
          </a:xfrm>
        </p:grpSpPr>
        <p:sp>
          <p:nvSpPr>
            <p:cNvPr id="35" name="Freeform 35"/>
            <p:cNvSpPr/>
            <p:nvPr/>
          </p:nvSpPr>
          <p:spPr>
            <a:xfrm>
              <a:off x="985967" y="-2343306"/>
              <a:ext cx="1168400" cy="457200"/>
            </a:xfrm>
            <a:custGeom>
              <a:avLst/>
              <a:gdLst/>
              <a:ahLst/>
              <a:cxnLst/>
              <a:rect l="l" t="t" r="r" b="b"/>
              <a:pathLst>
                <a:path w="1168400" h="457200">
                  <a:moveTo>
                    <a:pt x="228600" y="0"/>
                  </a:moveTo>
                  <a:lnTo>
                    <a:pt x="939800" y="0"/>
                  </a:lnTo>
                  <a:cubicBezTo>
                    <a:pt x="1066052" y="0"/>
                    <a:pt x="1168400" y="102348"/>
                    <a:pt x="1168400" y="228600"/>
                  </a:cubicBezTo>
                  <a:cubicBezTo>
                    <a:pt x="1168400" y="354852"/>
                    <a:pt x="1066052" y="457200"/>
                    <a:pt x="939800" y="457200"/>
                  </a:cubicBezTo>
                  <a:lnTo>
                    <a:pt x="228600" y="457200"/>
                  </a:lnTo>
                  <a:cubicBezTo>
                    <a:pt x="102348" y="457200"/>
                    <a:pt x="0" y="354852"/>
                    <a:pt x="0" y="228600"/>
                  </a:cubicBezTo>
                  <a:cubicBezTo>
                    <a:pt x="0" y="102348"/>
                    <a:pt x="102348" y="0"/>
                    <a:pt x="228600" y="0"/>
                  </a:cubicBezTo>
                  <a:close/>
                </a:path>
              </a:pathLst>
            </a:custGeom>
            <a:solidFill>
              <a:srgbClr val="2F6B45"/>
            </a:solidFill>
          </p:spPr>
        </p:sp>
        <p:sp>
          <p:nvSpPr>
            <p:cNvPr id="36" name="TextBox 36"/>
            <p:cNvSpPr txBox="1"/>
            <p:nvPr/>
          </p:nvSpPr>
          <p:spPr>
            <a:xfrm>
              <a:off x="0" y="-28575"/>
              <a:ext cx="1168400" cy="485775"/>
            </a:xfrm>
            <a:prstGeom prst="rect">
              <a:avLst/>
            </a:prstGeom>
          </p:spPr>
          <p:txBody>
            <a:bodyPr lIns="50800" tIns="50800" rIns="50800" bIns="50800" rtlCol="0" anchor="ctr"/>
            <a:lstStyle/>
            <a:p>
              <a:pPr algn="ctr">
                <a:lnSpc>
                  <a:spcPts val="1679"/>
                </a:lnSpc>
              </a:pPr>
              <a:r>
                <a:rPr lang="en-US" sz="1200" b="1">
                  <a:solidFill>
                    <a:srgbClr val="F5F3E9"/>
                  </a:solidFill>
                  <a:latin typeface="Poppins Bold"/>
                  <a:ea typeface="Poppins Bold"/>
                  <a:cs typeface="Poppins Bold"/>
                  <a:sym typeface="Poppins Bold"/>
                </a:rPr>
                <a:t>03</a:t>
              </a:r>
            </a:p>
          </p:txBody>
        </p:sp>
      </p:grpSp>
    </p:spTree>
    <p:extLst>
      <p:ext uri="{BB962C8B-B14F-4D97-AF65-F5344CB8AC3E}">
        <p14:creationId xmlns:p14="http://schemas.microsoft.com/office/powerpoint/2010/main" val="25016380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280</TotalTime>
  <Words>977</Words>
  <Application>Microsoft Office PowerPoint</Application>
  <PresentationFormat>Custom</PresentationFormat>
  <Paragraphs>205</Paragraphs>
  <Slides>13</Slides>
  <Notes>11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13</vt:i4>
      </vt:variant>
    </vt:vector>
  </HeadingPairs>
  <TitlesOfParts>
    <vt:vector size="25" baseType="lpstr">
      <vt:lpstr>Open Sauce</vt:lpstr>
      <vt:lpstr>League Spartan</vt:lpstr>
      <vt:lpstr>Poppins Bold</vt:lpstr>
      <vt:lpstr>Arimo Bold</vt:lpstr>
      <vt:lpstr>Brygada 1918 SemiBold</vt:lpstr>
      <vt:lpstr>Brygada 1918</vt:lpstr>
      <vt:lpstr>Arial</vt:lpstr>
      <vt:lpstr>Poppins</vt:lpstr>
      <vt:lpstr>Coiny</vt:lpstr>
      <vt:lpstr>Wingdings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Farm Operation Platform.pptx</dc:title>
  <dc:creator>HP</dc:creator>
  <cp:lastModifiedBy>Aditya Raj</cp:lastModifiedBy>
  <cp:revision>3</cp:revision>
  <dcterms:created xsi:type="dcterms:W3CDTF">2006-08-16T00:00:00Z</dcterms:created>
  <dcterms:modified xsi:type="dcterms:W3CDTF">2026-08-26T13:20:22Z</dcterms:modified>
  <dc:identifier>DAHTT5-Ch8M</dc:identifier>
</cp:coreProperties>
</file>